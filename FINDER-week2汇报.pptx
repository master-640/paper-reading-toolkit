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2">
  <p:sldMasterIdLst>
    <p:sldMasterId id="2147483648" r:id="rId1"/>
    <p:sldMasterId id="2147483669" r:id="rId3"/>
  </p:sldMasterIdLst>
  <p:notesMasterIdLst>
    <p:notesMasterId r:id="rId14"/>
  </p:notesMasterIdLst>
  <p:handoutMasterIdLst>
    <p:handoutMasterId r:id="rId15"/>
  </p:handoutMasterIdLst>
  <p:sldIdLst>
    <p:sldId id="570" r:id="rId4"/>
    <p:sldId id="571" r:id="rId5"/>
    <p:sldId id="572" r:id="rId6"/>
    <p:sldId id="573" r:id="rId7"/>
    <p:sldId id="574" r:id="rId8"/>
    <p:sldId id="575" r:id="rId9"/>
    <p:sldId id="576" r:id="rId10"/>
    <p:sldId id="577" r:id="rId11"/>
    <p:sldId id="591" r:id="rId20"/>
    <p:sldId id="578" r:id="rId12"/>
    <p:sldId id="590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陈舒平" initials="陈" lastIdx="2" clrIdx="0"/>
  <p:cmAuthor id="2" name="李俊杰" initials="李俊杰" lastIdx="5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88449"/>
    <a:srgbClr val="003D8C"/>
    <a:srgbClr val="003366"/>
    <a:srgbClr val="58977B"/>
    <a:srgbClr val="BEC14F"/>
    <a:srgbClr val="C2E0FF"/>
    <a:srgbClr val="007437"/>
    <a:srgbClr val="B08E6C"/>
    <a:srgbClr val="255222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989" autoAdjust="0"/>
    <p:restoredTop sz="95664" autoAdjust="0"/>
  </p:normalViewPr>
  <p:slideViewPr>
    <p:cSldViewPr snapToGrid="0">
      <p:cViewPr varScale="1">
        <p:scale>
          <a:sx n="96" d="100"/>
          <a:sy n="96" d="100"/>
        </p:scale>
        <p:origin x="712" y="56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notesMaster" Target="notesMasters/notesMaster1.xml"/><Relationship Id="rId15" Type="http://schemas.openxmlformats.org/officeDocument/2006/relationships/handoutMaster" Target="handoutMasters/handout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ableStyles" Target="tableStyles.xml"/><Relationship Id="rId19" Type="http://schemas.openxmlformats.org/officeDocument/2006/relationships/commentAuthors" Target="commentAuthors.xml"/><Relationship Id="rId20" Type="http://schemas.openxmlformats.org/officeDocument/2006/relationships/slide" Target="slides/slide11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3349EB-802B-4ADF-8BE5-CB4BF9A18A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B1CBC3-BCAE-4C05-950C-2BB7B521F94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6DF54F-F791-40A7-84BE-11DDFAE72E8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570EE7-2ED4-48DC-956B-CD5D5847742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E80D30-CC64-456A-9E13-063D8AE374D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tags" Target="../tags/tag3.xml"/><Relationship Id="rId5" Type="http://schemas.openxmlformats.org/officeDocument/2006/relationships/tags" Target="../tags/tag4.xml"/><Relationship Id="rId6" Type="http://schemas.openxmlformats.org/officeDocument/2006/relationships/tags" Target="../tags/tag5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tags" Target="../tags/tag6.xml"/><Relationship Id="rId3" Type="http://schemas.openxmlformats.org/officeDocument/2006/relationships/tags" Target="../tags/tag7.xml"/><Relationship Id="rId4" Type="http://schemas.openxmlformats.org/officeDocument/2006/relationships/tags" Target="../tags/tag8.xml"/><Relationship Id="rId5" Type="http://schemas.openxmlformats.org/officeDocument/2006/relationships/tags" Target="../tags/tag9.xml"/><Relationship Id="rId6" Type="http://schemas.openxmlformats.org/officeDocument/2006/relationships/tags" Target="../tags/tag10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C6E2F-C166-4B07-88BE-4130CF44AD46}" type="datetime1">
              <a:rPr lang="zh-CN" altLang="en-US" smtClean="0"/>
            </a:fld>
            <a:endParaRPr lang="zh-CN" altLang="en-US"/>
          </a:p>
        </p:txBody>
      </p:sp>
      <p:sp>
        <p:nvSpPr>
          <p:cNvPr id="16" name="矩形 4"/>
          <p:cNvSpPr/>
          <p:nvPr userDrawn="1"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8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9" name="TextBox 6"/>
          <p:cNvSpPr txBox="1"/>
          <p:nvPr userDrawn="1"/>
        </p:nvSpPr>
        <p:spPr>
          <a:xfrm>
            <a:off x="5989320" y="246380"/>
            <a:ext cx="1651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研究进展与</a:t>
            </a:r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痛点</a:t>
            </a:r>
            <a:endParaRPr lang="zh-CN" altLang="en-US" sz="1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4" name="直接连接符 23"/>
          <p:cNvCxnSpPr/>
          <p:nvPr userDrawn="1"/>
        </p:nvCxnSpPr>
        <p:spPr>
          <a:xfrm>
            <a:off x="5952901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cxnSp>
        <p:nvCxnSpPr>
          <p:cNvPr id="25" name="直接连接符 24"/>
          <p:cNvCxnSpPr/>
          <p:nvPr userDrawn="1"/>
        </p:nvCxnSpPr>
        <p:spPr>
          <a:xfrm>
            <a:off x="7761379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17" name="矩形 16"/>
          <p:cNvSpPr/>
          <p:nvPr userDrawn="1"/>
        </p:nvSpPr>
        <p:spPr>
          <a:xfrm>
            <a:off x="4286902" y="0"/>
            <a:ext cx="1666001" cy="792000"/>
          </a:xfrm>
          <a:prstGeom prst="rect">
            <a:avLst/>
          </a:prstGeom>
          <a:solidFill>
            <a:srgbClr val="003D8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9" name="等腰三角形 28"/>
          <p:cNvSpPr/>
          <p:nvPr userDrawn="1"/>
        </p:nvSpPr>
        <p:spPr>
          <a:xfrm>
            <a:off x="4943904" y="628650"/>
            <a:ext cx="351996" cy="163350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7" name="TextBox 6"/>
          <p:cNvSpPr txBox="1"/>
          <p:nvPr userDrawn="1"/>
        </p:nvSpPr>
        <p:spPr>
          <a:xfrm>
            <a:off x="4391660" y="238760"/>
            <a:ext cx="1450975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研究背景与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意义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8" name="直接连接符 27"/>
          <p:cNvCxnSpPr/>
          <p:nvPr userDrawn="1"/>
        </p:nvCxnSpPr>
        <p:spPr>
          <a:xfrm>
            <a:off x="4286902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18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572908"/>
            <a:ext cx="4114800" cy="234498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algn="ctr"/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942" y="149777"/>
            <a:ext cx="3666321" cy="490870"/>
          </a:xfrm>
          <a:prstGeom prst="rect">
            <a:avLst/>
          </a:prstGeom>
        </p:spPr>
      </p:pic>
      <p:sp>
        <p:nvSpPr>
          <p:cNvPr id="4" name="TextBox 6"/>
          <p:cNvSpPr txBox="1"/>
          <p:nvPr userDrawn="1"/>
        </p:nvSpPr>
        <p:spPr>
          <a:xfrm>
            <a:off x="8044815" y="246380"/>
            <a:ext cx="1651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p>
            <a:pPr algn="ctr"/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方法与实验</a:t>
            </a:r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方法与实验</a:t>
            </a:r>
            <a:endParaRPr lang="zh-CN" altLang="en-US" sz="1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" name="直接连接符 4"/>
          <p:cNvCxnSpPr/>
          <p:nvPr userDrawn="1"/>
        </p:nvCxnSpPr>
        <p:spPr>
          <a:xfrm>
            <a:off x="9978799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6" name="TextBox 6"/>
          <p:cNvSpPr txBox="1"/>
          <p:nvPr userDrawn="1"/>
        </p:nvSpPr>
        <p:spPr>
          <a:xfrm>
            <a:off x="9979025" y="246380"/>
            <a:ext cx="1685925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p>
            <a:pPr algn="ctr"/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结论与</a:t>
            </a:r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启发</a:t>
            </a:r>
            <a:endParaRPr lang="zh-CN" altLang="en-US" sz="1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C6E2F-C166-4B07-88BE-4130CF44AD46}" type="datetime1">
              <a:rPr lang="zh-CN" altLang="en-US" smtClean="0"/>
            </a:fld>
            <a:endParaRPr lang="zh-CN" altLang="en-US"/>
          </a:p>
        </p:txBody>
      </p:sp>
      <p:sp>
        <p:nvSpPr>
          <p:cNvPr id="16" name="矩形 4"/>
          <p:cNvSpPr/>
          <p:nvPr userDrawn="1"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8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cxnSp>
        <p:nvCxnSpPr>
          <p:cNvPr id="24" name="直接连接符 23"/>
          <p:cNvCxnSpPr/>
          <p:nvPr userDrawn="1"/>
        </p:nvCxnSpPr>
        <p:spPr>
          <a:xfrm>
            <a:off x="5952901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cxnSp>
        <p:nvCxnSpPr>
          <p:cNvPr id="25" name="直接连接符 24"/>
          <p:cNvCxnSpPr/>
          <p:nvPr userDrawn="1"/>
        </p:nvCxnSpPr>
        <p:spPr>
          <a:xfrm>
            <a:off x="7761379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27" name="TextBox 6"/>
          <p:cNvSpPr txBox="1"/>
          <p:nvPr userDrawn="1"/>
        </p:nvSpPr>
        <p:spPr>
          <a:xfrm>
            <a:off x="4391660" y="246380"/>
            <a:ext cx="1450975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研究背景与意义</a:t>
            </a:r>
            <a:endParaRPr lang="zh-CN" altLang="en-US" sz="1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8" name="直接连接符 27"/>
          <p:cNvCxnSpPr/>
          <p:nvPr userDrawn="1"/>
        </p:nvCxnSpPr>
        <p:spPr>
          <a:xfrm>
            <a:off x="4286902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18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572908"/>
            <a:ext cx="4114800" cy="234498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algn="ctr"/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942" y="149777"/>
            <a:ext cx="3666321" cy="490870"/>
          </a:xfrm>
          <a:prstGeom prst="rect">
            <a:avLst/>
          </a:prstGeom>
        </p:spPr>
      </p:pic>
      <p:sp>
        <p:nvSpPr>
          <p:cNvPr id="4" name="TextBox 6"/>
          <p:cNvSpPr txBox="1"/>
          <p:nvPr userDrawn="1"/>
        </p:nvSpPr>
        <p:spPr>
          <a:xfrm>
            <a:off x="8044815" y="246380"/>
            <a:ext cx="1651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p>
            <a:pPr algn="ctr"/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方法与实验</a:t>
            </a:r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方法与实验</a:t>
            </a:r>
            <a:endParaRPr lang="zh-CN" altLang="en-US" sz="1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" name="直接连接符 4"/>
          <p:cNvCxnSpPr/>
          <p:nvPr userDrawn="1"/>
        </p:nvCxnSpPr>
        <p:spPr>
          <a:xfrm>
            <a:off x="9978799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6" name="TextBox 6"/>
          <p:cNvSpPr txBox="1"/>
          <p:nvPr userDrawn="1"/>
        </p:nvSpPr>
        <p:spPr>
          <a:xfrm>
            <a:off x="9979025" y="246380"/>
            <a:ext cx="1685925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p>
            <a:pPr algn="ctr"/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结论与</a:t>
            </a:r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启发</a:t>
            </a:r>
            <a:endParaRPr lang="zh-CN" altLang="en-US" sz="1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6024262" y="0"/>
            <a:ext cx="1666001" cy="792000"/>
          </a:xfrm>
          <a:prstGeom prst="rect">
            <a:avLst/>
          </a:prstGeom>
          <a:solidFill>
            <a:srgbClr val="003D8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8" name="等腰三角形 7"/>
          <p:cNvSpPr/>
          <p:nvPr userDrawn="1"/>
        </p:nvSpPr>
        <p:spPr>
          <a:xfrm>
            <a:off x="6681264" y="628650"/>
            <a:ext cx="351996" cy="163350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/>
          </a:p>
        </p:txBody>
      </p:sp>
      <p:sp>
        <p:nvSpPr>
          <p:cNvPr id="19" name="TextBox 6"/>
          <p:cNvSpPr txBox="1"/>
          <p:nvPr userDrawn="1"/>
        </p:nvSpPr>
        <p:spPr>
          <a:xfrm>
            <a:off x="5989320" y="246380"/>
            <a:ext cx="1651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研究进展与痛点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5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C6E2F-C166-4B07-88BE-4130CF44AD46}" type="datetime1">
              <a:rPr lang="zh-CN" altLang="en-US" smtClean="0"/>
            </a:fld>
            <a:endParaRPr lang="zh-CN" altLang="en-US"/>
          </a:p>
        </p:txBody>
      </p:sp>
      <p:sp>
        <p:nvSpPr>
          <p:cNvPr id="16" name="矩形 4"/>
          <p:cNvSpPr/>
          <p:nvPr userDrawn="1"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8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9" name="TextBox 6"/>
          <p:cNvSpPr txBox="1"/>
          <p:nvPr userDrawn="1"/>
        </p:nvSpPr>
        <p:spPr>
          <a:xfrm>
            <a:off x="5989320" y="246380"/>
            <a:ext cx="1651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研究进展与</a:t>
            </a:r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痛点</a:t>
            </a:r>
            <a:endParaRPr lang="zh-CN" altLang="en-US" sz="1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4" name="直接连接符 23"/>
          <p:cNvCxnSpPr/>
          <p:nvPr userDrawn="1"/>
        </p:nvCxnSpPr>
        <p:spPr>
          <a:xfrm>
            <a:off x="5952901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cxnSp>
        <p:nvCxnSpPr>
          <p:cNvPr id="25" name="直接连接符 24"/>
          <p:cNvCxnSpPr/>
          <p:nvPr userDrawn="1"/>
        </p:nvCxnSpPr>
        <p:spPr>
          <a:xfrm>
            <a:off x="7761379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27" name="TextBox 6"/>
          <p:cNvSpPr txBox="1"/>
          <p:nvPr userDrawn="1"/>
        </p:nvSpPr>
        <p:spPr>
          <a:xfrm>
            <a:off x="4391660" y="246380"/>
            <a:ext cx="1450975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>
              <a:buClrTx/>
              <a:buSzTx/>
              <a:buFontTx/>
            </a:pPr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研究背景与意义</a:t>
            </a:r>
            <a:endParaRPr lang="zh-CN" altLang="en-US" sz="1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8" name="直接连接符 27"/>
          <p:cNvCxnSpPr/>
          <p:nvPr userDrawn="1"/>
        </p:nvCxnSpPr>
        <p:spPr>
          <a:xfrm>
            <a:off x="4286902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18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572908"/>
            <a:ext cx="4114800" cy="234498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algn="ctr"/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942" y="149777"/>
            <a:ext cx="3666321" cy="490870"/>
          </a:xfrm>
          <a:prstGeom prst="rect">
            <a:avLst/>
          </a:prstGeom>
        </p:spPr>
      </p:pic>
      <p:cxnSp>
        <p:nvCxnSpPr>
          <p:cNvPr id="5" name="直接连接符 4"/>
          <p:cNvCxnSpPr/>
          <p:nvPr userDrawn="1"/>
        </p:nvCxnSpPr>
        <p:spPr>
          <a:xfrm>
            <a:off x="9978799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6" name="TextBox 6"/>
          <p:cNvSpPr txBox="1"/>
          <p:nvPr userDrawn="1"/>
        </p:nvSpPr>
        <p:spPr>
          <a:xfrm>
            <a:off x="9979025" y="246380"/>
            <a:ext cx="1685925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p>
            <a:pPr algn="ctr"/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结论与</a:t>
            </a:r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启发</a:t>
            </a:r>
            <a:endParaRPr lang="zh-CN" altLang="en-US" sz="1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044832" y="0"/>
            <a:ext cx="1666001" cy="792000"/>
          </a:xfrm>
          <a:prstGeom prst="rect">
            <a:avLst/>
          </a:prstGeom>
          <a:solidFill>
            <a:srgbClr val="003D8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8" name="等腰三角形 7"/>
          <p:cNvSpPr/>
          <p:nvPr userDrawn="1"/>
        </p:nvSpPr>
        <p:spPr>
          <a:xfrm>
            <a:off x="8701834" y="628650"/>
            <a:ext cx="351996" cy="163350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TextBox 6"/>
          <p:cNvSpPr txBox="1"/>
          <p:nvPr userDrawn="1"/>
        </p:nvSpPr>
        <p:spPr>
          <a:xfrm>
            <a:off x="8044815" y="246380"/>
            <a:ext cx="1651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p>
            <a:pPr algn="ctr">
              <a:buClrTx/>
              <a:buSzTx/>
              <a:buFontTx/>
            </a:pP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方法与实验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6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C6E2F-C166-4B07-88BE-4130CF44AD46}" type="datetime1">
              <a:rPr lang="zh-CN" altLang="en-US" smtClean="0"/>
            </a:fld>
            <a:endParaRPr lang="zh-CN" altLang="en-US"/>
          </a:p>
        </p:txBody>
      </p:sp>
      <p:sp>
        <p:nvSpPr>
          <p:cNvPr id="16" name="矩形 4"/>
          <p:cNvSpPr/>
          <p:nvPr userDrawn="1"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8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9" name="TextBox 6"/>
          <p:cNvSpPr txBox="1"/>
          <p:nvPr userDrawn="1"/>
        </p:nvSpPr>
        <p:spPr>
          <a:xfrm>
            <a:off x="5989320" y="246380"/>
            <a:ext cx="1651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研究进展与</a:t>
            </a:r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痛点</a:t>
            </a:r>
            <a:endParaRPr lang="zh-CN" altLang="en-US" sz="1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4" name="直接连接符 23"/>
          <p:cNvCxnSpPr/>
          <p:nvPr userDrawn="1"/>
        </p:nvCxnSpPr>
        <p:spPr>
          <a:xfrm>
            <a:off x="5952901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cxnSp>
        <p:nvCxnSpPr>
          <p:cNvPr id="25" name="直接连接符 24"/>
          <p:cNvCxnSpPr/>
          <p:nvPr userDrawn="1"/>
        </p:nvCxnSpPr>
        <p:spPr>
          <a:xfrm>
            <a:off x="7761379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27" name="TextBox 6"/>
          <p:cNvSpPr txBox="1"/>
          <p:nvPr userDrawn="1"/>
        </p:nvSpPr>
        <p:spPr>
          <a:xfrm>
            <a:off x="4391660" y="238760"/>
            <a:ext cx="1450975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>
              <a:buClrTx/>
              <a:buSzTx/>
              <a:buFontTx/>
            </a:pPr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研究背景与意义</a:t>
            </a:r>
            <a:endParaRPr lang="zh-CN" altLang="en-US" sz="1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8" name="直接连接符 27"/>
          <p:cNvCxnSpPr/>
          <p:nvPr userDrawn="1"/>
        </p:nvCxnSpPr>
        <p:spPr>
          <a:xfrm>
            <a:off x="4286902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18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572908"/>
            <a:ext cx="4114800" cy="234498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algn="ctr"/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942" y="149777"/>
            <a:ext cx="3666321" cy="490870"/>
          </a:xfrm>
          <a:prstGeom prst="rect">
            <a:avLst/>
          </a:prstGeom>
        </p:spPr>
      </p:pic>
      <p:sp>
        <p:nvSpPr>
          <p:cNvPr id="4" name="TextBox 6"/>
          <p:cNvSpPr txBox="1"/>
          <p:nvPr userDrawn="1"/>
        </p:nvSpPr>
        <p:spPr>
          <a:xfrm>
            <a:off x="8044815" y="246380"/>
            <a:ext cx="1651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p>
            <a:pPr algn="ctr"/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方法与实验</a:t>
            </a:r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方法与实验</a:t>
            </a:r>
            <a:endParaRPr lang="zh-CN" altLang="en-US" sz="1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" name="直接连接符 4"/>
          <p:cNvCxnSpPr/>
          <p:nvPr userDrawn="1"/>
        </p:nvCxnSpPr>
        <p:spPr>
          <a:xfrm>
            <a:off x="9978799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7" name="矩形 6"/>
          <p:cNvSpPr/>
          <p:nvPr userDrawn="1"/>
        </p:nvSpPr>
        <p:spPr>
          <a:xfrm>
            <a:off x="10100310" y="0"/>
            <a:ext cx="1551940" cy="791845"/>
          </a:xfrm>
          <a:prstGeom prst="rect">
            <a:avLst/>
          </a:prstGeom>
          <a:solidFill>
            <a:srgbClr val="003D8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8" name="等腰三角形 7"/>
          <p:cNvSpPr/>
          <p:nvPr userDrawn="1"/>
        </p:nvSpPr>
        <p:spPr>
          <a:xfrm>
            <a:off x="10703989" y="628650"/>
            <a:ext cx="351996" cy="163350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TextBox 6"/>
          <p:cNvSpPr txBox="1"/>
          <p:nvPr userDrawn="1"/>
        </p:nvSpPr>
        <p:spPr>
          <a:xfrm>
            <a:off x="9979025" y="246380"/>
            <a:ext cx="1685925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结论与启发</a:t>
            </a:r>
            <a:endParaRPr lang="zh-CN" altLang="en-US" sz="1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9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DE32B-6F2B-444E-8057-3FEDBC04F142}" type="datetime1">
              <a:rPr lang="zh-CN" altLang="en-US" smtClean="0"/>
            </a:fld>
            <a:endParaRPr lang="zh-CN" altLang="en-US"/>
          </a:p>
        </p:txBody>
      </p:sp>
      <p:sp>
        <p:nvSpPr>
          <p:cNvPr id="16" name="矩形 4"/>
          <p:cNvSpPr/>
          <p:nvPr userDrawn="1"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8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2" name="矩形 21"/>
          <p:cNvSpPr/>
          <p:nvPr userDrawn="1"/>
        </p:nvSpPr>
        <p:spPr>
          <a:xfrm>
            <a:off x="5952900" y="0"/>
            <a:ext cx="1701799" cy="792000"/>
          </a:xfrm>
          <a:prstGeom prst="rect">
            <a:avLst/>
          </a:prstGeom>
          <a:solidFill>
            <a:srgbClr val="003D8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3" name="等腰三角形 22"/>
          <p:cNvSpPr/>
          <p:nvPr userDrawn="1"/>
        </p:nvSpPr>
        <p:spPr>
          <a:xfrm>
            <a:off x="6627801" y="628650"/>
            <a:ext cx="351996" cy="163350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24" name="直接连接符 23"/>
          <p:cNvCxnSpPr/>
          <p:nvPr userDrawn="1"/>
        </p:nvCxnSpPr>
        <p:spPr>
          <a:xfrm>
            <a:off x="5952901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cxnSp>
        <p:nvCxnSpPr>
          <p:cNvPr id="25" name="直接连接符 24"/>
          <p:cNvCxnSpPr/>
          <p:nvPr userDrawn="1"/>
        </p:nvCxnSpPr>
        <p:spPr>
          <a:xfrm>
            <a:off x="7654699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27" name="TextBox 6"/>
          <p:cNvSpPr txBox="1"/>
          <p:nvPr userDrawn="1"/>
        </p:nvSpPr>
        <p:spPr>
          <a:xfrm>
            <a:off x="4430001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科研论文</a:t>
            </a:r>
            <a:endParaRPr lang="zh-CN" altLang="en-US" sz="1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8" name="直接连接符 27"/>
          <p:cNvCxnSpPr/>
          <p:nvPr userDrawn="1"/>
        </p:nvCxnSpPr>
        <p:spPr>
          <a:xfrm>
            <a:off x="4286902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36" name="页脚占位符 2"/>
          <p:cNvSpPr>
            <a:spLocks noGrp="1"/>
          </p:cNvSpPr>
          <p:nvPr userDrawn="1">
            <p:ph type="ftr" sz="quarter" idx="11"/>
          </p:nvPr>
        </p:nvSpPr>
        <p:spPr>
          <a:xfrm>
            <a:off x="4038600" y="6572908"/>
            <a:ext cx="4114800" cy="234498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algn="ctr"/>
            <a:endParaRPr lang="zh-CN" altLang="en-US" dirty="0"/>
          </a:p>
        </p:txBody>
      </p:sp>
      <p:sp>
        <p:nvSpPr>
          <p:cNvPr id="4" name="TextBox 6"/>
          <p:cNvSpPr txBox="1"/>
          <p:nvPr userDrawn="1"/>
        </p:nvSpPr>
        <p:spPr>
          <a:xfrm>
            <a:off x="6096000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kern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项目经历</a:t>
            </a:r>
            <a:endParaRPr lang="zh-CN" altLang="en-US" sz="1600" b="1" kern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5" name="直接连接符 4"/>
          <p:cNvCxnSpPr/>
          <p:nvPr userDrawn="1"/>
        </p:nvCxnSpPr>
        <p:spPr>
          <a:xfrm>
            <a:off x="7654699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942" y="149777"/>
            <a:ext cx="3666321" cy="4908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C6E2F-C166-4B07-88BE-4130CF44AD46}" type="datetime1">
              <a:rPr lang="zh-CN" altLang="en-US" smtClean="0"/>
            </a:fld>
            <a:endParaRPr lang="zh-CN" altLang="en-US"/>
          </a:p>
        </p:txBody>
      </p:sp>
      <p:sp>
        <p:nvSpPr>
          <p:cNvPr id="16" name="矩形 4"/>
          <p:cNvSpPr/>
          <p:nvPr userDrawn="1"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8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9" name="TextBox 6"/>
          <p:cNvSpPr txBox="1"/>
          <p:nvPr userDrawn="1"/>
        </p:nvSpPr>
        <p:spPr>
          <a:xfrm>
            <a:off x="6096000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近期学习</a:t>
            </a:r>
            <a:endParaRPr lang="en-US" altLang="zh-CN" sz="1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4" name="直接连接符 23"/>
          <p:cNvCxnSpPr/>
          <p:nvPr userDrawn="1"/>
        </p:nvCxnSpPr>
        <p:spPr>
          <a:xfrm>
            <a:off x="5952901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cxnSp>
        <p:nvCxnSpPr>
          <p:cNvPr id="25" name="直接连接符 24"/>
          <p:cNvCxnSpPr/>
          <p:nvPr userDrawn="1"/>
        </p:nvCxnSpPr>
        <p:spPr>
          <a:xfrm>
            <a:off x="7654699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17" name="矩形 16"/>
          <p:cNvSpPr/>
          <p:nvPr userDrawn="1"/>
        </p:nvSpPr>
        <p:spPr>
          <a:xfrm>
            <a:off x="4286902" y="0"/>
            <a:ext cx="1666001" cy="792000"/>
          </a:xfrm>
          <a:prstGeom prst="rect">
            <a:avLst/>
          </a:prstGeom>
          <a:solidFill>
            <a:srgbClr val="003D8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9" name="等腰三角形 28"/>
          <p:cNvSpPr/>
          <p:nvPr userDrawn="1"/>
        </p:nvSpPr>
        <p:spPr>
          <a:xfrm>
            <a:off x="4943904" y="628650"/>
            <a:ext cx="351996" cy="163350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7" name="TextBox 6"/>
          <p:cNvSpPr txBox="1"/>
          <p:nvPr userDrawn="1"/>
        </p:nvSpPr>
        <p:spPr>
          <a:xfrm>
            <a:off x="4430001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个人介绍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8" name="直接连接符 27"/>
          <p:cNvCxnSpPr/>
          <p:nvPr userDrawn="1"/>
        </p:nvCxnSpPr>
        <p:spPr>
          <a:xfrm>
            <a:off x="4286902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21" name="TextBox 9"/>
          <p:cNvSpPr txBox="1"/>
          <p:nvPr userDrawn="1"/>
        </p:nvSpPr>
        <p:spPr>
          <a:xfrm>
            <a:off x="7822230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marL="0" algn="ctr" defTabSz="914400" rtl="0" eaLnBrk="1" latinLnBrk="0" hangingPunct="1"/>
            <a:r>
              <a:rPr lang="zh-CN" altLang="en-US" sz="1600" b="1" kern="12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未来展望</a:t>
            </a:r>
            <a:endParaRPr lang="zh-CN" altLang="en-US" sz="1600" b="1" kern="1200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31" name="直接连接符 30"/>
          <p:cNvCxnSpPr/>
          <p:nvPr userDrawn="1"/>
        </p:nvCxnSpPr>
        <p:spPr>
          <a:xfrm>
            <a:off x="9309328" y="285092"/>
            <a:ext cx="0" cy="27397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18" name="页脚占位符 2"/>
          <p:cNvSpPr>
            <a:spLocks noGrp="1"/>
          </p:cNvSpPr>
          <p:nvPr userDrawn="1">
            <p:ph type="ftr" sz="quarter" idx="11"/>
          </p:nvPr>
        </p:nvSpPr>
        <p:spPr>
          <a:xfrm>
            <a:off x="4038600" y="6572908"/>
            <a:ext cx="4114800" cy="234498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algn="ctr"/>
            <a:endParaRPr lang="zh-CN" altLang="en-US" dirty="0"/>
          </a:p>
        </p:txBody>
      </p:sp>
      <p:pic>
        <p:nvPicPr>
          <p:cNvPr id="1026" name="Picture 2" descr="贝恩三维-STEAM创客教育领导品牌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430" y="16175"/>
            <a:ext cx="2861582" cy="783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C6E2F-C166-4B07-88BE-4130CF44AD46}" type="datetime1">
              <a:rPr lang="zh-CN" altLang="en-US" smtClean="0"/>
            </a:fld>
            <a:endParaRPr lang="zh-CN" altLang="en-US"/>
          </a:p>
        </p:txBody>
      </p:sp>
      <p:sp>
        <p:nvSpPr>
          <p:cNvPr id="16" name="矩形 4"/>
          <p:cNvSpPr/>
          <p:nvPr userDrawn="1"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8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9" name="TextBox 6"/>
          <p:cNvSpPr txBox="1"/>
          <p:nvPr userDrawn="1"/>
        </p:nvSpPr>
        <p:spPr>
          <a:xfrm>
            <a:off x="6096000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近期学习</a:t>
            </a:r>
            <a:endParaRPr lang="en-US" altLang="zh-CN" sz="1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4" name="直接连接符 23"/>
          <p:cNvCxnSpPr/>
          <p:nvPr userDrawn="1"/>
        </p:nvCxnSpPr>
        <p:spPr>
          <a:xfrm>
            <a:off x="5952901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cxnSp>
        <p:nvCxnSpPr>
          <p:cNvPr id="25" name="直接连接符 24"/>
          <p:cNvCxnSpPr/>
          <p:nvPr userDrawn="1"/>
        </p:nvCxnSpPr>
        <p:spPr>
          <a:xfrm>
            <a:off x="7654699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17" name="矩形 16"/>
          <p:cNvSpPr/>
          <p:nvPr userDrawn="1"/>
        </p:nvSpPr>
        <p:spPr>
          <a:xfrm>
            <a:off x="4286902" y="0"/>
            <a:ext cx="1666001" cy="792000"/>
          </a:xfrm>
          <a:prstGeom prst="rect">
            <a:avLst/>
          </a:prstGeom>
          <a:solidFill>
            <a:srgbClr val="003D8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9" name="等腰三角形 28"/>
          <p:cNvSpPr/>
          <p:nvPr userDrawn="1"/>
        </p:nvSpPr>
        <p:spPr>
          <a:xfrm>
            <a:off x="4943904" y="628650"/>
            <a:ext cx="351996" cy="163350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7" name="TextBox 6"/>
          <p:cNvSpPr txBox="1"/>
          <p:nvPr userDrawn="1"/>
        </p:nvSpPr>
        <p:spPr>
          <a:xfrm>
            <a:off x="4430001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个人介绍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8" name="直接连接符 27"/>
          <p:cNvCxnSpPr/>
          <p:nvPr userDrawn="1"/>
        </p:nvCxnSpPr>
        <p:spPr>
          <a:xfrm>
            <a:off x="4286902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21" name="TextBox 9"/>
          <p:cNvSpPr txBox="1"/>
          <p:nvPr userDrawn="1"/>
        </p:nvSpPr>
        <p:spPr>
          <a:xfrm>
            <a:off x="7822230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marL="0" algn="ctr" defTabSz="914400" rtl="0" eaLnBrk="1" latinLnBrk="0" hangingPunct="1"/>
            <a:r>
              <a:rPr lang="zh-CN" altLang="en-US" sz="1600" b="1" kern="12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未来展望</a:t>
            </a:r>
            <a:endParaRPr lang="zh-CN" altLang="en-US" sz="1600" b="1" kern="1200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31" name="直接连接符 30"/>
          <p:cNvCxnSpPr/>
          <p:nvPr userDrawn="1"/>
        </p:nvCxnSpPr>
        <p:spPr>
          <a:xfrm>
            <a:off x="9309328" y="285092"/>
            <a:ext cx="0" cy="27397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18" name="页脚占位符 2"/>
          <p:cNvSpPr>
            <a:spLocks noGrp="1"/>
          </p:cNvSpPr>
          <p:nvPr userDrawn="1">
            <p:ph type="ftr" sz="quarter" idx="11"/>
          </p:nvPr>
        </p:nvSpPr>
        <p:spPr>
          <a:xfrm>
            <a:off x="4038600" y="6572908"/>
            <a:ext cx="4114800" cy="234498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algn="ctr"/>
            <a:endParaRPr lang="zh-CN" altLang="en-US" dirty="0"/>
          </a:p>
        </p:txBody>
      </p:sp>
      <p:pic>
        <p:nvPicPr>
          <p:cNvPr id="1026" name="Picture 2" descr="贝恩三维-STEAM创客教育领导品牌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430" y="16175"/>
            <a:ext cx="2861582" cy="783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57B21-2C49-445E-9795-D323DB908675}" type="datetime1">
              <a:rPr lang="zh-CN" altLang="en-US" smtClean="0"/>
            </a:fld>
            <a:endParaRPr lang="zh-CN" altLang="en-US"/>
          </a:p>
        </p:txBody>
      </p:sp>
      <p:sp>
        <p:nvSpPr>
          <p:cNvPr id="16" name="矩形 4"/>
          <p:cNvSpPr/>
          <p:nvPr userDrawn="1"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8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2" name="矩形 21"/>
          <p:cNvSpPr/>
          <p:nvPr userDrawn="1"/>
        </p:nvSpPr>
        <p:spPr>
          <a:xfrm>
            <a:off x="5970799" y="0"/>
            <a:ext cx="1666001" cy="792000"/>
          </a:xfrm>
          <a:prstGeom prst="rect">
            <a:avLst/>
          </a:prstGeom>
          <a:solidFill>
            <a:srgbClr val="003D8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3" name="等腰三角形 22"/>
          <p:cNvSpPr/>
          <p:nvPr userDrawn="1"/>
        </p:nvSpPr>
        <p:spPr>
          <a:xfrm>
            <a:off x="6627801" y="628650"/>
            <a:ext cx="351996" cy="163350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9" name="TextBox 6"/>
          <p:cNvSpPr txBox="1"/>
          <p:nvPr userDrawn="1"/>
        </p:nvSpPr>
        <p:spPr>
          <a:xfrm>
            <a:off x="6096000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竞赛经历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TextBox 7"/>
          <p:cNvSpPr txBox="1"/>
          <p:nvPr userDrawn="1"/>
        </p:nvSpPr>
        <p:spPr>
          <a:xfrm>
            <a:off x="7797800" y="215904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科研经历</a:t>
            </a:r>
            <a:endParaRPr lang="zh-CN" altLang="en-US" sz="1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4" name="直接连接符 23"/>
          <p:cNvCxnSpPr/>
          <p:nvPr userDrawn="1"/>
        </p:nvCxnSpPr>
        <p:spPr>
          <a:xfrm>
            <a:off x="5952901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cxnSp>
        <p:nvCxnSpPr>
          <p:cNvPr id="25" name="直接连接符 24"/>
          <p:cNvCxnSpPr/>
          <p:nvPr userDrawn="1"/>
        </p:nvCxnSpPr>
        <p:spPr>
          <a:xfrm>
            <a:off x="7654699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27" name="TextBox 6"/>
          <p:cNvSpPr txBox="1"/>
          <p:nvPr userDrawn="1"/>
        </p:nvSpPr>
        <p:spPr>
          <a:xfrm>
            <a:off x="4430001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个人介绍</a:t>
            </a:r>
            <a:endParaRPr lang="zh-CN" altLang="en-US" sz="1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8" name="直接连接符 27"/>
          <p:cNvCxnSpPr/>
          <p:nvPr userDrawn="1"/>
        </p:nvCxnSpPr>
        <p:spPr>
          <a:xfrm>
            <a:off x="4286902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21" name="TextBox 9"/>
          <p:cNvSpPr txBox="1"/>
          <p:nvPr userDrawn="1"/>
        </p:nvSpPr>
        <p:spPr>
          <a:xfrm>
            <a:off x="9499600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研究生计划</a:t>
            </a:r>
            <a:endParaRPr lang="zh-CN" altLang="en-US" sz="1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1" name="直接连接符 30"/>
          <p:cNvCxnSpPr/>
          <p:nvPr userDrawn="1"/>
        </p:nvCxnSpPr>
        <p:spPr>
          <a:xfrm>
            <a:off x="9309328" y="285092"/>
            <a:ext cx="0" cy="27397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36" name="页脚占位符 2"/>
          <p:cNvSpPr>
            <a:spLocks noGrp="1"/>
          </p:cNvSpPr>
          <p:nvPr userDrawn="1">
            <p:ph type="ftr" sz="quarter" idx="11"/>
          </p:nvPr>
        </p:nvSpPr>
        <p:spPr>
          <a:xfrm>
            <a:off x="4038600" y="6572908"/>
            <a:ext cx="6805000" cy="163350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algn="ctr"/>
            <a:endParaRPr lang="zh-CN" altLang="en-US" dirty="0"/>
          </a:p>
        </p:txBody>
      </p:sp>
      <p:sp>
        <p:nvSpPr>
          <p:cNvPr id="29" name="矩形 28"/>
          <p:cNvSpPr/>
          <p:nvPr/>
        </p:nvSpPr>
        <p:spPr>
          <a:xfrm>
            <a:off x="0" y="795427"/>
            <a:ext cx="1847215" cy="6071463"/>
          </a:xfrm>
          <a:prstGeom prst="rect">
            <a:avLst/>
          </a:prstGeom>
          <a:solidFill>
            <a:srgbClr val="003D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Picture 2" descr="贝恩三维-STEAM创客教育领导品牌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430" y="16175"/>
            <a:ext cx="2861582" cy="783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202" y="5656716"/>
            <a:ext cx="690809" cy="691810"/>
          </a:xfrm>
          <a:prstGeom prst="rect">
            <a:avLst/>
          </a:prstGeom>
        </p:spPr>
      </p:pic>
      <p:sp>
        <p:nvSpPr>
          <p:cNvPr id="10" name="标题 1"/>
          <p:cNvSpPr txBox="1"/>
          <p:nvPr userDrawn="1"/>
        </p:nvSpPr>
        <p:spPr>
          <a:xfrm>
            <a:off x="1847214" y="836678"/>
            <a:ext cx="10344786" cy="74844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/>
        </p:spPr>
        <p:txBody>
          <a:bodyPr wrap="square" lIns="79553" tIns="39776" rIns="79553" bIns="39776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2785" b="1" dirty="0">
                <a:solidFill>
                  <a:srgbClr val="003D8C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</a:rPr>
              <a:t>   基于多目标规划和布谷鸟算法的换电站选址及调度策略</a:t>
            </a:r>
            <a:endParaRPr lang="zh-CN" altLang="en-US" sz="2785" b="1" dirty="0">
              <a:solidFill>
                <a:srgbClr val="003D8C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C6E2F-C166-4B07-88BE-4130CF44AD46}" type="datetime1">
              <a:rPr lang="zh-CN" altLang="en-US" smtClean="0"/>
            </a:fld>
            <a:endParaRPr lang="zh-CN" altLang="en-US"/>
          </a:p>
        </p:txBody>
      </p:sp>
      <p:sp>
        <p:nvSpPr>
          <p:cNvPr id="16" name="矩形 4"/>
          <p:cNvSpPr/>
          <p:nvPr userDrawn="1"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8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9" name="TextBox 6"/>
          <p:cNvSpPr txBox="1"/>
          <p:nvPr userDrawn="1"/>
        </p:nvSpPr>
        <p:spPr>
          <a:xfrm>
            <a:off x="6096000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近期学习</a:t>
            </a:r>
            <a:endParaRPr lang="en-US" altLang="zh-CN" sz="1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4" name="直接连接符 23"/>
          <p:cNvCxnSpPr/>
          <p:nvPr userDrawn="1"/>
        </p:nvCxnSpPr>
        <p:spPr>
          <a:xfrm>
            <a:off x="5952901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cxnSp>
        <p:nvCxnSpPr>
          <p:cNvPr id="25" name="直接连接符 24"/>
          <p:cNvCxnSpPr/>
          <p:nvPr userDrawn="1"/>
        </p:nvCxnSpPr>
        <p:spPr>
          <a:xfrm>
            <a:off x="7654699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17" name="矩形 16"/>
          <p:cNvSpPr/>
          <p:nvPr userDrawn="1"/>
        </p:nvSpPr>
        <p:spPr>
          <a:xfrm>
            <a:off x="4286902" y="0"/>
            <a:ext cx="1666001" cy="792000"/>
          </a:xfrm>
          <a:prstGeom prst="rect">
            <a:avLst/>
          </a:prstGeom>
          <a:solidFill>
            <a:srgbClr val="003D8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9" name="等腰三角形 28"/>
          <p:cNvSpPr/>
          <p:nvPr userDrawn="1"/>
        </p:nvSpPr>
        <p:spPr>
          <a:xfrm>
            <a:off x="4943904" y="628650"/>
            <a:ext cx="351996" cy="163350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7" name="TextBox 6"/>
          <p:cNvSpPr txBox="1"/>
          <p:nvPr userDrawn="1"/>
        </p:nvSpPr>
        <p:spPr>
          <a:xfrm>
            <a:off x="4430001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个人介绍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8" name="直接连接符 27"/>
          <p:cNvCxnSpPr/>
          <p:nvPr userDrawn="1"/>
        </p:nvCxnSpPr>
        <p:spPr>
          <a:xfrm>
            <a:off x="4286902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21" name="TextBox 9"/>
          <p:cNvSpPr txBox="1"/>
          <p:nvPr userDrawn="1"/>
        </p:nvSpPr>
        <p:spPr>
          <a:xfrm>
            <a:off x="7822230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marL="0" algn="ctr" defTabSz="914400" rtl="0" eaLnBrk="1" latinLnBrk="0" hangingPunct="1"/>
            <a:r>
              <a:rPr lang="zh-CN" altLang="en-US" sz="1600" b="1" kern="12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未来展望</a:t>
            </a:r>
            <a:endParaRPr lang="zh-CN" altLang="en-US" sz="1600" b="1" kern="1200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31" name="直接连接符 30"/>
          <p:cNvCxnSpPr/>
          <p:nvPr userDrawn="1"/>
        </p:nvCxnSpPr>
        <p:spPr>
          <a:xfrm>
            <a:off x="9309328" y="285092"/>
            <a:ext cx="0" cy="27397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18" name="页脚占位符 2"/>
          <p:cNvSpPr>
            <a:spLocks noGrp="1"/>
          </p:cNvSpPr>
          <p:nvPr userDrawn="1">
            <p:ph type="ftr" sz="quarter" idx="11"/>
          </p:nvPr>
        </p:nvSpPr>
        <p:spPr>
          <a:xfrm>
            <a:off x="4038600" y="6572908"/>
            <a:ext cx="4114800" cy="234498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algn="ctr"/>
            <a:endParaRPr lang="zh-CN" altLang="en-US" dirty="0"/>
          </a:p>
        </p:txBody>
      </p:sp>
      <p:pic>
        <p:nvPicPr>
          <p:cNvPr id="1026" name="Picture 2" descr="贝恩三维-STEAM创客教育领导品牌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430" y="16175"/>
            <a:ext cx="2861582" cy="783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64360-6CCE-4D03-99DB-F61F26084D93}" type="datetime1">
              <a:rPr lang="zh-CN" altLang="en-US" smtClean="0"/>
            </a:fld>
            <a:endParaRPr lang="zh-CN" altLang="en-US"/>
          </a:p>
        </p:txBody>
      </p:sp>
      <p:sp>
        <p:nvSpPr>
          <p:cNvPr id="16" name="矩形 4"/>
          <p:cNvSpPr/>
          <p:nvPr userDrawn="1"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8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9" name="TextBox 6"/>
          <p:cNvSpPr txBox="1"/>
          <p:nvPr userDrawn="1"/>
        </p:nvSpPr>
        <p:spPr>
          <a:xfrm>
            <a:off x="6096000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竞赛经历</a:t>
            </a:r>
            <a:endParaRPr lang="zh-CN" altLang="en-US" sz="1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 userDrawn="1"/>
        </p:nvSpPr>
        <p:spPr>
          <a:xfrm>
            <a:off x="7654699" y="0"/>
            <a:ext cx="1666001" cy="792000"/>
          </a:xfrm>
          <a:prstGeom prst="rect">
            <a:avLst/>
          </a:prstGeom>
          <a:solidFill>
            <a:srgbClr val="003D8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3" name="等腰三角形 22"/>
          <p:cNvSpPr/>
          <p:nvPr userDrawn="1"/>
        </p:nvSpPr>
        <p:spPr>
          <a:xfrm>
            <a:off x="8311701" y="628650"/>
            <a:ext cx="351996" cy="163350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TextBox 7"/>
          <p:cNvSpPr txBox="1"/>
          <p:nvPr userDrawn="1"/>
        </p:nvSpPr>
        <p:spPr>
          <a:xfrm>
            <a:off x="7797800" y="215904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科研经历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4" name="直接连接符 23"/>
          <p:cNvCxnSpPr/>
          <p:nvPr userDrawn="1"/>
        </p:nvCxnSpPr>
        <p:spPr>
          <a:xfrm>
            <a:off x="5952901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cxnSp>
        <p:nvCxnSpPr>
          <p:cNvPr id="25" name="直接连接符 24"/>
          <p:cNvCxnSpPr/>
          <p:nvPr userDrawn="1"/>
        </p:nvCxnSpPr>
        <p:spPr>
          <a:xfrm>
            <a:off x="7654699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27" name="TextBox 6"/>
          <p:cNvSpPr txBox="1"/>
          <p:nvPr userDrawn="1"/>
        </p:nvSpPr>
        <p:spPr>
          <a:xfrm>
            <a:off x="4430001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个人介绍</a:t>
            </a:r>
            <a:endParaRPr lang="zh-CN" altLang="en-US" sz="1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8" name="直接连接符 27"/>
          <p:cNvCxnSpPr/>
          <p:nvPr userDrawn="1"/>
        </p:nvCxnSpPr>
        <p:spPr>
          <a:xfrm>
            <a:off x="4286902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21" name="TextBox 9"/>
          <p:cNvSpPr txBox="1"/>
          <p:nvPr userDrawn="1"/>
        </p:nvSpPr>
        <p:spPr>
          <a:xfrm>
            <a:off x="9499600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研究生计划</a:t>
            </a:r>
            <a:endParaRPr lang="zh-CN" altLang="en-US" sz="1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1" name="直接连接符 30"/>
          <p:cNvCxnSpPr/>
          <p:nvPr userDrawn="1"/>
        </p:nvCxnSpPr>
        <p:spPr>
          <a:xfrm>
            <a:off x="9309328" y="285092"/>
            <a:ext cx="0" cy="27397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17" name="页脚占位符 2"/>
          <p:cNvSpPr>
            <a:spLocks noGrp="1"/>
          </p:cNvSpPr>
          <p:nvPr userDrawn="1">
            <p:ph type="ftr" sz="quarter" idx="11"/>
          </p:nvPr>
        </p:nvSpPr>
        <p:spPr>
          <a:xfrm>
            <a:off x="4038600" y="6572908"/>
            <a:ext cx="4114800" cy="234498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algn="ctr"/>
            <a:endParaRPr lang="zh-CN" altLang="en-US" dirty="0"/>
          </a:p>
        </p:txBody>
      </p:sp>
      <p:pic>
        <p:nvPicPr>
          <p:cNvPr id="3" name="Picture 2" descr="贝恩三维-STEAM创客教育领导品牌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430" y="16175"/>
            <a:ext cx="2861582" cy="783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7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64360-6CCE-4D03-99DB-F61F26084D93}" type="datetime1">
              <a:rPr lang="zh-CN" altLang="en-US" smtClean="0"/>
            </a:fld>
            <a:endParaRPr lang="zh-CN" altLang="en-US"/>
          </a:p>
        </p:txBody>
      </p:sp>
      <p:sp>
        <p:nvSpPr>
          <p:cNvPr id="16" name="矩形 4"/>
          <p:cNvSpPr/>
          <p:nvPr userDrawn="1"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8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9" name="TextBox 6"/>
          <p:cNvSpPr txBox="1"/>
          <p:nvPr userDrawn="1"/>
        </p:nvSpPr>
        <p:spPr>
          <a:xfrm>
            <a:off x="6096000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竞赛经历</a:t>
            </a:r>
            <a:endParaRPr lang="zh-CN" altLang="en-US" sz="1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 userDrawn="1"/>
        </p:nvSpPr>
        <p:spPr>
          <a:xfrm>
            <a:off x="7654699" y="0"/>
            <a:ext cx="1666001" cy="792000"/>
          </a:xfrm>
          <a:prstGeom prst="rect">
            <a:avLst/>
          </a:prstGeom>
          <a:solidFill>
            <a:srgbClr val="003D8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3" name="等腰三角形 22"/>
          <p:cNvSpPr/>
          <p:nvPr userDrawn="1"/>
        </p:nvSpPr>
        <p:spPr>
          <a:xfrm>
            <a:off x="8311701" y="628650"/>
            <a:ext cx="351996" cy="163350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TextBox 7"/>
          <p:cNvSpPr txBox="1"/>
          <p:nvPr userDrawn="1"/>
        </p:nvSpPr>
        <p:spPr>
          <a:xfrm>
            <a:off x="7797800" y="215904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科研经历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4" name="直接连接符 23"/>
          <p:cNvCxnSpPr/>
          <p:nvPr userDrawn="1"/>
        </p:nvCxnSpPr>
        <p:spPr>
          <a:xfrm>
            <a:off x="5952901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cxnSp>
        <p:nvCxnSpPr>
          <p:cNvPr id="25" name="直接连接符 24"/>
          <p:cNvCxnSpPr/>
          <p:nvPr userDrawn="1"/>
        </p:nvCxnSpPr>
        <p:spPr>
          <a:xfrm>
            <a:off x="7654699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27" name="TextBox 6"/>
          <p:cNvSpPr txBox="1"/>
          <p:nvPr userDrawn="1"/>
        </p:nvSpPr>
        <p:spPr>
          <a:xfrm>
            <a:off x="4430001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个人介绍</a:t>
            </a:r>
            <a:endParaRPr lang="zh-CN" altLang="en-US" sz="1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8" name="直接连接符 27"/>
          <p:cNvCxnSpPr/>
          <p:nvPr userDrawn="1"/>
        </p:nvCxnSpPr>
        <p:spPr>
          <a:xfrm>
            <a:off x="4286902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21" name="TextBox 9"/>
          <p:cNvSpPr txBox="1"/>
          <p:nvPr userDrawn="1"/>
        </p:nvSpPr>
        <p:spPr>
          <a:xfrm>
            <a:off x="9499600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研究生计划</a:t>
            </a:r>
            <a:endParaRPr lang="zh-CN" altLang="en-US" sz="1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1" name="直接连接符 30"/>
          <p:cNvCxnSpPr/>
          <p:nvPr userDrawn="1"/>
        </p:nvCxnSpPr>
        <p:spPr>
          <a:xfrm>
            <a:off x="9309328" y="285092"/>
            <a:ext cx="0" cy="27397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17" name="页脚占位符 2"/>
          <p:cNvSpPr>
            <a:spLocks noGrp="1"/>
          </p:cNvSpPr>
          <p:nvPr userDrawn="1">
            <p:ph type="ftr" sz="quarter" idx="11"/>
          </p:nvPr>
        </p:nvSpPr>
        <p:spPr>
          <a:xfrm>
            <a:off x="4038600" y="6572908"/>
            <a:ext cx="4114800" cy="234498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algn="ctr"/>
            <a:endParaRPr lang="zh-CN" altLang="en-US" dirty="0"/>
          </a:p>
        </p:txBody>
      </p:sp>
      <p:pic>
        <p:nvPicPr>
          <p:cNvPr id="3" name="Picture 2" descr="贝恩三维-STEAM创客教育领导品牌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430" y="16175"/>
            <a:ext cx="2861582" cy="783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日期占位符 1"/>
          <p:cNvSpPr txBox="1"/>
          <p:nvPr userDrawn="1"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4757B21-2C49-445E-9795-D323DB908675}" type="datetime1">
              <a:rPr lang="zh-CN" altLang="en-US" smtClean="0"/>
            </a:fld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0" y="795427"/>
            <a:ext cx="1847215" cy="6071463"/>
          </a:xfrm>
          <a:prstGeom prst="rect">
            <a:avLst/>
          </a:prstGeom>
          <a:solidFill>
            <a:srgbClr val="003D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202" y="5656716"/>
            <a:ext cx="690809" cy="691810"/>
          </a:xfrm>
          <a:prstGeom prst="rect">
            <a:avLst/>
          </a:prstGeom>
        </p:spPr>
      </p:pic>
      <p:sp>
        <p:nvSpPr>
          <p:cNvPr id="7" name="标题 1"/>
          <p:cNvSpPr txBox="1"/>
          <p:nvPr userDrawn="1"/>
        </p:nvSpPr>
        <p:spPr>
          <a:xfrm>
            <a:off x="1847214" y="836678"/>
            <a:ext cx="10344786" cy="74844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/>
        </p:spPr>
        <p:txBody>
          <a:bodyPr wrap="square" lIns="79553" tIns="39776" rIns="79553" bIns="39776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2785" b="1" dirty="0">
                <a:solidFill>
                  <a:srgbClr val="003D8C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</a:rPr>
              <a:t>   基于多目标规划和布谷鸟算法的换电站选址及调度策略</a:t>
            </a:r>
            <a:endParaRPr lang="zh-CN" altLang="en-US" sz="2785" b="1" dirty="0">
              <a:solidFill>
                <a:srgbClr val="003D8C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8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64360-6CCE-4D03-99DB-F61F26084D93}" type="datetime1">
              <a:rPr lang="zh-CN" altLang="en-US" smtClean="0"/>
            </a:fld>
            <a:endParaRPr lang="zh-CN" altLang="en-US"/>
          </a:p>
        </p:txBody>
      </p:sp>
      <p:sp>
        <p:nvSpPr>
          <p:cNvPr id="16" name="矩形 4"/>
          <p:cNvSpPr/>
          <p:nvPr userDrawn="1"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8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9" name="TextBox 6"/>
          <p:cNvSpPr txBox="1"/>
          <p:nvPr userDrawn="1"/>
        </p:nvSpPr>
        <p:spPr>
          <a:xfrm>
            <a:off x="6096000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竞赛经历</a:t>
            </a:r>
            <a:endParaRPr lang="zh-CN" altLang="en-US" sz="1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 userDrawn="1"/>
        </p:nvSpPr>
        <p:spPr>
          <a:xfrm>
            <a:off x="7654699" y="0"/>
            <a:ext cx="1666001" cy="792000"/>
          </a:xfrm>
          <a:prstGeom prst="rect">
            <a:avLst/>
          </a:prstGeom>
          <a:solidFill>
            <a:srgbClr val="003D8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3" name="等腰三角形 22"/>
          <p:cNvSpPr/>
          <p:nvPr userDrawn="1"/>
        </p:nvSpPr>
        <p:spPr>
          <a:xfrm>
            <a:off x="8311701" y="628650"/>
            <a:ext cx="351996" cy="163350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TextBox 7"/>
          <p:cNvSpPr txBox="1"/>
          <p:nvPr userDrawn="1"/>
        </p:nvSpPr>
        <p:spPr>
          <a:xfrm>
            <a:off x="7797800" y="215904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科研经历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4" name="直接连接符 23"/>
          <p:cNvCxnSpPr/>
          <p:nvPr userDrawn="1"/>
        </p:nvCxnSpPr>
        <p:spPr>
          <a:xfrm>
            <a:off x="5952901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cxnSp>
        <p:nvCxnSpPr>
          <p:cNvPr id="25" name="直接连接符 24"/>
          <p:cNvCxnSpPr/>
          <p:nvPr userDrawn="1"/>
        </p:nvCxnSpPr>
        <p:spPr>
          <a:xfrm>
            <a:off x="7654699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27" name="TextBox 6"/>
          <p:cNvSpPr txBox="1"/>
          <p:nvPr userDrawn="1"/>
        </p:nvSpPr>
        <p:spPr>
          <a:xfrm>
            <a:off x="4430001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个人介绍</a:t>
            </a:r>
            <a:endParaRPr lang="zh-CN" altLang="en-US" sz="1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8" name="直接连接符 27"/>
          <p:cNvCxnSpPr/>
          <p:nvPr userDrawn="1"/>
        </p:nvCxnSpPr>
        <p:spPr>
          <a:xfrm>
            <a:off x="4286902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21" name="TextBox 9"/>
          <p:cNvSpPr txBox="1"/>
          <p:nvPr userDrawn="1"/>
        </p:nvSpPr>
        <p:spPr>
          <a:xfrm>
            <a:off x="9499600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研究生计划</a:t>
            </a:r>
            <a:endParaRPr lang="zh-CN" altLang="en-US" sz="1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1" name="直接连接符 30"/>
          <p:cNvCxnSpPr/>
          <p:nvPr userDrawn="1"/>
        </p:nvCxnSpPr>
        <p:spPr>
          <a:xfrm>
            <a:off x="9309328" y="285092"/>
            <a:ext cx="0" cy="27397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17" name="页脚占位符 2"/>
          <p:cNvSpPr>
            <a:spLocks noGrp="1"/>
          </p:cNvSpPr>
          <p:nvPr userDrawn="1">
            <p:ph type="ftr" sz="quarter" idx="11"/>
          </p:nvPr>
        </p:nvSpPr>
        <p:spPr>
          <a:xfrm>
            <a:off x="4038600" y="6572908"/>
            <a:ext cx="4114800" cy="234498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algn="ctr"/>
            <a:endParaRPr lang="zh-CN" altLang="en-US" dirty="0"/>
          </a:p>
        </p:txBody>
      </p:sp>
      <p:pic>
        <p:nvPicPr>
          <p:cNvPr id="3" name="Picture 2" descr="贝恩三维-STEAM创客教育领导品牌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430" y="16175"/>
            <a:ext cx="2861582" cy="783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日期占位符 1"/>
          <p:cNvSpPr txBox="1"/>
          <p:nvPr userDrawn="1"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4757B21-2C49-445E-9795-D323DB908675}" type="datetime1">
              <a:rPr lang="zh-CN" altLang="en-US" smtClean="0"/>
            </a:fld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0" y="795427"/>
            <a:ext cx="1847215" cy="6071463"/>
          </a:xfrm>
          <a:prstGeom prst="rect">
            <a:avLst/>
          </a:prstGeom>
          <a:solidFill>
            <a:srgbClr val="003D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202" y="5656716"/>
            <a:ext cx="690809" cy="691810"/>
          </a:xfrm>
          <a:prstGeom prst="rect">
            <a:avLst/>
          </a:prstGeom>
        </p:spPr>
      </p:pic>
      <p:sp>
        <p:nvSpPr>
          <p:cNvPr id="7" name="标题 1"/>
          <p:cNvSpPr txBox="1"/>
          <p:nvPr userDrawn="1"/>
        </p:nvSpPr>
        <p:spPr>
          <a:xfrm>
            <a:off x="1847214" y="836678"/>
            <a:ext cx="10344786" cy="74844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/>
        </p:spPr>
        <p:txBody>
          <a:bodyPr wrap="square" lIns="79553" tIns="39776" rIns="79553" bIns="39776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785" b="1" dirty="0">
                <a:solidFill>
                  <a:srgbClr val="003D8C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</a:rPr>
              <a:t>   </a:t>
            </a:r>
            <a:r>
              <a:rPr lang="en-US" altLang="zh-CN" sz="2785" b="1" dirty="0">
                <a:solidFill>
                  <a:srgbClr val="003D8C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</a:rPr>
              <a:t>Grasping ecology with one hand and economy with the other</a:t>
            </a:r>
            <a:endParaRPr lang="zh-CN" altLang="en-US" sz="2785" b="1" dirty="0">
              <a:solidFill>
                <a:srgbClr val="003D8C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endParaRPr lang="zh-CN" altLang="en-US" sz="2785" b="1" dirty="0">
              <a:solidFill>
                <a:srgbClr val="003D8C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0D6E8-72C1-4297-8423-D9E4388BE142}" type="datetime1">
              <a:rPr lang="zh-CN" altLang="en-US" smtClean="0"/>
            </a:fld>
            <a:endParaRPr lang="zh-CN" altLang="en-US"/>
          </a:p>
        </p:txBody>
      </p:sp>
      <p:sp>
        <p:nvSpPr>
          <p:cNvPr id="16" name="矩形 4"/>
          <p:cNvSpPr/>
          <p:nvPr userDrawn="1"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8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7" name="TextBox 6"/>
          <p:cNvSpPr txBox="1"/>
          <p:nvPr userDrawn="1"/>
        </p:nvSpPr>
        <p:spPr>
          <a:xfrm>
            <a:off x="4430001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个人介绍</a:t>
            </a:r>
            <a:endParaRPr lang="zh-CN" altLang="en-US" sz="1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8" name="直接连接符 27"/>
          <p:cNvCxnSpPr/>
          <p:nvPr userDrawn="1"/>
        </p:nvCxnSpPr>
        <p:spPr>
          <a:xfrm>
            <a:off x="4286902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17" name="页脚占位符 2"/>
          <p:cNvSpPr>
            <a:spLocks noGrp="1"/>
          </p:cNvSpPr>
          <p:nvPr userDrawn="1">
            <p:ph type="ftr" sz="quarter" idx="11"/>
          </p:nvPr>
        </p:nvSpPr>
        <p:spPr>
          <a:xfrm>
            <a:off x="4038600" y="6572908"/>
            <a:ext cx="4114800" cy="234498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algn="ctr"/>
            <a:endParaRPr lang="zh-CN" altLang="en-US" dirty="0"/>
          </a:p>
        </p:txBody>
      </p:sp>
      <p:pic>
        <p:nvPicPr>
          <p:cNvPr id="3" name="Picture 2" descr="贝恩三维-STEAM创客教育领导品牌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430" y="16175"/>
            <a:ext cx="2861582" cy="783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6"/>
          <p:cNvSpPr txBox="1"/>
          <p:nvPr userDrawn="1"/>
        </p:nvSpPr>
        <p:spPr>
          <a:xfrm>
            <a:off x="6096000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科研竞赛经历</a:t>
            </a:r>
            <a:endParaRPr lang="en-US" altLang="zh-CN" sz="1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" name="直接连接符 4"/>
          <p:cNvCxnSpPr/>
          <p:nvPr userDrawn="1"/>
        </p:nvCxnSpPr>
        <p:spPr>
          <a:xfrm>
            <a:off x="7654699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8" name="矩形 7"/>
          <p:cNvSpPr/>
          <p:nvPr userDrawn="1"/>
        </p:nvSpPr>
        <p:spPr>
          <a:xfrm>
            <a:off x="7654699" y="0"/>
            <a:ext cx="1666001" cy="792000"/>
          </a:xfrm>
          <a:prstGeom prst="rect">
            <a:avLst/>
          </a:prstGeom>
          <a:solidFill>
            <a:srgbClr val="003D8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" name="TextBox 9"/>
          <p:cNvSpPr txBox="1"/>
          <p:nvPr userDrawn="1"/>
        </p:nvSpPr>
        <p:spPr>
          <a:xfrm>
            <a:off x="7822230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marL="0" algn="ctr" defTabSz="914400" rtl="0" eaLnBrk="1" latinLnBrk="0" hangingPunct="1"/>
            <a:r>
              <a:rPr lang="zh-CN" altLang="en-US" sz="1600" b="1" kern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未来展望</a:t>
            </a:r>
            <a:endParaRPr lang="zh-CN" altLang="en-US" sz="1600" b="1" kern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等腰三角形 8"/>
          <p:cNvSpPr/>
          <p:nvPr userDrawn="1"/>
        </p:nvSpPr>
        <p:spPr>
          <a:xfrm>
            <a:off x="8311701" y="628650"/>
            <a:ext cx="351996" cy="163350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7654699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cxnSp>
        <p:nvCxnSpPr>
          <p:cNvPr id="12" name="直接连接符 11"/>
          <p:cNvCxnSpPr/>
          <p:nvPr userDrawn="1"/>
        </p:nvCxnSpPr>
        <p:spPr>
          <a:xfrm>
            <a:off x="9309328" y="285092"/>
            <a:ext cx="0" cy="27397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0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0D6E8-72C1-4297-8423-D9E4388BE142}" type="datetime1">
              <a:rPr lang="zh-CN" altLang="en-US" smtClean="0"/>
            </a:fld>
            <a:endParaRPr lang="zh-CN" altLang="en-US"/>
          </a:p>
        </p:txBody>
      </p:sp>
      <p:sp>
        <p:nvSpPr>
          <p:cNvPr id="16" name="矩形 4"/>
          <p:cNvSpPr/>
          <p:nvPr userDrawn="1"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8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9" name="TextBox 6"/>
          <p:cNvSpPr txBox="1"/>
          <p:nvPr userDrawn="1"/>
        </p:nvSpPr>
        <p:spPr>
          <a:xfrm>
            <a:off x="6096000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竞赛经历</a:t>
            </a:r>
            <a:endParaRPr lang="zh-CN" altLang="en-US" sz="1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TextBox 7"/>
          <p:cNvSpPr txBox="1"/>
          <p:nvPr userDrawn="1"/>
        </p:nvSpPr>
        <p:spPr>
          <a:xfrm>
            <a:off x="7797800" y="215904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科研经历</a:t>
            </a:r>
            <a:endParaRPr lang="zh-CN" altLang="en-US" sz="1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4" name="直接连接符 23"/>
          <p:cNvCxnSpPr/>
          <p:nvPr userDrawn="1"/>
        </p:nvCxnSpPr>
        <p:spPr>
          <a:xfrm>
            <a:off x="5952901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cxnSp>
        <p:nvCxnSpPr>
          <p:cNvPr id="25" name="直接连接符 24"/>
          <p:cNvCxnSpPr/>
          <p:nvPr userDrawn="1"/>
        </p:nvCxnSpPr>
        <p:spPr>
          <a:xfrm>
            <a:off x="7654699" y="285092"/>
            <a:ext cx="0" cy="27397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27" name="TextBox 6"/>
          <p:cNvSpPr txBox="1"/>
          <p:nvPr userDrawn="1"/>
        </p:nvSpPr>
        <p:spPr>
          <a:xfrm>
            <a:off x="4430001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个人介绍</a:t>
            </a:r>
            <a:endParaRPr lang="zh-CN" altLang="en-US" sz="1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8" name="直接连接符 27"/>
          <p:cNvCxnSpPr/>
          <p:nvPr userDrawn="1"/>
        </p:nvCxnSpPr>
        <p:spPr>
          <a:xfrm>
            <a:off x="4286902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21" name="TextBox 9"/>
          <p:cNvSpPr txBox="1"/>
          <p:nvPr userDrawn="1"/>
        </p:nvSpPr>
        <p:spPr>
          <a:xfrm>
            <a:off x="9499600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研究生计划</a:t>
            </a:r>
            <a:endParaRPr lang="zh-CN" alt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1" name="直接连接符 30"/>
          <p:cNvCxnSpPr/>
          <p:nvPr userDrawn="1"/>
        </p:nvCxnSpPr>
        <p:spPr>
          <a:xfrm>
            <a:off x="9309328" y="285092"/>
            <a:ext cx="0" cy="27397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17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572908"/>
            <a:ext cx="4114800" cy="234498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algn="ctr"/>
            <a:endParaRPr lang="zh-CN" altLang="en-US" dirty="0"/>
          </a:p>
        </p:txBody>
      </p:sp>
      <p:pic>
        <p:nvPicPr>
          <p:cNvPr id="3" name="Picture 2" descr="贝恩三维-STEAM创客教育领导品牌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430" y="16175"/>
            <a:ext cx="2861582" cy="783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13FED-E324-46EB-A0CE-245DBD0BCFF0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572908"/>
            <a:ext cx="4114800" cy="234498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algn="ctr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6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ACF80-1CBA-4673-8A95-71174BF4DE44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572908"/>
            <a:ext cx="4114800" cy="234498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algn="ctr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893EC-4A51-4A66-A41D-93D2FD008B19}" type="datetime1">
              <a:rPr lang="zh-CN" altLang="en-US" smtClean="0"/>
            </a:fld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6EBB307F-9B35-4682-BDAD-5A15872FBB7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572908"/>
            <a:ext cx="4114800" cy="234498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algn="ctr"/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有背景图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C6E2F-C166-4B07-88BE-4130CF44AD46}" type="datetime1">
              <a:rPr lang="zh-CN" altLang="en-US" smtClean="0"/>
            </a:fld>
            <a:endParaRPr lang="zh-CN" altLang="en-US"/>
          </a:p>
        </p:txBody>
      </p:sp>
      <p:sp>
        <p:nvSpPr>
          <p:cNvPr id="16" name="矩形 4"/>
          <p:cNvSpPr/>
          <p:nvPr userDrawn="1"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8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9" name="TextBox 6"/>
          <p:cNvSpPr txBox="1"/>
          <p:nvPr userDrawn="1"/>
        </p:nvSpPr>
        <p:spPr>
          <a:xfrm>
            <a:off x="5989320" y="246380"/>
            <a:ext cx="1651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研究进展与</a:t>
            </a:r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痛点</a:t>
            </a:r>
            <a:endParaRPr lang="zh-CN" altLang="en-US" sz="1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4" name="直接连接符 23"/>
          <p:cNvCxnSpPr/>
          <p:nvPr userDrawn="1"/>
        </p:nvCxnSpPr>
        <p:spPr>
          <a:xfrm>
            <a:off x="5952901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cxnSp>
        <p:nvCxnSpPr>
          <p:cNvPr id="25" name="直接连接符 24"/>
          <p:cNvCxnSpPr/>
          <p:nvPr userDrawn="1"/>
        </p:nvCxnSpPr>
        <p:spPr>
          <a:xfrm>
            <a:off x="7761379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17" name="矩形 16"/>
          <p:cNvSpPr/>
          <p:nvPr userDrawn="1"/>
        </p:nvSpPr>
        <p:spPr>
          <a:xfrm>
            <a:off x="4286902" y="0"/>
            <a:ext cx="1666001" cy="792000"/>
          </a:xfrm>
          <a:prstGeom prst="rect">
            <a:avLst/>
          </a:prstGeom>
          <a:solidFill>
            <a:srgbClr val="003D8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9" name="等腰三角形 28"/>
          <p:cNvSpPr/>
          <p:nvPr userDrawn="1"/>
        </p:nvSpPr>
        <p:spPr>
          <a:xfrm>
            <a:off x="4943904" y="628650"/>
            <a:ext cx="351996" cy="163350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7" name="TextBox 6"/>
          <p:cNvSpPr txBox="1"/>
          <p:nvPr userDrawn="1"/>
        </p:nvSpPr>
        <p:spPr>
          <a:xfrm>
            <a:off x="4391660" y="238760"/>
            <a:ext cx="1450975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研究背景与</a:t>
            </a: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意义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8" name="直接连接符 27"/>
          <p:cNvCxnSpPr/>
          <p:nvPr userDrawn="1"/>
        </p:nvCxnSpPr>
        <p:spPr>
          <a:xfrm>
            <a:off x="4286902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18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572908"/>
            <a:ext cx="4114800" cy="234498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algn="ctr"/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942" y="149777"/>
            <a:ext cx="3666321" cy="490870"/>
          </a:xfrm>
          <a:prstGeom prst="rect">
            <a:avLst/>
          </a:prstGeom>
        </p:spPr>
      </p:pic>
      <p:sp>
        <p:nvSpPr>
          <p:cNvPr id="4" name="TextBox 6"/>
          <p:cNvSpPr txBox="1"/>
          <p:nvPr userDrawn="1"/>
        </p:nvSpPr>
        <p:spPr>
          <a:xfrm>
            <a:off x="8044815" y="246380"/>
            <a:ext cx="1651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p>
            <a:pPr algn="ctr"/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方法与实验</a:t>
            </a:r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方法与实验</a:t>
            </a:r>
            <a:endParaRPr lang="zh-CN" altLang="en-US" sz="1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" name="直接连接符 4"/>
          <p:cNvCxnSpPr/>
          <p:nvPr userDrawn="1"/>
        </p:nvCxnSpPr>
        <p:spPr>
          <a:xfrm>
            <a:off x="9978799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6" name="TextBox 6"/>
          <p:cNvSpPr txBox="1"/>
          <p:nvPr userDrawn="1"/>
        </p:nvSpPr>
        <p:spPr>
          <a:xfrm>
            <a:off x="9979025" y="246380"/>
            <a:ext cx="1685925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p>
            <a:pPr algn="ctr"/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结论与</a:t>
            </a:r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启发</a:t>
            </a:r>
            <a:endParaRPr lang="zh-CN" altLang="en-US" sz="1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C6E2F-C166-4B07-88BE-4130CF44AD46}" type="datetime1">
              <a:rPr lang="zh-CN" altLang="en-US" smtClean="0"/>
            </a:fld>
            <a:endParaRPr lang="zh-CN" altLang="en-US"/>
          </a:p>
        </p:txBody>
      </p:sp>
      <p:sp>
        <p:nvSpPr>
          <p:cNvPr id="16" name="矩形 4"/>
          <p:cNvSpPr/>
          <p:nvPr userDrawn="1"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8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cxnSp>
        <p:nvCxnSpPr>
          <p:cNvPr id="24" name="直接连接符 23"/>
          <p:cNvCxnSpPr/>
          <p:nvPr userDrawn="1"/>
        </p:nvCxnSpPr>
        <p:spPr>
          <a:xfrm>
            <a:off x="5952901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cxnSp>
        <p:nvCxnSpPr>
          <p:cNvPr id="25" name="直接连接符 24"/>
          <p:cNvCxnSpPr/>
          <p:nvPr userDrawn="1"/>
        </p:nvCxnSpPr>
        <p:spPr>
          <a:xfrm>
            <a:off x="7761379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27" name="TextBox 6"/>
          <p:cNvSpPr txBox="1"/>
          <p:nvPr userDrawn="1"/>
        </p:nvSpPr>
        <p:spPr>
          <a:xfrm>
            <a:off x="4391660" y="246380"/>
            <a:ext cx="1450975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研究背景与意义</a:t>
            </a:r>
            <a:endParaRPr lang="zh-CN" altLang="en-US" sz="1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8" name="直接连接符 27"/>
          <p:cNvCxnSpPr/>
          <p:nvPr userDrawn="1"/>
        </p:nvCxnSpPr>
        <p:spPr>
          <a:xfrm>
            <a:off x="4286902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18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572908"/>
            <a:ext cx="4114800" cy="234498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algn="ctr"/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942" y="149777"/>
            <a:ext cx="3666321" cy="490870"/>
          </a:xfrm>
          <a:prstGeom prst="rect">
            <a:avLst/>
          </a:prstGeom>
        </p:spPr>
      </p:pic>
      <p:sp>
        <p:nvSpPr>
          <p:cNvPr id="4" name="TextBox 6"/>
          <p:cNvSpPr txBox="1"/>
          <p:nvPr userDrawn="1"/>
        </p:nvSpPr>
        <p:spPr>
          <a:xfrm>
            <a:off x="8044815" y="246380"/>
            <a:ext cx="1651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p>
            <a:pPr algn="ctr"/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方法与实验</a:t>
            </a:r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方法与实验</a:t>
            </a:r>
            <a:endParaRPr lang="zh-CN" altLang="en-US" sz="1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" name="直接连接符 4"/>
          <p:cNvCxnSpPr/>
          <p:nvPr userDrawn="1"/>
        </p:nvCxnSpPr>
        <p:spPr>
          <a:xfrm>
            <a:off x="9978799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6" name="TextBox 6"/>
          <p:cNvSpPr txBox="1"/>
          <p:nvPr userDrawn="1"/>
        </p:nvSpPr>
        <p:spPr>
          <a:xfrm>
            <a:off x="9979025" y="246380"/>
            <a:ext cx="1685925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p>
            <a:pPr algn="ctr"/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结论与</a:t>
            </a:r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启发</a:t>
            </a:r>
            <a:endParaRPr lang="zh-CN" altLang="en-US" sz="1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6024262" y="0"/>
            <a:ext cx="1666001" cy="792000"/>
          </a:xfrm>
          <a:prstGeom prst="rect">
            <a:avLst/>
          </a:prstGeom>
          <a:solidFill>
            <a:srgbClr val="003D8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8" name="等腰三角形 7"/>
          <p:cNvSpPr/>
          <p:nvPr userDrawn="1"/>
        </p:nvSpPr>
        <p:spPr>
          <a:xfrm>
            <a:off x="6681264" y="628650"/>
            <a:ext cx="351996" cy="163350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/>
          </a:p>
        </p:txBody>
      </p:sp>
      <p:sp>
        <p:nvSpPr>
          <p:cNvPr id="19" name="TextBox 6"/>
          <p:cNvSpPr txBox="1"/>
          <p:nvPr userDrawn="1"/>
        </p:nvSpPr>
        <p:spPr>
          <a:xfrm>
            <a:off x="5989320" y="246380"/>
            <a:ext cx="1651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研究进展与痛点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5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C6E2F-C166-4B07-88BE-4130CF44AD46}" type="datetime1">
              <a:rPr lang="zh-CN" altLang="en-US" smtClean="0"/>
            </a:fld>
            <a:endParaRPr lang="zh-CN" altLang="en-US"/>
          </a:p>
        </p:txBody>
      </p:sp>
      <p:sp>
        <p:nvSpPr>
          <p:cNvPr id="16" name="矩形 4"/>
          <p:cNvSpPr/>
          <p:nvPr userDrawn="1"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8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9" name="TextBox 6"/>
          <p:cNvSpPr txBox="1"/>
          <p:nvPr userDrawn="1"/>
        </p:nvSpPr>
        <p:spPr>
          <a:xfrm>
            <a:off x="5989320" y="246380"/>
            <a:ext cx="1651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研究进展与</a:t>
            </a:r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痛点</a:t>
            </a:r>
            <a:endParaRPr lang="zh-CN" altLang="en-US" sz="1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4" name="直接连接符 23"/>
          <p:cNvCxnSpPr/>
          <p:nvPr userDrawn="1"/>
        </p:nvCxnSpPr>
        <p:spPr>
          <a:xfrm>
            <a:off x="5952901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cxnSp>
        <p:nvCxnSpPr>
          <p:cNvPr id="25" name="直接连接符 24"/>
          <p:cNvCxnSpPr/>
          <p:nvPr userDrawn="1"/>
        </p:nvCxnSpPr>
        <p:spPr>
          <a:xfrm>
            <a:off x="7761379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27" name="TextBox 6"/>
          <p:cNvSpPr txBox="1"/>
          <p:nvPr userDrawn="1"/>
        </p:nvSpPr>
        <p:spPr>
          <a:xfrm>
            <a:off x="4391660" y="246380"/>
            <a:ext cx="1450975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>
              <a:buClrTx/>
              <a:buSzTx/>
              <a:buFontTx/>
            </a:pPr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研究背景与意义</a:t>
            </a:r>
            <a:endParaRPr lang="zh-CN" altLang="en-US" sz="1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8" name="直接连接符 27"/>
          <p:cNvCxnSpPr/>
          <p:nvPr userDrawn="1"/>
        </p:nvCxnSpPr>
        <p:spPr>
          <a:xfrm>
            <a:off x="4286902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18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572908"/>
            <a:ext cx="4114800" cy="234498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algn="ctr"/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942" y="149777"/>
            <a:ext cx="3666321" cy="490870"/>
          </a:xfrm>
          <a:prstGeom prst="rect">
            <a:avLst/>
          </a:prstGeom>
        </p:spPr>
      </p:pic>
      <p:cxnSp>
        <p:nvCxnSpPr>
          <p:cNvPr id="5" name="直接连接符 4"/>
          <p:cNvCxnSpPr/>
          <p:nvPr userDrawn="1"/>
        </p:nvCxnSpPr>
        <p:spPr>
          <a:xfrm>
            <a:off x="9978799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6" name="TextBox 6"/>
          <p:cNvSpPr txBox="1"/>
          <p:nvPr userDrawn="1"/>
        </p:nvSpPr>
        <p:spPr>
          <a:xfrm>
            <a:off x="9979025" y="246380"/>
            <a:ext cx="1685925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p>
            <a:pPr algn="ctr"/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结论与</a:t>
            </a:r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启发</a:t>
            </a:r>
            <a:endParaRPr lang="zh-CN" altLang="en-US" sz="1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044832" y="0"/>
            <a:ext cx="1666001" cy="792000"/>
          </a:xfrm>
          <a:prstGeom prst="rect">
            <a:avLst/>
          </a:prstGeom>
          <a:solidFill>
            <a:srgbClr val="003D8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8" name="等腰三角形 7"/>
          <p:cNvSpPr/>
          <p:nvPr userDrawn="1"/>
        </p:nvSpPr>
        <p:spPr>
          <a:xfrm>
            <a:off x="8701834" y="628650"/>
            <a:ext cx="351996" cy="163350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TextBox 6"/>
          <p:cNvSpPr txBox="1"/>
          <p:nvPr userDrawn="1"/>
        </p:nvSpPr>
        <p:spPr>
          <a:xfrm>
            <a:off x="8044815" y="246380"/>
            <a:ext cx="1651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p>
            <a:pPr algn="ctr">
              <a:buClrTx/>
              <a:buSzTx/>
              <a:buFontTx/>
            </a:pP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方法与实验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6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C6E2F-C166-4B07-88BE-4130CF44AD46}" type="datetime1">
              <a:rPr lang="zh-CN" altLang="en-US" smtClean="0"/>
            </a:fld>
            <a:endParaRPr lang="zh-CN" altLang="en-US"/>
          </a:p>
        </p:txBody>
      </p:sp>
      <p:sp>
        <p:nvSpPr>
          <p:cNvPr id="16" name="矩形 4"/>
          <p:cNvSpPr/>
          <p:nvPr userDrawn="1"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8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9" name="TextBox 6"/>
          <p:cNvSpPr txBox="1"/>
          <p:nvPr userDrawn="1"/>
        </p:nvSpPr>
        <p:spPr>
          <a:xfrm>
            <a:off x="5989320" y="246380"/>
            <a:ext cx="1651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研究进展与</a:t>
            </a:r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痛点</a:t>
            </a:r>
            <a:endParaRPr lang="zh-CN" altLang="en-US" sz="1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4" name="直接连接符 23"/>
          <p:cNvCxnSpPr/>
          <p:nvPr userDrawn="1"/>
        </p:nvCxnSpPr>
        <p:spPr>
          <a:xfrm>
            <a:off x="5952901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cxnSp>
        <p:nvCxnSpPr>
          <p:cNvPr id="25" name="直接连接符 24"/>
          <p:cNvCxnSpPr/>
          <p:nvPr userDrawn="1"/>
        </p:nvCxnSpPr>
        <p:spPr>
          <a:xfrm>
            <a:off x="7761379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27" name="TextBox 6"/>
          <p:cNvSpPr txBox="1"/>
          <p:nvPr userDrawn="1"/>
        </p:nvSpPr>
        <p:spPr>
          <a:xfrm>
            <a:off x="4391660" y="238760"/>
            <a:ext cx="1450975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>
              <a:buClrTx/>
              <a:buSzTx/>
              <a:buFontTx/>
            </a:pPr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研究背景与意义</a:t>
            </a:r>
            <a:endParaRPr lang="zh-CN" altLang="en-US" sz="1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8" name="直接连接符 27"/>
          <p:cNvCxnSpPr/>
          <p:nvPr userDrawn="1"/>
        </p:nvCxnSpPr>
        <p:spPr>
          <a:xfrm>
            <a:off x="4286902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18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572908"/>
            <a:ext cx="4114800" cy="234498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algn="ctr"/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942" y="149777"/>
            <a:ext cx="3666321" cy="490870"/>
          </a:xfrm>
          <a:prstGeom prst="rect">
            <a:avLst/>
          </a:prstGeom>
        </p:spPr>
      </p:pic>
      <p:sp>
        <p:nvSpPr>
          <p:cNvPr id="4" name="TextBox 6"/>
          <p:cNvSpPr txBox="1"/>
          <p:nvPr userDrawn="1"/>
        </p:nvSpPr>
        <p:spPr>
          <a:xfrm>
            <a:off x="8044815" y="246380"/>
            <a:ext cx="1651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p>
            <a:pPr algn="ctr"/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方法与实验</a:t>
            </a:r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方法与实验</a:t>
            </a:r>
            <a:endParaRPr lang="zh-CN" altLang="en-US" sz="1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" name="直接连接符 4"/>
          <p:cNvCxnSpPr/>
          <p:nvPr userDrawn="1"/>
        </p:nvCxnSpPr>
        <p:spPr>
          <a:xfrm>
            <a:off x="9978799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7" name="矩形 6"/>
          <p:cNvSpPr/>
          <p:nvPr userDrawn="1"/>
        </p:nvSpPr>
        <p:spPr>
          <a:xfrm>
            <a:off x="10100310" y="0"/>
            <a:ext cx="1551940" cy="791845"/>
          </a:xfrm>
          <a:prstGeom prst="rect">
            <a:avLst/>
          </a:prstGeom>
          <a:solidFill>
            <a:srgbClr val="003D8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8" name="等腰三角形 7"/>
          <p:cNvSpPr/>
          <p:nvPr userDrawn="1"/>
        </p:nvSpPr>
        <p:spPr>
          <a:xfrm>
            <a:off x="10703989" y="628650"/>
            <a:ext cx="351996" cy="163350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TextBox 6"/>
          <p:cNvSpPr txBox="1"/>
          <p:nvPr userDrawn="1"/>
        </p:nvSpPr>
        <p:spPr>
          <a:xfrm>
            <a:off x="9979025" y="246380"/>
            <a:ext cx="1685925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结论与启发</a:t>
            </a:r>
            <a:endParaRPr lang="zh-CN" altLang="en-US" sz="1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9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DE32B-6F2B-444E-8057-3FEDBC04F142}" type="datetime1">
              <a:rPr lang="zh-CN" altLang="en-US" smtClean="0"/>
            </a:fld>
            <a:endParaRPr lang="zh-CN" altLang="en-US"/>
          </a:p>
        </p:txBody>
      </p:sp>
      <p:sp>
        <p:nvSpPr>
          <p:cNvPr id="16" name="矩形 4"/>
          <p:cNvSpPr/>
          <p:nvPr userDrawn="1"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8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2" name="矩形 21"/>
          <p:cNvSpPr/>
          <p:nvPr userDrawn="1"/>
        </p:nvSpPr>
        <p:spPr>
          <a:xfrm>
            <a:off x="5952900" y="0"/>
            <a:ext cx="1701799" cy="792000"/>
          </a:xfrm>
          <a:prstGeom prst="rect">
            <a:avLst/>
          </a:prstGeom>
          <a:solidFill>
            <a:srgbClr val="003D8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3" name="等腰三角形 22"/>
          <p:cNvSpPr/>
          <p:nvPr userDrawn="1"/>
        </p:nvSpPr>
        <p:spPr>
          <a:xfrm>
            <a:off x="6627801" y="628650"/>
            <a:ext cx="351996" cy="163350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24" name="直接连接符 23"/>
          <p:cNvCxnSpPr/>
          <p:nvPr userDrawn="1"/>
        </p:nvCxnSpPr>
        <p:spPr>
          <a:xfrm>
            <a:off x="5952901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cxnSp>
        <p:nvCxnSpPr>
          <p:cNvPr id="25" name="直接连接符 24"/>
          <p:cNvCxnSpPr/>
          <p:nvPr userDrawn="1"/>
        </p:nvCxnSpPr>
        <p:spPr>
          <a:xfrm>
            <a:off x="7654699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27" name="TextBox 6"/>
          <p:cNvSpPr txBox="1"/>
          <p:nvPr userDrawn="1"/>
        </p:nvSpPr>
        <p:spPr>
          <a:xfrm>
            <a:off x="4430001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科研论文</a:t>
            </a:r>
            <a:endParaRPr lang="zh-CN" altLang="en-US" sz="1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8" name="直接连接符 27"/>
          <p:cNvCxnSpPr/>
          <p:nvPr userDrawn="1"/>
        </p:nvCxnSpPr>
        <p:spPr>
          <a:xfrm>
            <a:off x="4286902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36" name="页脚占位符 2"/>
          <p:cNvSpPr>
            <a:spLocks noGrp="1"/>
          </p:cNvSpPr>
          <p:nvPr userDrawn="1">
            <p:ph type="ftr" sz="quarter" idx="11"/>
          </p:nvPr>
        </p:nvSpPr>
        <p:spPr>
          <a:xfrm>
            <a:off x="4038600" y="6572908"/>
            <a:ext cx="4114800" cy="234498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algn="ctr"/>
            <a:endParaRPr lang="zh-CN" altLang="en-US" dirty="0"/>
          </a:p>
        </p:txBody>
      </p:sp>
      <p:sp>
        <p:nvSpPr>
          <p:cNvPr id="4" name="TextBox 6"/>
          <p:cNvSpPr txBox="1"/>
          <p:nvPr userDrawn="1"/>
        </p:nvSpPr>
        <p:spPr>
          <a:xfrm>
            <a:off x="6096000" y="215903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kern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项目经历</a:t>
            </a:r>
            <a:endParaRPr lang="zh-CN" altLang="en-US" sz="1600" b="1" kern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5" name="直接连接符 4"/>
          <p:cNvCxnSpPr/>
          <p:nvPr userDrawn="1"/>
        </p:nvCxnSpPr>
        <p:spPr>
          <a:xfrm>
            <a:off x="7654699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942" y="149777"/>
            <a:ext cx="3666321" cy="4908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C6E2F-C166-4B07-88BE-4130CF44AD46}" type="datetime1">
              <a:rPr lang="zh-CN" altLang="en-US" smtClean="0"/>
            </a:fld>
            <a:endParaRPr lang="zh-CN" altLang="en-US"/>
          </a:p>
        </p:txBody>
      </p:sp>
      <p:sp>
        <p:nvSpPr>
          <p:cNvPr id="16" name="矩形 4"/>
          <p:cNvSpPr/>
          <p:nvPr userDrawn="1"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8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9" name="TextBox 6"/>
          <p:cNvSpPr txBox="1"/>
          <p:nvPr userDrawn="1"/>
        </p:nvSpPr>
        <p:spPr>
          <a:xfrm>
            <a:off x="6096000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近期学习</a:t>
            </a:r>
            <a:endParaRPr lang="en-US" altLang="zh-CN" sz="1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4" name="直接连接符 23"/>
          <p:cNvCxnSpPr/>
          <p:nvPr userDrawn="1"/>
        </p:nvCxnSpPr>
        <p:spPr>
          <a:xfrm>
            <a:off x="5952901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cxnSp>
        <p:nvCxnSpPr>
          <p:cNvPr id="25" name="直接连接符 24"/>
          <p:cNvCxnSpPr/>
          <p:nvPr userDrawn="1"/>
        </p:nvCxnSpPr>
        <p:spPr>
          <a:xfrm>
            <a:off x="7654699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17" name="矩形 16"/>
          <p:cNvSpPr/>
          <p:nvPr userDrawn="1"/>
        </p:nvSpPr>
        <p:spPr>
          <a:xfrm>
            <a:off x="4286902" y="0"/>
            <a:ext cx="1666001" cy="792000"/>
          </a:xfrm>
          <a:prstGeom prst="rect">
            <a:avLst/>
          </a:prstGeom>
          <a:solidFill>
            <a:srgbClr val="003D8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9" name="等腰三角形 28"/>
          <p:cNvSpPr/>
          <p:nvPr userDrawn="1"/>
        </p:nvSpPr>
        <p:spPr>
          <a:xfrm>
            <a:off x="4943904" y="628650"/>
            <a:ext cx="351996" cy="163350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7" name="TextBox 6"/>
          <p:cNvSpPr txBox="1"/>
          <p:nvPr userDrawn="1"/>
        </p:nvSpPr>
        <p:spPr>
          <a:xfrm>
            <a:off x="4430001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个人介绍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8" name="直接连接符 27"/>
          <p:cNvCxnSpPr/>
          <p:nvPr userDrawn="1"/>
        </p:nvCxnSpPr>
        <p:spPr>
          <a:xfrm>
            <a:off x="4286902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21" name="TextBox 9"/>
          <p:cNvSpPr txBox="1"/>
          <p:nvPr userDrawn="1"/>
        </p:nvSpPr>
        <p:spPr>
          <a:xfrm>
            <a:off x="7822230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marL="0" algn="ctr" defTabSz="914400" rtl="0" eaLnBrk="1" latinLnBrk="0" hangingPunct="1"/>
            <a:r>
              <a:rPr lang="zh-CN" altLang="en-US" sz="1600" b="1" kern="12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未来展望</a:t>
            </a:r>
            <a:endParaRPr lang="zh-CN" altLang="en-US" sz="1600" b="1" kern="1200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31" name="直接连接符 30"/>
          <p:cNvCxnSpPr/>
          <p:nvPr userDrawn="1"/>
        </p:nvCxnSpPr>
        <p:spPr>
          <a:xfrm>
            <a:off x="9309328" y="285092"/>
            <a:ext cx="0" cy="27397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18" name="页脚占位符 2"/>
          <p:cNvSpPr>
            <a:spLocks noGrp="1"/>
          </p:cNvSpPr>
          <p:nvPr userDrawn="1">
            <p:ph type="ftr" sz="quarter" idx="11"/>
          </p:nvPr>
        </p:nvSpPr>
        <p:spPr>
          <a:xfrm>
            <a:off x="4038600" y="6572908"/>
            <a:ext cx="4114800" cy="234498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algn="ctr"/>
            <a:endParaRPr lang="zh-CN" altLang="en-US" dirty="0"/>
          </a:p>
        </p:txBody>
      </p:sp>
      <p:pic>
        <p:nvPicPr>
          <p:cNvPr id="1026" name="Picture 2" descr="贝恩三维-STEAM创客教育领导品牌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430" y="16175"/>
            <a:ext cx="2861582" cy="783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C6E2F-C166-4B07-88BE-4130CF44AD46}" type="datetime1">
              <a:rPr lang="zh-CN" altLang="en-US" smtClean="0"/>
            </a:fld>
            <a:endParaRPr lang="zh-CN" altLang="en-US"/>
          </a:p>
        </p:txBody>
      </p:sp>
      <p:sp>
        <p:nvSpPr>
          <p:cNvPr id="16" name="矩形 4"/>
          <p:cNvSpPr/>
          <p:nvPr userDrawn="1"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8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9" name="TextBox 6"/>
          <p:cNvSpPr txBox="1"/>
          <p:nvPr userDrawn="1"/>
        </p:nvSpPr>
        <p:spPr>
          <a:xfrm>
            <a:off x="6096000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近期学习</a:t>
            </a:r>
            <a:endParaRPr lang="en-US" altLang="zh-CN" sz="1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4" name="直接连接符 23"/>
          <p:cNvCxnSpPr/>
          <p:nvPr userDrawn="1"/>
        </p:nvCxnSpPr>
        <p:spPr>
          <a:xfrm>
            <a:off x="5952901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cxnSp>
        <p:nvCxnSpPr>
          <p:cNvPr id="25" name="直接连接符 24"/>
          <p:cNvCxnSpPr/>
          <p:nvPr userDrawn="1"/>
        </p:nvCxnSpPr>
        <p:spPr>
          <a:xfrm>
            <a:off x="7654699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17" name="矩形 16"/>
          <p:cNvSpPr/>
          <p:nvPr userDrawn="1"/>
        </p:nvSpPr>
        <p:spPr>
          <a:xfrm>
            <a:off x="4286902" y="0"/>
            <a:ext cx="1666001" cy="792000"/>
          </a:xfrm>
          <a:prstGeom prst="rect">
            <a:avLst/>
          </a:prstGeom>
          <a:solidFill>
            <a:srgbClr val="003D8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9" name="等腰三角形 28"/>
          <p:cNvSpPr/>
          <p:nvPr userDrawn="1"/>
        </p:nvSpPr>
        <p:spPr>
          <a:xfrm>
            <a:off x="4943904" y="628650"/>
            <a:ext cx="351996" cy="163350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7" name="TextBox 6"/>
          <p:cNvSpPr txBox="1"/>
          <p:nvPr userDrawn="1"/>
        </p:nvSpPr>
        <p:spPr>
          <a:xfrm>
            <a:off x="4430001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个人介绍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8" name="直接连接符 27"/>
          <p:cNvCxnSpPr/>
          <p:nvPr userDrawn="1"/>
        </p:nvCxnSpPr>
        <p:spPr>
          <a:xfrm>
            <a:off x="4286902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21" name="TextBox 9"/>
          <p:cNvSpPr txBox="1"/>
          <p:nvPr userDrawn="1"/>
        </p:nvSpPr>
        <p:spPr>
          <a:xfrm>
            <a:off x="7822230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marL="0" algn="ctr" defTabSz="914400" rtl="0" eaLnBrk="1" latinLnBrk="0" hangingPunct="1"/>
            <a:r>
              <a:rPr lang="zh-CN" altLang="en-US" sz="1600" b="1" kern="12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未来展望</a:t>
            </a:r>
            <a:endParaRPr lang="zh-CN" altLang="en-US" sz="1600" b="1" kern="1200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31" name="直接连接符 30"/>
          <p:cNvCxnSpPr/>
          <p:nvPr userDrawn="1"/>
        </p:nvCxnSpPr>
        <p:spPr>
          <a:xfrm>
            <a:off x="9309328" y="285092"/>
            <a:ext cx="0" cy="27397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18" name="页脚占位符 2"/>
          <p:cNvSpPr>
            <a:spLocks noGrp="1"/>
          </p:cNvSpPr>
          <p:nvPr userDrawn="1">
            <p:ph type="ftr" sz="quarter" idx="11"/>
          </p:nvPr>
        </p:nvSpPr>
        <p:spPr>
          <a:xfrm>
            <a:off x="4038600" y="6572908"/>
            <a:ext cx="4114800" cy="234498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algn="ctr"/>
            <a:endParaRPr lang="zh-CN" altLang="en-US" dirty="0"/>
          </a:p>
        </p:txBody>
      </p:sp>
      <p:pic>
        <p:nvPicPr>
          <p:cNvPr id="1026" name="Picture 2" descr="贝恩三维-STEAM创客教育领导品牌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430" y="16175"/>
            <a:ext cx="2861582" cy="783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57B21-2C49-445E-9795-D323DB908675}" type="datetime1">
              <a:rPr lang="zh-CN" altLang="en-US" smtClean="0"/>
            </a:fld>
            <a:endParaRPr lang="zh-CN" altLang="en-US"/>
          </a:p>
        </p:txBody>
      </p:sp>
      <p:sp>
        <p:nvSpPr>
          <p:cNvPr id="16" name="矩形 4"/>
          <p:cNvSpPr/>
          <p:nvPr userDrawn="1"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8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2" name="矩形 21"/>
          <p:cNvSpPr/>
          <p:nvPr userDrawn="1"/>
        </p:nvSpPr>
        <p:spPr>
          <a:xfrm>
            <a:off x="5970799" y="0"/>
            <a:ext cx="1666001" cy="792000"/>
          </a:xfrm>
          <a:prstGeom prst="rect">
            <a:avLst/>
          </a:prstGeom>
          <a:solidFill>
            <a:srgbClr val="003D8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3" name="等腰三角形 22"/>
          <p:cNvSpPr/>
          <p:nvPr userDrawn="1"/>
        </p:nvSpPr>
        <p:spPr>
          <a:xfrm>
            <a:off x="6627801" y="628650"/>
            <a:ext cx="351996" cy="163350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9" name="TextBox 6"/>
          <p:cNvSpPr txBox="1"/>
          <p:nvPr userDrawn="1"/>
        </p:nvSpPr>
        <p:spPr>
          <a:xfrm>
            <a:off x="6096000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竞赛经历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TextBox 7"/>
          <p:cNvSpPr txBox="1"/>
          <p:nvPr userDrawn="1"/>
        </p:nvSpPr>
        <p:spPr>
          <a:xfrm>
            <a:off x="7797800" y="215904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科研经历</a:t>
            </a:r>
            <a:endParaRPr lang="zh-CN" altLang="en-US" sz="1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4" name="直接连接符 23"/>
          <p:cNvCxnSpPr/>
          <p:nvPr userDrawn="1"/>
        </p:nvCxnSpPr>
        <p:spPr>
          <a:xfrm>
            <a:off x="5952901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cxnSp>
        <p:nvCxnSpPr>
          <p:cNvPr id="25" name="直接连接符 24"/>
          <p:cNvCxnSpPr/>
          <p:nvPr userDrawn="1"/>
        </p:nvCxnSpPr>
        <p:spPr>
          <a:xfrm>
            <a:off x="7654699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27" name="TextBox 6"/>
          <p:cNvSpPr txBox="1"/>
          <p:nvPr userDrawn="1"/>
        </p:nvSpPr>
        <p:spPr>
          <a:xfrm>
            <a:off x="4430001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个人介绍</a:t>
            </a:r>
            <a:endParaRPr lang="zh-CN" altLang="en-US" sz="1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8" name="直接连接符 27"/>
          <p:cNvCxnSpPr/>
          <p:nvPr userDrawn="1"/>
        </p:nvCxnSpPr>
        <p:spPr>
          <a:xfrm>
            <a:off x="4286902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21" name="TextBox 9"/>
          <p:cNvSpPr txBox="1"/>
          <p:nvPr userDrawn="1"/>
        </p:nvSpPr>
        <p:spPr>
          <a:xfrm>
            <a:off x="9499600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研究生计划</a:t>
            </a:r>
            <a:endParaRPr lang="zh-CN" altLang="en-US" sz="1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1" name="直接连接符 30"/>
          <p:cNvCxnSpPr/>
          <p:nvPr userDrawn="1"/>
        </p:nvCxnSpPr>
        <p:spPr>
          <a:xfrm>
            <a:off x="9309328" y="285092"/>
            <a:ext cx="0" cy="27397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36" name="页脚占位符 2"/>
          <p:cNvSpPr>
            <a:spLocks noGrp="1"/>
          </p:cNvSpPr>
          <p:nvPr userDrawn="1">
            <p:ph type="ftr" sz="quarter" idx="11"/>
          </p:nvPr>
        </p:nvSpPr>
        <p:spPr>
          <a:xfrm>
            <a:off x="4038600" y="6572908"/>
            <a:ext cx="6805000" cy="163350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algn="ctr"/>
            <a:endParaRPr lang="zh-CN" altLang="en-US" dirty="0"/>
          </a:p>
        </p:txBody>
      </p:sp>
      <p:sp>
        <p:nvSpPr>
          <p:cNvPr id="29" name="矩形 28"/>
          <p:cNvSpPr/>
          <p:nvPr/>
        </p:nvSpPr>
        <p:spPr>
          <a:xfrm>
            <a:off x="0" y="795427"/>
            <a:ext cx="1847215" cy="6071463"/>
          </a:xfrm>
          <a:prstGeom prst="rect">
            <a:avLst/>
          </a:prstGeom>
          <a:solidFill>
            <a:srgbClr val="003D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Picture 2" descr="贝恩三维-STEAM创客教育领导品牌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430" y="16175"/>
            <a:ext cx="2861582" cy="783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202" y="5656716"/>
            <a:ext cx="690809" cy="691810"/>
          </a:xfrm>
          <a:prstGeom prst="rect">
            <a:avLst/>
          </a:prstGeom>
        </p:spPr>
      </p:pic>
      <p:sp>
        <p:nvSpPr>
          <p:cNvPr id="10" name="标题 1"/>
          <p:cNvSpPr txBox="1"/>
          <p:nvPr userDrawn="1"/>
        </p:nvSpPr>
        <p:spPr>
          <a:xfrm>
            <a:off x="1847214" y="836678"/>
            <a:ext cx="10344786" cy="74844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/>
        </p:spPr>
        <p:txBody>
          <a:bodyPr wrap="square" lIns="79553" tIns="39776" rIns="79553" bIns="39776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2785" b="1" dirty="0">
                <a:solidFill>
                  <a:srgbClr val="003D8C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</a:rPr>
              <a:t>   基于多目标规划和布谷鸟算法的换电站选址及调度策略</a:t>
            </a:r>
            <a:endParaRPr lang="zh-CN" altLang="en-US" sz="2785" b="1" dirty="0">
              <a:solidFill>
                <a:srgbClr val="003D8C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C6E2F-C166-4B07-88BE-4130CF44AD46}" type="datetime1">
              <a:rPr lang="zh-CN" altLang="en-US" smtClean="0"/>
            </a:fld>
            <a:endParaRPr lang="zh-CN" altLang="en-US"/>
          </a:p>
        </p:txBody>
      </p:sp>
      <p:sp>
        <p:nvSpPr>
          <p:cNvPr id="16" name="矩形 4"/>
          <p:cNvSpPr/>
          <p:nvPr userDrawn="1"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8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9" name="TextBox 6"/>
          <p:cNvSpPr txBox="1"/>
          <p:nvPr userDrawn="1"/>
        </p:nvSpPr>
        <p:spPr>
          <a:xfrm>
            <a:off x="6096000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近期学习</a:t>
            </a:r>
            <a:endParaRPr lang="en-US" altLang="zh-CN" sz="1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4" name="直接连接符 23"/>
          <p:cNvCxnSpPr/>
          <p:nvPr userDrawn="1"/>
        </p:nvCxnSpPr>
        <p:spPr>
          <a:xfrm>
            <a:off x="5952901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cxnSp>
        <p:nvCxnSpPr>
          <p:cNvPr id="25" name="直接连接符 24"/>
          <p:cNvCxnSpPr/>
          <p:nvPr userDrawn="1"/>
        </p:nvCxnSpPr>
        <p:spPr>
          <a:xfrm>
            <a:off x="7654699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17" name="矩形 16"/>
          <p:cNvSpPr/>
          <p:nvPr userDrawn="1"/>
        </p:nvSpPr>
        <p:spPr>
          <a:xfrm>
            <a:off x="4286902" y="0"/>
            <a:ext cx="1666001" cy="792000"/>
          </a:xfrm>
          <a:prstGeom prst="rect">
            <a:avLst/>
          </a:prstGeom>
          <a:solidFill>
            <a:srgbClr val="003D8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9" name="等腰三角形 28"/>
          <p:cNvSpPr/>
          <p:nvPr userDrawn="1"/>
        </p:nvSpPr>
        <p:spPr>
          <a:xfrm>
            <a:off x="4943904" y="628650"/>
            <a:ext cx="351996" cy="163350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7" name="TextBox 6"/>
          <p:cNvSpPr txBox="1"/>
          <p:nvPr userDrawn="1"/>
        </p:nvSpPr>
        <p:spPr>
          <a:xfrm>
            <a:off x="4430001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个人介绍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8" name="直接连接符 27"/>
          <p:cNvCxnSpPr/>
          <p:nvPr userDrawn="1"/>
        </p:nvCxnSpPr>
        <p:spPr>
          <a:xfrm>
            <a:off x="4286902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21" name="TextBox 9"/>
          <p:cNvSpPr txBox="1"/>
          <p:nvPr userDrawn="1"/>
        </p:nvSpPr>
        <p:spPr>
          <a:xfrm>
            <a:off x="7822230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marL="0" algn="ctr" defTabSz="914400" rtl="0" eaLnBrk="1" latinLnBrk="0" hangingPunct="1"/>
            <a:r>
              <a:rPr lang="zh-CN" altLang="en-US" sz="1600" b="1" kern="1200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未来展望</a:t>
            </a:r>
            <a:endParaRPr lang="zh-CN" altLang="en-US" sz="1600" b="1" kern="1200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31" name="直接连接符 30"/>
          <p:cNvCxnSpPr/>
          <p:nvPr userDrawn="1"/>
        </p:nvCxnSpPr>
        <p:spPr>
          <a:xfrm>
            <a:off x="9309328" y="285092"/>
            <a:ext cx="0" cy="27397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18" name="页脚占位符 2"/>
          <p:cNvSpPr>
            <a:spLocks noGrp="1"/>
          </p:cNvSpPr>
          <p:nvPr userDrawn="1">
            <p:ph type="ftr" sz="quarter" idx="11"/>
          </p:nvPr>
        </p:nvSpPr>
        <p:spPr>
          <a:xfrm>
            <a:off x="4038600" y="6572908"/>
            <a:ext cx="4114800" cy="234498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algn="ctr"/>
            <a:endParaRPr lang="zh-CN" altLang="en-US" dirty="0"/>
          </a:p>
        </p:txBody>
      </p:sp>
      <p:pic>
        <p:nvPicPr>
          <p:cNvPr id="1026" name="Picture 2" descr="贝恩三维-STEAM创客教育领导品牌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430" y="16175"/>
            <a:ext cx="2861582" cy="783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64360-6CCE-4D03-99DB-F61F26084D93}" type="datetime1">
              <a:rPr lang="zh-CN" altLang="en-US" smtClean="0"/>
            </a:fld>
            <a:endParaRPr lang="zh-CN" altLang="en-US"/>
          </a:p>
        </p:txBody>
      </p:sp>
      <p:sp>
        <p:nvSpPr>
          <p:cNvPr id="16" name="矩形 4"/>
          <p:cNvSpPr/>
          <p:nvPr userDrawn="1"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8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9" name="TextBox 6"/>
          <p:cNvSpPr txBox="1"/>
          <p:nvPr userDrawn="1"/>
        </p:nvSpPr>
        <p:spPr>
          <a:xfrm>
            <a:off x="6096000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竞赛经历</a:t>
            </a:r>
            <a:endParaRPr lang="zh-CN" altLang="en-US" sz="1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 userDrawn="1"/>
        </p:nvSpPr>
        <p:spPr>
          <a:xfrm>
            <a:off x="7654699" y="0"/>
            <a:ext cx="1666001" cy="792000"/>
          </a:xfrm>
          <a:prstGeom prst="rect">
            <a:avLst/>
          </a:prstGeom>
          <a:solidFill>
            <a:srgbClr val="003D8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3" name="等腰三角形 22"/>
          <p:cNvSpPr/>
          <p:nvPr userDrawn="1"/>
        </p:nvSpPr>
        <p:spPr>
          <a:xfrm>
            <a:off x="8311701" y="628650"/>
            <a:ext cx="351996" cy="163350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TextBox 7"/>
          <p:cNvSpPr txBox="1"/>
          <p:nvPr userDrawn="1"/>
        </p:nvSpPr>
        <p:spPr>
          <a:xfrm>
            <a:off x="7797800" y="215904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科研经历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4" name="直接连接符 23"/>
          <p:cNvCxnSpPr/>
          <p:nvPr userDrawn="1"/>
        </p:nvCxnSpPr>
        <p:spPr>
          <a:xfrm>
            <a:off x="5952901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cxnSp>
        <p:nvCxnSpPr>
          <p:cNvPr id="25" name="直接连接符 24"/>
          <p:cNvCxnSpPr/>
          <p:nvPr userDrawn="1"/>
        </p:nvCxnSpPr>
        <p:spPr>
          <a:xfrm>
            <a:off x="7654699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27" name="TextBox 6"/>
          <p:cNvSpPr txBox="1"/>
          <p:nvPr userDrawn="1"/>
        </p:nvSpPr>
        <p:spPr>
          <a:xfrm>
            <a:off x="4430001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个人介绍</a:t>
            </a:r>
            <a:endParaRPr lang="zh-CN" altLang="en-US" sz="1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8" name="直接连接符 27"/>
          <p:cNvCxnSpPr/>
          <p:nvPr userDrawn="1"/>
        </p:nvCxnSpPr>
        <p:spPr>
          <a:xfrm>
            <a:off x="4286902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21" name="TextBox 9"/>
          <p:cNvSpPr txBox="1"/>
          <p:nvPr userDrawn="1"/>
        </p:nvSpPr>
        <p:spPr>
          <a:xfrm>
            <a:off x="9499600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研究生计划</a:t>
            </a:r>
            <a:endParaRPr lang="zh-CN" altLang="en-US" sz="1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1" name="直接连接符 30"/>
          <p:cNvCxnSpPr/>
          <p:nvPr userDrawn="1"/>
        </p:nvCxnSpPr>
        <p:spPr>
          <a:xfrm>
            <a:off x="9309328" y="285092"/>
            <a:ext cx="0" cy="27397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17" name="页脚占位符 2"/>
          <p:cNvSpPr>
            <a:spLocks noGrp="1"/>
          </p:cNvSpPr>
          <p:nvPr userDrawn="1">
            <p:ph type="ftr" sz="quarter" idx="11"/>
          </p:nvPr>
        </p:nvSpPr>
        <p:spPr>
          <a:xfrm>
            <a:off x="4038600" y="6572908"/>
            <a:ext cx="4114800" cy="234498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algn="ctr"/>
            <a:endParaRPr lang="zh-CN" altLang="en-US" dirty="0"/>
          </a:p>
        </p:txBody>
      </p:sp>
      <p:pic>
        <p:nvPicPr>
          <p:cNvPr id="3" name="Picture 2" descr="贝恩三维-STEAM创客教育领导品牌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430" y="16175"/>
            <a:ext cx="2861582" cy="783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7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64360-6CCE-4D03-99DB-F61F26084D93}" type="datetime1">
              <a:rPr lang="zh-CN" altLang="en-US" smtClean="0"/>
            </a:fld>
            <a:endParaRPr lang="zh-CN" altLang="en-US"/>
          </a:p>
        </p:txBody>
      </p:sp>
      <p:sp>
        <p:nvSpPr>
          <p:cNvPr id="16" name="矩形 4"/>
          <p:cNvSpPr/>
          <p:nvPr userDrawn="1"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8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9" name="TextBox 6"/>
          <p:cNvSpPr txBox="1"/>
          <p:nvPr userDrawn="1"/>
        </p:nvSpPr>
        <p:spPr>
          <a:xfrm>
            <a:off x="6096000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竞赛经历</a:t>
            </a:r>
            <a:endParaRPr lang="zh-CN" altLang="en-US" sz="1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 userDrawn="1"/>
        </p:nvSpPr>
        <p:spPr>
          <a:xfrm>
            <a:off x="7654699" y="0"/>
            <a:ext cx="1666001" cy="792000"/>
          </a:xfrm>
          <a:prstGeom prst="rect">
            <a:avLst/>
          </a:prstGeom>
          <a:solidFill>
            <a:srgbClr val="003D8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3" name="等腰三角形 22"/>
          <p:cNvSpPr/>
          <p:nvPr userDrawn="1"/>
        </p:nvSpPr>
        <p:spPr>
          <a:xfrm>
            <a:off x="8311701" y="628650"/>
            <a:ext cx="351996" cy="163350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TextBox 7"/>
          <p:cNvSpPr txBox="1"/>
          <p:nvPr userDrawn="1"/>
        </p:nvSpPr>
        <p:spPr>
          <a:xfrm>
            <a:off x="7797800" y="215904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科研经历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4" name="直接连接符 23"/>
          <p:cNvCxnSpPr/>
          <p:nvPr userDrawn="1"/>
        </p:nvCxnSpPr>
        <p:spPr>
          <a:xfrm>
            <a:off x="5952901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cxnSp>
        <p:nvCxnSpPr>
          <p:cNvPr id="25" name="直接连接符 24"/>
          <p:cNvCxnSpPr/>
          <p:nvPr userDrawn="1"/>
        </p:nvCxnSpPr>
        <p:spPr>
          <a:xfrm>
            <a:off x="7654699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27" name="TextBox 6"/>
          <p:cNvSpPr txBox="1"/>
          <p:nvPr userDrawn="1"/>
        </p:nvSpPr>
        <p:spPr>
          <a:xfrm>
            <a:off x="4430001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个人介绍</a:t>
            </a:r>
            <a:endParaRPr lang="zh-CN" altLang="en-US" sz="1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8" name="直接连接符 27"/>
          <p:cNvCxnSpPr/>
          <p:nvPr userDrawn="1"/>
        </p:nvCxnSpPr>
        <p:spPr>
          <a:xfrm>
            <a:off x="4286902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21" name="TextBox 9"/>
          <p:cNvSpPr txBox="1"/>
          <p:nvPr userDrawn="1"/>
        </p:nvSpPr>
        <p:spPr>
          <a:xfrm>
            <a:off x="9499600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研究生计划</a:t>
            </a:r>
            <a:endParaRPr lang="zh-CN" altLang="en-US" sz="1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1" name="直接连接符 30"/>
          <p:cNvCxnSpPr/>
          <p:nvPr userDrawn="1"/>
        </p:nvCxnSpPr>
        <p:spPr>
          <a:xfrm>
            <a:off x="9309328" y="285092"/>
            <a:ext cx="0" cy="27397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17" name="页脚占位符 2"/>
          <p:cNvSpPr>
            <a:spLocks noGrp="1"/>
          </p:cNvSpPr>
          <p:nvPr userDrawn="1">
            <p:ph type="ftr" sz="quarter" idx="11"/>
          </p:nvPr>
        </p:nvSpPr>
        <p:spPr>
          <a:xfrm>
            <a:off x="4038600" y="6572908"/>
            <a:ext cx="4114800" cy="234498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algn="ctr"/>
            <a:endParaRPr lang="zh-CN" altLang="en-US" dirty="0"/>
          </a:p>
        </p:txBody>
      </p:sp>
      <p:pic>
        <p:nvPicPr>
          <p:cNvPr id="3" name="Picture 2" descr="贝恩三维-STEAM创客教育领导品牌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430" y="16175"/>
            <a:ext cx="2861582" cy="783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日期占位符 1"/>
          <p:cNvSpPr txBox="1"/>
          <p:nvPr userDrawn="1"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4757B21-2C49-445E-9795-D323DB908675}" type="datetime1">
              <a:rPr lang="zh-CN" altLang="en-US" smtClean="0"/>
            </a:fld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0" y="795427"/>
            <a:ext cx="1847215" cy="6071463"/>
          </a:xfrm>
          <a:prstGeom prst="rect">
            <a:avLst/>
          </a:prstGeom>
          <a:solidFill>
            <a:srgbClr val="003D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202" y="5656716"/>
            <a:ext cx="690809" cy="691810"/>
          </a:xfrm>
          <a:prstGeom prst="rect">
            <a:avLst/>
          </a:prstGeom>
        </p:spPr>
      </p:pic>
      <p:sp>
        <p:nvSpPr>
          <p:cNvPr id="7" name="标题 1"/>
          <p:cNvSpPr txBox="1"/>
          <p:nvPr userDrawn="1"/>
        </p:nvSpPr>
        <p:spPr>
          <a:xfrm>
            <a:off x="1847214" y="836678"/>
            <a:ext cx="10344786" cy="74844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/>
        </p:spPr>
        <p:txBody>
          <a:bodyPr wrap="square" lIns="79553" tIns="39776" rIns="79553" bIns="39776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2785" b="1" dirty="0">
                <a:solidFill>
                  <a:srgbClr val="003D8C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</a:rPr>
              <a:t>   基于多目标规划和布谷鸟算法的换电站选址及调度策略</a:t>
            </a:r>
            <a:endParaRPr lang="zh-CN" altLang="en-US" sz="2785" b="1" dirty="0">
              <a:solidFill>
                <a:srgbClr val="003D8C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8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B64360-6CCE-4D03-99DB-F61F26084D93}" type="datetime1">
              <a:rPr lang="zh-CN" altLang="en-US" smtClean="0"/>
            </a:fld>
            <a:endParaRPr lang="zh-CN" altLang="en-US"/>
          </a:p>
        </p:txBody>
      </p:sp>
      <p:sp>
        <p:nvSpPr>
          <p:cNvPr id="16" name="矩形 4"/>
          <p:cNvSpPr/>
          <p:nvPr userDrawn="1"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8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9" name="TextBox 6"/>
          <p:cNvSpPr txBox="1"/>
          <p:nvPr userDrawn="1"/>
        </p:nvSpPr>
        <p:spPr>
          <a:xfrm>
            <a:off x="6096000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竞赛经历</a:t>
            </a:r>
            <a:endParaRPr lang="zh-CN" altLang="en-US" sz="1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 userDrawn="1"/>
        </p:nvSpPr>
        <p:spPr>
          <a:xfrm>
            <a:off x="7654699" y="0"/>
            <a:ext cx="1666001" cy="792000"/>
          </a:xfrm>
          <a:prstGeom prst="rect">
            <a:avLst/>
          </a:prstGeom>
          <a:solidFill>
            <a:srgbClr val="003D8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3" name="等腰三角形 22"/>
          <p:cNvSpPr/>
          <p:nvPr userDrawn="1"/>
        </p:nvSpPr>
        <p:spPr>
          <a:xfrm>
            <a:off x="8311701" y="628650"/>
            <a:ext cx="351996" cy="163350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TextBox 7"/>
          <p:cNvSpPr txBox="1"/>
          <p:nvPr userDrawn="1"/>
        </p:nvSpPr>
        <p:spPr>
          <a:xfrm>
            <a:off x="7797800" y="215904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科研经历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4" name="直接连接符 23"/>
          <p:cNvCxnSpPr/>
          <p:nvPr userDrawn="1"/>
        </p:nvCxnSpPr>
        <p:spPr>
          <a:xfrm>
            <a:off x="5952901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cxnSp>
        <p:nvCxnSpPr>
          <p:cNvPr id="25" name="直接连接符 24"/>
          <p:cNvCxnSpPr/>
          <p:nvPr userDrawn="1"/>
        </p:nvCxnSpPr>
        <p:spPr>
          <a:xfrm>
            <a:off x="7654699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27" name="TextBox 6"/>
          <p:cNvSpPr txBox="1"/>
          <p:nvPr userDrawn="1"/>
        </p:nvSpPr>
        <p:spPr>
          <a:xfrm>
            <a:off x="4430001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个人介绍</a:t>
            </a:r>
            <a:endParaRPr lang="zh-CN" altLang="en-US" sz="1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8" name="直接连接符 27"/>
          <p:cNvCxnSpPr/>
          <p:nvPr userDrawn="1"/>
        </p:nvCxnSpPr>
        <p:spPr>
          <a:xfrm>
            <a:off x="4286902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21" name="TextBox 9"/>
          <p:cNvSpPr txBox="1"/>
          <p:nvPr userDrawn="1"/>
        </p:nvSpPr>
        <p:spPr>
          <a:xfrm>
            <a:off x="9499600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研究生计划</a:t>
            </a:r>
            <a:endParaRPr lang="zh-CN" altLang="en-US" sz="1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1" name="直接连接符 30"/>
          <p:cNvCxnSpPr/>
          <p:nvPr userDrawn="1"/>
        </p:nvCxnSpPr>
        <p:spPr>
          <a:xfrm>
            <a:off x="9309328" y="285092"/>
            <a:ext cx="0" cy="27397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17" name="页脚占位符 2"/>
          <p:cNvSpPr>
            <a:spLocks noGrp="1"/>
          </p:cNvSpPr>
          <p:nvPr userDrawn="1">
            <p:ph type="ftr" sz="quarter" idx="11"/>
          </p:nvPr>
        </p:nvSpPr>
        <p:spPr>
          <a:xfrm>
            <a:off x="4038600" y="6572908"/>
            <a:ext cx="4114800" cy="234498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algn="ctr"/>
            <a:endParaRPr lang="zh-CN" altLang="en-US" dirty="0"/>
          </a:p>
        </p:txBody>
      </p:sp>
      <p:pic>
        <p:nvPicPr>
          <p:cNvPr id="3" name="Picture 2" descr="贝恩三维-STEAM创客教育领导品牌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430" y="16175"/>
            <a:ext cx="2861582" cy="783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日期占位符 1"/>
          <p:cNvSpPr txBox="1"/>
          <p:nvPr userDrawn="1"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4757B21-2C49-445E-9795-D323DB908675}" type="datetime1">
              <a:rPr lang="zh-CN" altLang="en-US" smtClean="0"/>
            </a:fld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0" y="795427"/>
            <a:ext cx="1847215" cy="6071463"/>
          </a:xfrm>
          <a:prstGeom prst="rect">
            <a:avLst/>
          </a:prstGeom>
          <a:solidFill>
            <a:srgbClr val="003D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202" y="5656716"/>
            <a:ext cx="690809" cy="691810"/>
          </a:xfrm>
          <a:prstGeom prst="rect">
            <a:avLst/>
          </a:prstGeom>
        </p:spPr>
      </p:pic>
      <p:sp>
        <p:nvSpPr>
          <p:cNvPr id="7" name="标题 1"/>
          <p:cNvSpPr txBox="1"/>
          <p:nvPr userDrawn="1"/>
        </p:nvSpPr>
        <p:spPr>
          <a:xfrm>
            <a:off x="1847214" y="836678"/>
            <a:ext cx="10344786" cy="74844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/>
        </p:spPr>
        <p:txBody>
          <a:bodyPr wrap="square" lIns="79553" tIns="39776" rIns="79553" bIns="39776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785" b="1" dirty="0">
                <a:solidFill>
                  <a:srgbClr val="003D8C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</a:rPr>
              <a:t>   </a:t>
            </a:r>
            <a:r>
              <a:rPr lang="en-US" altLang="zh-CN" sz="2785" b="1" dirty="0">
                <a:solidFill>
                  <a:srgbClr val="003D8C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</a:rPr>
              <a:t>Grasping ecology with one hand and economy with the other</a:t>
            </a:r>
            <a:endParaRPr lang="zh-CN" altLang="en-US" sz="2785" b="1" dirty="0">
              <a:solidFill>
                <a:srgbClr val="003D8C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endParaRPr lang="zh-CN" altLang="en-US" sz="2785" b="1" dirty="0">
              <a:solidFill>
                <a:srgbClr val="003D8C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0D6E8-72C1-4297-8423-D9E4388BE142}" type="datetime1">
              <a:rPr lang="zh-CN" altLang="en-US" smtClean="0"/>
            </a:fld>
            <a:endParaRPr lang="zh-CN" altLang="en-US"/>
          </a:p>
        </p:txBody>
      </p:sp>
      <p:sp>
        <p:nvSpPr>
          <p:cNvPr id="16" name="矩形 4"/>
          <p:cNvSpPr/>
          <p:nvPr userDrawn="1"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8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7" name="TextBox 6"/>
          <p:cNvSpPr txBox="1"/>
          <p:nvPr userDrawn="1"/>
        </p:nvSpPr>
        <p:spPr>
          <a:xfrm>
            <a:off x="4430001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个人介绍</a:t>
            </a:r>
            <a:endParaRPr lang="zh-CN" altLang="en-US" sz="1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8" name="直接连接符 27"/>
          <p:cNvCxnSpPr/>
          <p:nvPr userDrawn="1"/>
        </p:nvCxnSpPr>
        <p:spPr>
          <a:xfrm>
            <a:off x="4286902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17" name="页脚占位符 2"/>
          <p:cNvSpPr>
            <a:spLocks noGrp="1"/>
          </p:cNvSpPr>
          <p:nvPr userDrawn="1">
            <p:ph type="ftr" sz="quarter" idx="11"/>
          </p:nvPr>
        </p:nvSpPr>
        <p:spPr>
          <a:xfrm>
            <a:off x="4038600" y="6572908"/>
            <a:ext cx="4114800" cy="234498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algn="ctr"/>
            <a:endParaRPr lang="zh-CN" altLang="en-US" dirty="0"/>
          </a:p>
        </p:txBody>
      </p:sp>
      <p:pic>
        <p:nvPicPr>
          <p:cNvPr id="3" name="Picture 2" descr="贝恩三维-STEAM创客教育领导品牌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430" y="16175"/>
            <a:ext cx="2861582" cy="783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6"/>
          <p:cNvSpPr txBox="1"/>
          <p:nvPr userDrawn="1"/>
        </p:nvSpPr>
        <p:spPr>
          <a:xfrm>
            <a:off x="6096000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科研竞赛经历</a:t>
            </a:r>
            <a:endParaRPr lang="en-US" altLang="zh-CN" sz="1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" name="直接连接符 4"/>
          <p:cNvCxnSpPr/>
          <p:nvPr userDrawn="1"/>
        </p:nvCxnSpPr>
        <p:spPr>
          <a:xfrm>
            <a:off x="7654699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8" name="矩形 7"/>
          <p:cNvSpPr/>
          <p:nvPr userDrawn="1"/>
        </p:nvSpPr>
        <p:spPr>
          <a:xfrm>
            <a:off x="7654699" y="0"/>
            <a:ext cx="1666001" cy="792000"/>
          </a:xfrm>
          <a:prstGeom prst="rect">
            <a:avLst/>
          </a:prstGeom>
          <a:solidFill>
            <a:srgbClr val="003D8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" name="TextBox 9"/>
          <p:cNvSpPr txBox="1"/>
          <p:nvPr userDrawn="1"/>
        </p:nvSpPr>
        <p:spPr>
          <a:xfrm>
            <a:off x="7822230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marL="0" algn="ctr" defTabSz="914400" rtl="0" eaLnBrk="1" latinLnBrk="0" hangingPunct="1"/>
            <a:r>
              <a:rPr lang="zh-CN" altLang="en-US" sz="1600" b="1" kern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未来展望</a:t>
            </a:r>
            <a:endParaRPr lang="zh-CN" altLang="en-US" sz="1600" b="1" kern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等腰三角形 8"/>
          <p:cNvSpPr/>
          <p:nvPr userDrawn="1"/>
        </p:nvSpPr>
        <p:spPr>
          <a:xfrm>
            <a:off x="8311701" y="628650"/>
            <a:ext cx="351996" cy="163350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7654699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cxnSp>
        <p:nvCxnSpPr>
          <p:cNvPr id="12" name="直接连接符 11"/>
          <p:cNvCxnSpPr/>
          <p:nvPr userDrawn="1"/>
        </p:nvCxnSpPr>
        <p:spPr>
          <a:xfrm>
            <a:off x="9309328" y="285092"/>
            <a:ext cx="0" cy="27397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0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0D6E8-72C1-4297-8423-D9E4388BE142}" type="datetime1">
              <a:rPr lang="zh-CN" altLang="en-US" smtClean="0"/>
            </a:fld>
            <a:endParaRPr lang="zh-CN" altLang="en-US"/>
          </a:p>
        </p:txBody>
      </p:sp>
      <p:sp>
        <p:nvSpPr>
          <p:cNvPr id="16" name="矩形 4"/>
          <p:cNvSpPr/>
          <p:nvPr userDrawn="1"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8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9" name="TextBox 6"/>
          <p:cNvSpPr txBox="1"/>
          <p:nvPr userDrawn="1"/>
        </p:nvSpPr>
        <p:spPr>
          <a:xfrm>
            <a:off x="6096000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竞赛经历</a:t>
            </a:r>
            <a:endParaRPr lang="zh-CN" altLang="en-US" sz="1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TextBox 7"/>
          <p:cNvSpPr txBox="1"/>
          <p:nvPr userDrawn="1"/>
        </p:nvSpPr>
        <p:spPr>
          <a:xfrm>
            <a:off x="7797800" y="215904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科研经历</a:t>
            </a:r>
            <a:endParaRPr lang="zh-CN" altLang="en-US" sz="1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4" name="直接连接符 23"/>
          <p:cNvCxnSpPr/>
          <p:nvPr userDrawn="1"/>
        </p:nvCxnSpPr>
        <p:spPr>
          <a:xfrm>
            <a:off x="5952901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cxnSp>
        <p:nvCxnSpPr>
          <p:cNvPr id="25" name="直接连接符 24"/>
          <p:cNvCxnSpPr/>
          <p:nvPr userDrawn="1"/>
        </p:nvCxnSpPr>
        <p:spPr>
          <a:xfrm>
            <a:off x="7654699" y="285092"/>
            <a:ext cx="0" cy="27397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27" name="TextBox 6"/>
          <p:cNvSpPr txBox="1"/>
          <p:nvPr userDrawn="1"/>
        </p:nvSpPr>
        <p:spPr>
          <a:xfrm>
            <a:off x="4430001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prstClr val="black">
                    <a:lumMod val="65000"/>
                    <a:lumOff val="3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个人介绍</a:t>
            </a:r>
            <a:endParaRPr lang="zh-CN" altLang="en-US" sz="1600" b="1" dirty="0">
              <a:solidFill>
                <a:prstClr val="black">
                  <a:lumMod val="65000"/>
                  <a:lumOff val="3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8" name="直接连接符 27"/>
          <p:cNvCxnSpPr/>
          <p:nvPr userDrawn="1"/>
        </p:nvCxnSpPr>
        <p:spPr>
          <a:xfrm>
            <a:off x="4286902" y="285092"/>
            <a:ext cx="0" cy="245816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21" name="TextBox 9"/>
          <p:cNvSpPr txBox="1"/>
          <p:nvPr userDrawn="1"/>
        </p:nvSpPr>
        <p:spPr>
          <a:xfrm>
            <a:off x="9499600" y="215903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研究生计划</a:t>
            </a:r>
            <a:endParaRPr lang="zh-CN" alt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1" name="直接连接符 30"/>
          <p:cNvCxnSpPr/>
          <p:nvPr userDrawn="1"/>
        </p:nvCxnSpPr>
        <p:spPr>
          <a:xfrm>
            <a:off x="9309328" y="285092"/>
            <a:ext cx="0" cy="27397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</p:cxnSp>
      <p:sp>
        <p:nvSpPr>
          <p:cNvPr id="17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572908"/>
            <a:ext cx="4114800" cy="234498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algn="ctr"/>
            <a:endParaRPr lang="zh-CN" altLang="en-US" dirty="0"/>
          </a:p>
        </p:txBody>
      </p:sp>
      <p:pic>
        <p:nvPicPr>
          <p:cNvPr id="3" name="Picture 2" descr="贝恩三维-STEAM创客教育领导品牌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430" y="16175"/>
            <a:ext cx="2861582" cy="783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13FED-E324-46EB-A0CE-245DBD0BCFF0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572908"/>
            <a:ext cx="4114800" cy="234498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algn="ctr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6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ACF80-1CBA-4673-8A95-71174BF4DE44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572908"/>
            <a:ext cx="4114800" cy="234498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algn="ctr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893EC-4A51-4A66-A41D-93D2FD008B19}" type="datetime1">
              <a:rPr lang="zh-CN" altLang="en-US" smtClean="0"/>
            </a:fld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6EBB307F-9B35-4682-BDAD-5A15872FBB74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572908"/>
            <a:ext cx="4114800" cy="234498"/>
          </a:xfrm>
          <a:prstGeom prst="rect">
            <a:avLst/>
          </a:prstGeom>
        </p:spPr>
        <p:txBody>
          <a:bodyPr/>
          <a:lstStyle>
            <a:lvl1pPr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algn="ctr"/>
            <a:endParaRPr lang="zh-CN" altLang="en-US" dirty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有背景图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2.xml"/><Relationship Id="rId3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5.xml"/><Relationship Id="rId6" Type="http://schemas.openxmlformats.org/officeDocument/2006/relationships/slideLayout" Target="../slideLayouts/slideLayout26.xml"/><Relationship Id="rId7" Type="http://schemas.openxmlformats.org/officeDocument/2006/relationships/slideLayout" Target="../slideLayouts/slideLayout27.xml"/><Relationship Id="rId8" Type="http://schemas.openxmlformats.org/officeDocument/2006/relationships/slideLayout" Target="../slideLayouts/slideLayout28.xml"/><Relationship Id="rId9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3.xml"/><Relationship Id="rId1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35.xml"/><Relationship Id="rId1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37.xml"/><Relationship Id="rId1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39.xml"/><Relationship Id="rId20" Type="http://schemas.openxmlformats.org/officeDocument/2006/relationships/slideLayout" Target="../slideLayouts/slideLayout40.xml"/><Relationship Id="rId21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3EDC5C-1D11-4CBB-8805-F7690F828FF5}" type="datetime1">
              <a:rPr lang="zh-CN" altLang="en-US" smtClean="0"/>
            </a:fld>
            <a:endParaRPr lang="zh-CN" altLang="en-US"/>
          </a:p>
        </p:txBody>
      </p:sp>
      <p:sp>
        <p:nvSpPr>
          <p:cNvPr id="9" name="页脚占位符 2"/>
          <p:cNvSpPr>
            <a:spLocks noGrp="1"/>
          </p:cNvSpPr>
          <p:nvPr>
            <p:ph type="ftr" sz="quarter" idx="3"/>
          </p:nvPr>
        </p:nvSpPr>
        <p:spPr>
          <a:xfrm>
            <a:off x="4038600" y="6486977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algn="ctr"/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11526520" y="6356350"/>
            <a:ext cx="6654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E805D2-31CC-4E98-BE31-AA1DAACD642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3EDC5C-1D11-4CBB-8805-F7690F828FF5}" type="datetime1">
              <a:rPr lang="zh-CN" altLang="en-US" smtClean="0"/>
            </a:fld>
            <a:endParaRPr lang="zh-CN" altLang="en-US"/>
          </a:p>
        </p:txBody>
      </p:sp>
      <p:sp>
        <p:nvSpPr>
          <p:cNvPr id="9" name="页脚占位符 2"/>
          <p:cNvSpPr>
            <a:spLocks noGrp="1"/>
          </p:cNvSpPr>
          <p:nvPr>
            <p:ph type="ftr" sz="quarter" idx="3"/>
          </p:nvPr>
        </p:nvSpPr>
        <p:spPr>
          <a:xfrm>
            <a:off x="4038600" y="6486977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pPr algn="ctr"/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11526520" y="6356350"/>
            <a:ext cx="6654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E805D2-31CC-4E98-BE31-AA1DAACD642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  <p:sldLayoutId id="2147483687" r:id="rId18"/>
    <p:sldLayoutId id="2147483688" r:id="rId19"/>
    <p:sldLayoutId id="2147483689" r:id="rId2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9.xml"/><Relationship Id="rId3" Type="http://schemas.openxmlformats.org/officeDocument/2006/relationships/notesSlide" Target="../notesSlides/notesSlide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2839" y="340021"/>
            <a:ext cx="3666321" cy="490870"/>
          </a:xfrm>
          <a:prstGeom prst="rect">
            <a:avLst/>
          </a:prstGeom>
        </p:spPr>
      </p:pic>
      <p:grpSp>
        <p:nvGrpSpPr>
          <p:cNvPr id="15" name="组合 14"/>
          <p:cNvGrpSpPr/>
          <p:nvPr/>
        </p:nvGrpSpPr>
        <p:grpSpPr>
          <a:xfrm>
            <a:off x="0" y="1097949"/>
            <a:ext cx="12192000" cy="5541547"/>
            <a:chOff x="0" y="1097949"/>
            <a:chExt cx="9144000" cy="5541547"/>
          </a:xfrm>
        </p:grpSpPr>
        <p:sp>
          <p:nvSpPr>
            <p:cNvPr id="11" name="矩形 10"/>
            <p:cNvSpPr/>
            <p:nvPr/>
          </p:nvSpPr>
          <p:spPr>
            <a:xfrm>
              <a:off x="0" y="6271196"/>
              <a:ext cx="9144000" cy="368300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>
                <a:spcBef>
                  <a:spcPct val="20000"/>
                </a:spcBef>
                <a:buClr>
                  <a:srgbClr val="0000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b="1" kern="0" spc="600" dirty="0">
                  <a:solidFill>
                    <a:srgbClr val="00206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2026.9.19</a:t>
              </a:r>
              <a:endParaRPr lang="en-US" altLang="zh-CN" sz="1600" b="1" kern="0" spc="600" dirty="0">
                <a:solidFill>
                  <a:srgbClr val="002060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cxnSp>
          <p:nvCxnSpPr>
            <p:cNvPr id="12" name="直接连接符 11"/>
            <p:cNvCxnSpPr/>
            <p:nvPr/>
          </p:nvCxnSpPr>
          <p:spPr bwMode="auto">
            <a:xfrm flipV="1">
              <a:off x="267727" y="1097949"/>
              <a:ext cx="8608541" cy="2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070C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cxnSp>
          <p:nvCxnSpPr>
            <p:cNvPr id="13" name="直接连接符 12"/>
            <p:cNvCxnSpPr/>
            <p:nvPr/>
          </p:nvCxnSpPr>
          <p:spPr bwMode="auto">
            <a:xfrm flipV="1">
              <a:off x="267726" y="4280237"/>
              <a:ext cx="8608541" cy="2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0070C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</p:cxnSp>
        <p:sp>
          <p:nvSpPr>
            <p:cNvPr id="14" name="矩形 13"/>
            <p:cNvSpPr/>
            <p:nvPr/>
          </p:nvSpPr>
          <p:spPr>
            <a:xfrm>
              <a:off x="267726" y="4883800"/>
              <a:ext cx="8608541" cy="460375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algn="ctr">
                <a:spcBef>
                  <a:spcPct val="20000"/>
                </a:spcBef>
                <a:buClr>
                  <a:srgbClr val="000000"/>
                </a:buClr>
                <a:buFont typeface="Wingdings" panose="05000000000000000000" pitchFamily="2" charset="2"/>
                <a:buNone/>
                <a:defRPr/>
              </a:pPr>
              <a:r>
                <a:rPr lang="zh-CN" altLang="en-US" sz="2400" b="1" kern="0" dirty="0">
                  <a:solidFill>
                    <a:srgbClr val="00206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汇报人：</a:t>
              </a:r>
              <a:r>
                <a:rPr lang="en-US" altLang="zh-CN" sz="2400" b="1" kern="0" dirty="0">
                  <a:solidFill>
                    <a:srgbClr val="00206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	</a:t>
              </a:r>
              <a:r>
                <a:rPr lang="zh-CN" altLang="en-US" sz="2400" b="1" kern="0" dirty="0">
                  <a:solidFill>
                    <a:srgbClr val="00206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刘</a:t>
              </a:r>
              <a:r>
                <a:rPr lang="zh-CN" altLang="en-US" sz="2400" b="1" kern="0" dirty="0">
                  <a:solidFill>
                    <a:srgbClr val="00206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睿涵</a:t>
              </a:r>
              <a:endParaRPr lang="zh-CN" altLang="en-US" sz="2400" b="1" kern="0" dirty="0">
                <a:solidFill>
                  <a:srgbClr val="002060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5970" y="1520190"/>
            <a:ext cx="8437880" cy="98107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352675" y="2923540"/>
            <a:ext cx="915987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/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-apple-system"/>
                <a:ea typeface="-apple-system"/>
                <a:sym typeface="+mn-ea"/>
              </a:rPr>
              <a:t>通过深度强化学习在复杂网络中寻找关键参与者</a:t>
            </a:r>
            <a:endParaRPr lang="zh-CN" altLang="en-US" sz="2400" b="1" dirty="0" smtClean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-apple-system"/>
              <a:ea typeface="-apple-system"/>
              <a:sym typeface="+mn-e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352675" y="3480000"/>
            <a:ext cx="8300000" cy="4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0" dirty="0" smtClean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-apple-system"/>
                <a:ea typeface="-apple-system"/>
                <a:sym typeface="+mn-ea"/>
              </a:rPr>
              <a:t>汇报人：刘睿涵　｜　week2 论文精读与复现进展　｜　2026.09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矩形 11"/>
          <p:cNvSpPr/>
          <p:nvPr/>
        </p:nvSpPr>
        <p:spPr>
          <a:xfrm>
            <a:off x="182880" y="1005840"/>
            <a:ext cx="3360420" cy="363855"/>
          </a:xfrm>
          <a:prstGeom prst="rect">
            <a:avLst/>
          </a:prstGeom>
          <a:noFill/>
          <a:ln w="28575">
            <a:solidFill>
              <a:schemeClr val="accent3">
                <a:lumMod val="75000"/>
              </a:schemeClr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3">
                    <a:lumMod val="75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91440" y="914400"/>
            <a:ext cx="3634739" cy="3860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>
                <a:solidFill>
                  <a:srgbClr val="FF0000"/>
                </a:solidFill>
                <a:latin typeface="ui-sans-serif"/>
                <a:ea typeface="ui-sans-serif"/>
                <a:sym typeface="+mn-ea"/>
              </a:rPr>
              <a:t>Q1：这篇论文要解决什么问题？</a:t>
            </a:r>
            <a:endParaRPr lang="zh-CN" altLang="en-US" sz="1600" b="1">
              <a:solidFill>
                <a:srgbClr val="0D0D0D"/>
              </a:solidFill>
              <a:latin typeface="ui-sans-serif"/>
              <a:ea typeface="ui-sans-serif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82880" y="1371600"/>
            <a:ext cx="1152144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algn="l">
              <a:buClrTx/>
              <a:buSzTx/>
              <a:buFont typeface="Arial" panose="020B0604020202020204"/>
            </a:pPr>
            <a:r>
              <a:rPr lang="zh-CN" altLang="en-US" b="1">
                <a:solidFill>
                  <a:schemeClr val="accent3">
                    <a:lumMod val="75000"/>
                  </a:schemeClr>
                </a:solidFill>
                <a:latin typeface="ui-sans-serif"/>
                <a:ea typeface="ui-sans-serif"/>
                <a:sym typeface="+mn-ea"/>
              </a:rPr>
              <a:t>一、问题定义</a:t>
            </a:r>
            <a:endParaRPr lang="zh-CN" altLang="en-US" b="1">
              <a:solidFill>
                <a:schemeClr val="accent3">
                  <a:lumMod val="75000"/>
                </a:schemeClr>
              </a:solidFill>
              <a:latin typeface="ui-sans-serif"/>
              <a:ea typeface="ui-sans-serif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28600" y="1828800"/>
            <a:ext cx="5486400" cy="402336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 sz="1300" b="1" i="0">
                <a:solidFill>
                  <a:schemeClr val="accent3">
                    <a:lumMod val="75000"/>
                  </a:schemeClr>
                </a:solidFill>
                <a:latin typeface="ui-sans-serif"/>
                <a:ea typeface="ui-sans-serif"/>
              </a:rPr>
              <a:t>• 输入 / 输出：输入一张网络 G = (V, E)（节点可带权重，即删除代价），输出一个节点移除序列 (v₁, v₂, …, v_N)；逐个删点，目标是让残余网络尽快碎掉</a:t>
            </a:r>
            <a:endParaRPr lang="zh-CN" altLang="en-US" sz="1300" b="1" i="0">
              <a:solidFill>
                <a:schemeClr val="accent3">
                  <a:lumMod val="75000"/>
                </a:schemeClr>
              </a:solidFill>
              <a:latin typeface="ui-sans-serif"/>
              <a:ea typeface="ui-sans-serif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 sz="1300" b="1" i="0">
                <a:solidFill>
                  <a:schemeClr val="accent3">
                    <a:lumMod val="75000"/>
                  </a:schemeClr>
                </a:solidFill>
                <a:latin typeface="ui-sans-serif"/>
                <a:ea typeface="ui-sans-serif"/>
              </a:rPr>
              <a:t>• 目标函数：最小化累积归一化连通性 ANC —— R = (1/N)·Σ_{k=1..N} σ(G∖{v₁,…,v_k}) / σ(G)，等价于最小化 ANC 曲线下的面积（式 1；节点带权版本见式 2）</a:t>
            </a:r>
            <a:endParaRPr lang="zh-CN" altLang="en-US" sz="1300" b="1" i="0">
              <a:solidFill>
                <a:schemeClr val="accent3">
                  <a:lumMod val="75000"/>
                </a:schemeClr>
              </a:solidFill>
              <a:latin typeface="ui-sans-serif"/>
              <a:ea typeface="ui-sans-serif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 sz="1300" b="1" i="0">
                <a:solidFill>
                  <a:schemeClr val="accent3">
                    <a:lumMod val="75000"/>
                  </a:schemeClr>
                </a:solidFill>
                <a:latin typeface="ui-sans-serif"/>
                <a:ea typeface="ui-sans-serif"/>
              </a:rPr>
              <a:t>• 场景与数据：σ 取两种实例——pairwise connectivity 对应关键节点问题（CN），GCC 大小对应网络拆解问题（ND）；离线在 30–50 节点的小型合成图上训练，线上直接作用于真实网络（Gnutella、Flickr 等）</a:t>
            </a:r>
            <a:endParaRPr lang="zh-CN" altLang="en-US" sz="1300" b="1" i="0">
              <a:solidFill>
                <a:schemeClr val="accent3">
                  <a:lumMod val="75000"/>
                </a:schemeClr>
              </a:solidFill>
              <a:latin typeface="ui-sans-serif"/>
              <a:ea typeface="ui-sans-serif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 sz="1300" b="1" i="0">
                <a:solidFill>
                  <a:schemeClr val="accent3">
                    <a:lumMod val="75000"/>
                  </a:schemeClr>
                </a:solidFill>
                <a:latin typeface="ui-sans-serif"/>
                <a:ea typeface="ui-sans-serif"/>
              </a:rPr>
              <a:t>• 与相邻问题的边界：影响力最大化问「选 k 个点让传播最大」；本文问「给定连通性度量 σ，整条删点序列怎么排最省」，不预设 k，考的是整条曲线</a:t>
            </a:r>
            <a:endParaRPr lang="zh-CN" altLang="en-US" sz="1300" b="1" i="0">
              <a:solidFill>
                <a:schemeClr val="accent3">
                  <a:lumMod val="75000"/>
                </a:schemeClr>
              </a:solidFill>
              <a:latin typeface="ui-sans-serif"/>
              <a:ea typeface="ui-sans-serif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48640" y="6355080"/>
            <a:ext cx="1060704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/>
            <a:r>
              <a:rPr lang="en-US" altLang="zh-CN" sz="1600" b="1" i="0">
                <a:solidFill>
                  <a:srgbClr val="0D0D0D"/>
                </a:solidFill>
                <a:latin typeface="ui-sans-serif"/>
                <a:ea typeface="ui-sans-serif"/>
              </a:rPr>
              <a:t>答辩要点：σ 的两个实例口径完全不同（CN 数节点对、ND 数最大连通块），跨论文比数字之前先对齐度量。</a:t>
            </a:r>
            <a:endParaRPr lang="zh-CN" altLang="en-US" sz="1600" b="0" i="0">
              <a:solidFill>
                <a:srgbClr val="0D0D0D"/>
              </a:solidFill>
              <a:latin typeface="ui-sans-serif"/>
              <a:ea typeface="ui-sans-serif"/>
            </a:endParaRPr>
          </a:p>
        </p:txBody>
      </p:sp>
      <p:pic>
        <p:nvPicPr>
          <p:cNvPr id="15" name="Picture 14" descr="Q1-网络拆解示意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2286000"/>
            <a:ext cx="5760720" cy="35661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矩形 11"/>
          <p:cNvSpPr/>
          <p:nvPr/>
        </p:nvSpPr>
        <p:spPr>
          <a:xfrm>
            <a:off x="182880" y="1005840"/>
            <a:ext cx="4183380" cy="363855"/>
          </a:xfrm>
          <a:prstGeom prst="rect">
            <a:avLst/>
          </a:prstGeom>
          <a:noFill/>
          <a:ln w="28575">
            <a:solidFill>
              <a:schemeClr val="accent3">
                <a:lumMod val="75000"/>
              </a:schemeClr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3">
                    <a:lumMod val="75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91440" y="914400"/>
            <a:ext cx="4457700" cy="3860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>
                <a:solidFill>
                  <a:srgbClr val="FF0000"/>
                </a:solidFill>
                <a:latin typeface="ui-sans-serif"/>
                <a:ea typeface="ui-sans-serif"/>
                <a:sym typeface="+mn-ea"/>
              </a:rPr>
              <a:t>Q2：为什么这个问题重要、又为什么难？</a:t>
            </a:r>
            <a:endParaRPr lang="zh-CN" altLang="en-US" sz="1600" b="1">
              <a:solidFill>
                <a:srgbClr val="0D0D0D"/>
              </a:solidFill>
              <a:latin typeface="ui-sans-serif"/>
              <a:ea typeface="ui-sans-serif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82880" y="1371600"/>
            <a:ext cx="1152144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algn="l">
              <a:buClrTx/>
              <a:buSzTx/>
              <a:buFont typeface="Arial" panose="020B0604020202020204"/>
            </a:pPr>
            <a:r>
              <a:rPr lang="zh-CN" altLang="en-US" b="1">
                <a:solidFill>
                  <a:schemeClr val="accent3">
                    <a:lumMod val="75000"/>
                  </a:schemeClr>
                </a:solidFill>
                <a:latin typeface="ui-sans-serif"/>
                <a:ea typeface="ui-sans-serif"/>
                <a:sym typeface="+mn-ea"/>
              </a:rPr>
              <a:t>二、意义与难点</a:t>
            </a:r>
            <a:endParaRPr lang="zh-CN" altLang="en-US" b="1">
              <a:solidFill>
                <a:schemeClr val="accent3">
                  <a:lumMod val="75000"/>
                </a:schemeClr>
              </a:solidFill>
              <a:latin typeface="ui-sans-serif"/>
              <a:ea typeface="ui-sans-serif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28600" y="1828800"/>
            <a:ext cx="11521440" cy="402336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 sz="1600" b="1" i="0">
                <a:solidFill>
                  <a:schemeClr val="accent3">
                    <a:lumMod val="75000"/>
                  </a:schemeClr>
                </a:solidFill>
                <a:latin typeface="ui-sans-serif"/>
                <a:ea typeface="ui-sans-serif"/>
              </a:rPr>
              <a:t>• 意义：疫情 / 谣言 / 犯罪网络的阻断，基础设施与电网的脆弱性评估——本质都是「用最小的代价让网络失去整体连通」</a:t>
            </a:r>
            <a:endParaRPr lang="zh-CN" altLang="en-US" sz="1600" b="1" i="0">
              <a:solidFill>
                <a:schemeClr val="accent3">
                  <a:lumMod val="75000"/>
                </a:schemeClr>
              </a:solidFill>
              <a:latin typeface="ui-sans-serif"/>
              <a:ea typeface="ui-sans-serif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 sz="1600" b="1" i="0">
                <a:solidFill>
                  <a:schemeClr val="accent3">
                    <a:lumMod val="75000"/>
                  </a:schemeClr>
                </a:solidFill>
                <a:latin typeface="ui-sans-serif"/>
                <a:ea typeface="ui-sans-serif"/>
              </a:rPr>
              <a:t>• 难点一（问题本身是 NP-hard）：对任意非平凡且具有遗传性质的连通性度量，最小节点删除问题都是 NP-完全的（Lewis &amp; Yannakakis 定理）；真实网络只能求近似解</a:t>
            </a:r>
            <a:endParaRPr lang="zh-CN" altLang="en-US" sz="1600" b="1" i="0">
              <a:solidFill>
                <a:schemeClr val="accent3">
                  <a:lumMod val="75000"/>
                </a:schemeClr>
              </a:solidFill>
              <a:latin typeface="ui-sans-serif"/>
              <a:ea typeface="ui-sans-serif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 sz="1600" b="1" i="0">
                <a:solidFill>
                  <a:schemeClr val="accent3">
                    <a:lumMod val="75000"/>
                  </a:schemeClr>
                </a:solidFill>
                <a:latin typeface="ui-sans-serif"/>
                <a:ea typeface="ui-sans-serif"/>
              </a:rPr>
              <a:t>• 难点二（传统方法的两难）：度 / 介数 / k-core 等启发式是人工设计的局部指标，换拓扑、加权重就退化；谱方法与组合优化（RatioCut、MinSum、GND）精度好，但代价高、规模受限</a:t>
            </a:r>
            <a:endParaRPr lang="zh-CN" altLang="en-US" sz="1600" b="1" i="0">
              <a:solidFill>
                <a:schemeClr val="accent3">
                  <a:lumMod val="75000"/>
                </a:schemeClr>
              </a:solidFill>
              <a:latin typeface="ui-sans-serif"/>
              <a:ea typeface="ui-sans-serif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 sz="1600" b="1" i="0">
                <a:solidFill>
                  <a:schemeClr val="accent3">
                    <a:lumMod val="75000"/>
                  </a:schemeClr>
                </a:solidFill>
                <a:latin typeface="ui-sans-serif"/>
                <a:ea typeface="ui-sans-serif"/>
              </a:rPr>
              <a:t>• 难点三（泛化的要求）：真实网络规模从 10² 到 10⁶ 量级，不可能为每个网络重新训练、或重跑一遍昂贵的优化 → 需要「小图训练、大图直接迁移」的策略</a:t>
            </a:r>
            <a:endParaRPr lang="zh-CN" altLang="en-US" sz="1600" b="1" i="0">
              <a:solidFill>
                <a:schemeClr val="accent3">
                  <a:lumMod val="75000"/>
                </a:schemeClr>
              </a:solidFill>
              <a:latin typeface="ui-sans-serif"/>
              <a:ea typeface="ui-sans-serif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48640" y="6355080"/>
            <a:ext cx="1060704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/>
            <a:r>
              <a:rPr lang="en-US" altLang="zh-CN" sz="1600" b="1" i="0">
                <a:solidFill>
                  <a:srgbClr val="0D0D0D"/>
                </a:solidFill>
                <a:latin typeface="ui-sans-serif"/>
                <a:ea typeface="ui-sans-serif"/>
              </a:rPr>
              <a:t>这三条难点分别对应后文的三个设计：小图训练 → 迁移性；GNN 编码 → 摆脱人工指标；RL 打分 → 端到端出序列。</a:t>
            </a:r>
            <a:endParaRPr lang="zh-CN" altLang="en-US" sz="1600" b="0" i="0">
              <a:solidFill>
                <a:srgbClr val="0D0D0D"/>
              </a:solidFill>
              <a:latin typeface="ui-sans-serif"/>
              <a:ea typeface="ui-sans-serif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矩形 11"/>
          <p:cNvSpPr/>
          <p:nvPr/>
        </p:nvSpPr>
        <p:spPr>
          <a:xfrm>
            <a:off x="182880" y="1005840"/>
            <a:ext cx="4183380" cy="363855"/>
          </a:xfrm>
          <a:prstGeom prst="rect">
            <a:avLst/>
          </a:prstGeom>
          <a:noFill/>
          <a:ln w="28575">
            <a:solidFill>
              <a:schemeClr val="accent3">
                <a:lumMod val="75000"/>
              </a:schemeClr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3">
                    <a:lumMod val="75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91440" y="914400"/>
            <a:ext cx="4457700" cy="3860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>
                <a:solidFill>
                  <a:srgbClr val="FF0000"/>
                </a:solidFill>
                <a:latin typeface="ui-sans-serif"/>
                <a:ea typeface="ui-sans-serif"/>
                <a:sym typeface="+mn-ea"/>
              </a:rPr>
              <a:t>Q3：现有方法做到哪一步？痛点是什么？</a:t>
            </a:r>
            <a:endParaRPr lang="zh-CN" altLang="en-US" sz="1600" b="1">
              <a:solidFill>
                <a:srgbClr val="0D0D0D"/>
              </a:solidFill>
              <a:latin typeface="ui-sans-serif"/>
              <a:ea typeface="ui-sans-serif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82880" y="1371600"/>
            <a:ext cx="1152144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algn="l">
              <a:buClrTx/>
              <a:buSzTx/>
              <a:buFont typeface="Arial" panose="020B0604020202020204"/>
            </a:pPr>
            <a:r>
              <a:rPr lang="zh-CN" altLang="en-US" b="1">
                <a:solidFill>
                  <a:schemeClr val="accent3">
                    <a:lumMod val="75000"/>
                  </a:schemeClr>
                </a:solidFill>
                <a:latin typeface="ui-sans-serif"/>
                <a:ea typeface="ui-sans-serif"/>
                <a:sym typeface="+mn-ea"/>
              </a:rPr>
              <a:t>一、三条技术路线</a:t>
            </a:r>
            <a:endParaRPr lang="zh-CN" altLang="en-US" b="1">
              <a:solidFill>
                <a:schemeClr val="accent3">
                  <a:lumMod val="75000"/>
                </a:schemeClr>
              </a:solidFill>
              <a:latin typeface="ui-sans-serif"/>
              <a:ea typeface="ui-sans-serif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28600" y="1828800"/>
            <a:ext cx="11521440" cy="402336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 sz="1600" b="1" i="0">
                <a:solidFill>
                  <a:schemeClr val="accent3">
                    <a:lumMod val="75000"/>
                  </a:schemeClr>
                </a:solidFill>
                <a:latin typeface="ui-sans-serif"/>
                <a:ea typeface="ui-sans-serif"/>
              </a:rPr>
              <a:t>• 路线 A｜结构启发式：degree(HD)、betweenness(HBA)、k-core(HCA)、collective influence(CI)。接近 O(|E|)、很快，但只用局部或近似信息，节点带权 / 拓扑异质时明显退化</a:t>
            </a:r>
            <a:endParaRPr lang="zh-CN" altLang="en-US" sz="1600" b="1" i="0">
              <a:solidFill>
                <a:schemeClr val="accent3">
                  <a:lumMod val="75000"/>
                </a:schemeClr>
              </a:solidFill>
              <a:latin typeface="ui-sans-serif"/>
              <a:ea typeface="ui-sans-serif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 sz="1600" b="1" i="0">
                <a:solidFill>
                  <a:schemeClr val="accent3">
                    <a:lumMod val="75000"/>
                  </a:schemeClr>
                </a:solidFill>
                <a:latin typeface="ui-sans-serif"/>
                <a:ea typeface="ui-sans-serif"/>
              </a:rPr>
              <a:t>• 路线 B｜组合优化与谱方法：RatioCut、MinSum、GND。有理论依据、小图精度高，但复杂度高，且多数没有 GPU 实现——Flickr 上比 FINDER 慢两个数量级</a:t>
            </a:r>
            <a:endParaRPr lang="zh-CN" altLang="en-US" sz="1600" b="1" i="0">
              <a:solidFill>
                <a:schemeClr val="accent3">
                  <a:lumMod val="75000"/>
                </a:schemeClr>
              </a:solidFill>
              <a:latin typeface="ui-sans-serif"/>
              <a:ea typeface="ui-sans-serif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 sz="1600" b="1" i="0">
                <a:solidFill>
                  <a:schemeClr val="accent3">
                    <a:lumMod val="75000"/>
                  </a:schemeClr>
                </a:solidFill>
                <a:latin typeface="ui-sans-serif"/>
                <a:ea typeface="ui-sans-serif"/>
              </a:rPr>
              <a:t>• 路线 C｜学习型方法：用 GNN 学节点表征再打分。但多数工作在同分布的图上训练与测试，跨规模的迁移性没有被验证</a:t>
            </a:r>
            <a:endParaRPr lang="zh-CN" altLang="en-US" sz="1600" b="1" i="0">
              <a:solidFill>
                <a:schemeClr val="accent3">
                  <a:lumMod val="75000"/>
                </a:schemeClr>
              </a:solidFill>
              <a:latin typeface="ui-sans-serif"/>
              <a:ea typeface="ui-sans-serif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 sz="1600" b="1" i="0">
                <a:solidFill>
                  <a:schemeClr val="accent3">
                    <a:lumMod val="75000"/>
                  </a:schemeClr>
                </a:solidFill>
                <a:latin typeface="ui-sans-serif"/>
                <a:ea typeface="ui-sans-serif"/>
              </a:rPr>
              <a:t>• 痛点小结：缺一个能直接吃原始图结构、不依赖人工指标、又能从小图迁移到大图的拆解策略——这正是 FINDER 的定位</a:t>
            </a:r>
            <a:endParaRPr lang="zh-CN" altLang="en-US" sz="1600" b="1" i="0">
              <a:solidFill>
                <a:schemeClr val="accent3">
                  <a:lumMod val="75000"/>
                </a:schemeClr>
              </a:solidFill>
              <a:latin typeface="ui-sans-serif"/>
              <a:ea typeface="ui-sans-serif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48640" y="6355080"/>
            <a:ext cx="1060704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/>
            <a:r>
              <a:rPr lang="en-US" altLang="zh-CN" sz="1600" b="1" i="0">
                <a:solidFill>
                  <a:srgbClr val="0D0D0D"/>
                </a:solidFill>
                <a:latin typeface="ui-sans-serif"/>
                <a:ea typeface="ui-sans-serif"/>
              </a:rPr>
              <a:t>基线池：CI / HDA / HBA / HCA / RatioCut / MinSum / GND，比结果时按路线归类更好讲。</a:t>
            </a:r>
            <a:endParaRPr lang="zh-CN" altLang="en-US" sz="1600" b="0" i="0">
              <a:solidFill>
                <a:srgbClr val="0D0D0D"/>
              </a:solidFill>
              <a:latin typeface="ui-sans-serif"/>
              <a:ea typeface="ui-sans-serif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矩形 11"/>
          <p:cNvSpPr/>
          <p:nvPr/>
        </p:nvSpPr>
        <p:spPr>
          <a:xfrm>
            <a:off x="182880" y="1005840"/>
            <a:ext cx="2537460" cy="363855"/>
          </a:xfrm>
          <a:prstGeom prst="rect">
            <a:avLst/>
          </a:prstGeom>
          <a:noFill/>
          <a:ln w="28575">
            <a:solidFill>
              <a:schemeClr val="accent3">
                <a:lumMod val="75000"/>
              </a:schemeClr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3">
                    <a:lumMod val="75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91440" y="914400"/>
            <a:ext cx="2811779" cy="3860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>
                <a:solidFill>
                  <a:srgbClr val="FF0000"/>
                </a:solidFill>
                <a:latin typeface="ui-sans-serif"/>
                <a:ea typeface="ui-sans-serif"/>
                <a:sym typeface="+mn-ea"/>
              </a:rPr>
              <a:t>Q4：方法整体怎么走？</a:t>
            </a:r>
            <a:endParaRPr lang="zh-CN" altLang="en-US" sz="1600" b="1">
              <a:solidFill>
                <a:srgbClr val="0D0D0D"/>
              </a:solidFill>
              <a:latin typeface="ui-sans-serif"/>
              <a:ea typeface="ui-sans-serif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82880" y="1371600"/>
            <a:ext cx="1152144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algn="l">
              <a:buClrTx/>
              <a:buSzTx/>
              <a:buFont typeface="Arial" panose="020B0604020202020204"/>
            </a:pPr>
            <a:r>
              <a:rPr lang="zh-CN" altLang="en-US" b="1">
                <a:solidFill>
                  <a:schemeClr val="accent3">
                    <a:lumMod val="75000"/>
                  </a:schemeClr>
                </a:solidFill>
                <a:latin typeface="ui-sans-serif"/>
                <a:ea typeface="ui-sans-serif"/>
                <a:sym typeface="+mn-ea"/>
              </a:rPr>
              <a:t>一、整体框架</a:t>
            </a:r>
            <a:endParaRPr lang="zh-CN" altLang="en-US" b="1">
              <a:solidFill>
                <a:schemeClr val="accent3">
                  <a:lumMod val="75000"/>
                </a:schemeClr>
              </a:solidFill>
              <a:latin typeface="ui-sans-serif"/>
              <a:ea typeface="ui-sans-serif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28600" y="1828800"/>
            <a:ext cx="11521440" cy="118872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 sz="1300" b="1" i="0">
                <a:solidFill>
                  <a:schemeClr val="accent3">
                    <a:lumMod val="75000"/>
                  </a:schemeClr>
                </a:solidFill>
                <a:latin typeface="ui-sans-serif"/>
                <a:ea typeface="ui-sans-serif"/>
              </a:rPr>
              <a:t>• 把「逐个删点」建模成马尔可夫决策过程：状态 = 残余网络，动作 = 删掉一个节点，奖励 = 该步连通性的下降量</a:t>
            </a:r>
            <a:endParaRPr lang="zh-CN" altLang="en-US" sz="1300" b="1" i="0">
              <a:solidFill>
                <a:schemeClr val="accent3">
                  <a:lumMod val="75000"/>
                </a:schemeClr>
              </a:solidFill>
              <a:latin typeface="ui-sans-serif"/>
              <a:ea typeface="ui-sans-serif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 sz="1300" b="1" i="0">
                <a:solidFill>
                  <a:schemeClr val="accent3">
                    <a:lumMod val="75000"/>
                  </a:schemeClr>
                </a:solidFill>
                <a:latin typeface="ui-sans-serif"/>
                <a:ea typeface="ui-sans-serif"/>
              </a:rPr>
              <a:t>• 三个关键设计：① GraphSAGE 式邻域聚合的编码器 + 一个代表整张图的虚拟节点；② 状态与动作做外积的 Q 解码器；③ n 步 Q 损失 + 图重构损失</a:t>
            </a:r>
            <a:endParaRPr lang="zh-CN" altLang="en-US" sz="1300" b="1" i="0">
              <a:solidFill>
                <a:schemeClr val="accent3">
                  <a:lumMod val="75000"/>
                </a:schemeClr>
              </a:solidFill>
              <a:latin typeface="ui-sans-serif"/>
              <a:ea typeface="ui-sans-serif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 sz="1300" b="1" i="0">
                <a:solidFill>
                  <a:schemeClr val="accent3">
                    <a:lumMod val="75000"/>
                  </a:schemeClr>
                </a:solidFill>
                <a:latin typeface="ui-sans-serif"/>
                <a:ea typeface="ui-sans-serif"/>
              </a:rPr>
              <a:t>• 两阶段流程：先在 30–50 节点的小型合成图上离线训练，训练好的智能体直接作用于真实网络，中间不再更新参数</a:t>
            </a:r>
            <a:endParaRPr lang="zh-CN" altLang="en-US" sz="1300" b="1" i="0">
              <a:solidFill>
                <a:schemeClr val="accent3">
                  <a:lumMod val="75000"/>
                </a:schemeClr>
              </a:solidFill>
              <a:latin typeface="ui-sans-serif"/>
              <a:ea typeface="ui-sans-serif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48640" y="6355080"/>
            <a:ext cx="1060704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/>
            <a:r>
              <a:rPr lang="en-US" altLang="zh-CN" sz="1600" b="1" i="0">
                <a:solidFill>
                  <a:srgbClr val="0D0D0D"/>
                </a:solidFill>
                <a:latin typeface="ui-sans-serif"/>
                <a:ea typeface="ui-sans-serif"/>
              </a:rPr>
              <a:t>重点强调 phase 1 → phase 2 之间没有任何参数更新——这才是「迁移」这个词的全部依据。</a:t>
            </a:r>
            <a:endParaRPr lang="zh-CN" altLang="en-US" sz="1600" b="0" i="0">
              <a:solidFill>
                <a:srgbClr val="0D0D0D"/>
              </a:solidFill>
              <a:latin typeface="ui-sans-serif"/>
              <a:ea typeface="ui-sans-serif"/>
            </a:endParaRPr>
          </a:p>
        </p:txBody>
      </p:sp>
      <p:pic>
        <p:nvPicPr>
          <p:cNvPr id="15" name="Picture 14" descr="FINDER-Over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550000"/>
            <a:ext cx="4149600" cy="259995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4816800" y="3550000"/>
            <a:ext cx="6918000" cy="260000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C9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006800" y="3680000"/>
            <a:ext cx="6538000" cy="23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1F4E79"/>
                </a:solidFill>
                <a:latin typeface="微软雅黑"/>
                <a:ea typeface="微软雅黑"/>
              </a:rPr>
              <a:t>看这张图时只需要确认三件事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050" b="0">
                <a:solidFill>
                  <a:srgbClr val="333D4A"/>
                </a:solidFill>
                <a:latin typeface="微软雅黑"/>
                <a:ea typeface="微软雅黑"/>
              </a:rPr>
              <a:t>① 训练阶段（上）：智能体只在随机生成的小型合成图上反复「玩游戏」——环境、奖励、经验回放都发生在这一阶段内部。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050" b="0">
                <a:solidFill>
                  <a:srgbClr val="333D4A"/>
                </a:solidFill>
                <a:latin typeface="微软雅黑"/>
                <a:ea typeface="微软雅黑"/>
              </a:rPr>
              <a:t>② 应用阶段（下）：训练结束后参数冻结，智能体直接作用于真实网络，每步批量删掉约 1% 的高 Q 节点，直到达到删除预算或连通性阈值。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050" b="0">
                <a:solidFill>
                  <a:srgbClr val="333D4A"/>
                </a:solidFill>
                <a:latin typeface="微软雅黑"/>
                <a:ea typeface="微软雅黑"/>
              </a:rPr>
              <a:t>③ 两个阶段之间没有参数更新——这是「小图训练、大图迁移」这一说法的全部依据。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矩形 11"/>
          <p:cNvSpPr/>
          <p:nvPr/>
        </p:nvSpPr>
        <p:spPr>
          <a:xfrm>
            <a:off x="182880" y="1005840"/>
            <a:ext cx="2537460" cy="363855"/>
          </a:xfrm>
          <a:prstGeom prst="rect">
            <a:avLst/>
          </a:prstGeom>
          <a:noFill/>
          <a:ln w="28575">
            <a:solidFill>
              <a:schemeClr val="accent3">
                <a:lumMod val="75000"/>
              </a:schemeClr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3">
                    <a:lumMod val="75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91440" y="914400"/>
            <a:ext cx="2811779" cy="3860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>
                <a:solidFill>
                  <a:srgbClr val="FF0000"/>
                </a:solidFill>
                <a:latin typeface="ui-sans-serif"/>
                <a:ea typeface="ui-sans-serif"/>
                <a:sym typeface="+mn-ea"/>
              </a:rPr>
              <a:t>Q5：关键设计是什么？</a:t>
            </a:r>
            <a:endParaRPr lang="zh-CN" altLang="en-US" sz="1600" b="1">
              <a:solidFill>
                <a:srgbClr val="0D0D0D"/>
              </a:solidFill>
              <a:latin typeface="ui-sans-serif"/>
              <a:ea typeface="ui-sans-serif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82880" y="1371600"/>
            <a:ext cx="1152144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algn="l">
              <a:buClrTx/>
              <a:buSzTx/>
              <a:buFont typeface="Arial" panose="020B0604020202020204"/>
            </a:pPr>
            <a:r>
              <a:rPr lang="zh-CN" altLang="en-US" b="1">
                <a:solidFill>
                  <a:schemeClr val="accent3">
                    <a:lumMod val="75000"/>
                  </a:schemeClr>
                </a:solidFill>
                <a:latin typeface="ui-sans-serif"/>
                <a:ea typeface="ui-sans-serif"/>
                <a:sym typeface="+mn-ea"/>
              </a:rPr>
              <a:t>二、模块拆解</a:t>
            </a:r>
            <a:endParaRPr lang="zh-CN" altLang="en-US" b="1">
              <a:solidFill>
                <a:schemeClr val="accent3">
                  <a:lumMod val="75000"/>
                </a:schemeClr>
              </a:solidFill>
              <a:latin typeface="ui-sans-serif"/>
              <a:ea typeface="ui-sans-serif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28600" y="1828800"/>
            <a:ext cx="5400000" cy="402336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 sz="1300" b="1" i="0">
                <a:solidFill>
                  <a:schemeClr val="accent3">
                    <a:lumMod val="75000"/>
                  </a:schemeClr>
                </a:solidFill>
                <a:latin typeface="ui-sans-serif"/>
                <a:ea typeface="ui-sans-serif"/>
              </a:rPr>
              <a:t>• 模块 1｜虚拟节点（全文最核心的设计）：为每张图额外引入一个超级节点，把所有真实节点视为它的邻居，用来代表整张图；它与真实节点共享同一套传播权重、只单向接收，相当于给每个真实节点一个「全图坐标」</a:t>
            </a:r>
            <a:endParaRPr lang="zh-CN" altLang="en-US" sz="1300" b="1" i="0">
              <a:solidFill>
                <a:schemeClr val="accent3">
                  <a:lumMod val="75000"/>
                </a:schemeClr>
              </a:solidFill>
              <a:latin typeface="ui-sans-serif"/>
              <a:ea typeface="ui-sans-serif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 sz="1300" b="1" i="0">
                <a:solidFill>
                  <a:schemeClr val="accent3">
                    <a:lumMod val="75000"/>
                  </a:schemeClr>
                </a:solidFill>
                <a:latin typeface="ui-sans-serif"/>
                <a:ea typeface="ui-sans-serif"/>
              </a:rPr>
              <a:t>• 模块 2｜编码器：聚合方式是「求和」而不是均值——邻居信息求和后过 W1、自身过 W2，两者拼接之后再过 W3 + ReLU，最后做 L2 归一化，递归 3 轮</a:t>
            </a:r>
            <a:endParaRPr lang="zh-CN" altLang="en-US" sz="1300" b="1" i="0">
              <a:solidFill>
                <a:schemeClr val="accent3">
                  <a:lumMod val="75000"/>
                </a:schemeClr>
              </a:solidFill>
              <a:latin typeface="ui-sans-serif"/>
              <a:ea typeface="ui-sans-serif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 sz="1300" b="1" i="0">
                <a:solidFill>
                  <a:schemeClr val="accent3">
                    <a:lumMod val="75000"/>
                  </a:schemeClr>
                </a:solidFill>
                <a:latin typeface="ui-sans-serif"/>
                <a:ea typeface="ui-sans-serif"/>
              </a:rPr>
              <a:t>• 模块 3｜解码器：外积负责刻画状态与动作的细粒度交互，再经 MLP 输出 Q 值；代码里这个 MLP 的实际维度是 64 → 32 → 36 → 1</a:t>
            </a:r>
            <a:endParaRPr lang="zh-CN" altLang="en-US" sz="1300" b="1" i="0">
              <a:solidFill>
                <a:schemeClr val="accent3">
                  <a:lumMod val="75000"/>
                </a:schemeClr>
              </a:solidFill>
              <a:latin typeface="ui-sans-serif"/>
              <a:ea typeface="ui-sans-serif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 sz="1300" b="1" i="0">
                <a:solidFill>
                  <a:schemeClr val="accent3">
                    <a:lumMod val="75000"/>
                  </a:schemeClr>
                </a:solidFill>
                <a:latin typeface="ui-sans-serif"/>
                <a:ea typeface="ui-sans-serif"/>
              </a:rPr>
              <a:t>• 训练细节：n = 5 步回报、γ = 1、经验回放池 5×10⁵、目标网络每 1000 步硬同步、ε 从 1.0 线性退火到 0.05；总损失 = n 步 Q 损失 + 1e-4 × 图重构损失</a:t>
            </a:r>
            <a:endParaRPr lang="zh-CN" altLang="en-US" sz="1300" b="1" i="0">
              <a:solidFill>
                <a:schemeClr val="accent3">
                  <a:lumMod val="75000"/>
                </a:schemeClr>
              </a:solidFill>
              <a:latin typeface="ui-sans-serif"/>
              <a:ea typeface="ui-sans-serif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48640" y="6355080"/>
            <a:ext cx="1060704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/>
            <a:r>
              <a:rPr lang="en-US" altLang="zh-CN" sz="1600" b="1" i="0">
                <a:solidFill>
                  <a:srgbClr val="0D0D0D"/>
                </a:solidFill>
                <a:latin typeface="ui-sans-serif"/>
                <a:ea typeface="ui-sans-serif"/>
              </a:rPr>
              <a:t>这一页最容易被追问：虚拟节点为什么单向、为什么共享权重、为什么不算进重构损失。</a:t>
            </a:r>
            <a:endParaRPr lang="zh-CN" altLang="en-US" sz="1600" b="0" i="0">
              <a:solidFill>
                <a:srgbClr val="0D0D0D"/>
              </a:solidFill>
              <a:latin typeface="ui-sans-serif"/>
              <a:ea typeface="ui-sans-serif"/>
            </a:endParaRPr>
          </a:p>
        </p:txBody>
      </p:sp>
      <p:pic>
        <p:nvPicPr>
          <p:cNvPr id="15" name="Picture 14" descr="Q5-虚拟节点示意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8600" y="1828800"/>
            <a:ext cx="5897880" cy="42976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矩形 11"/>
          <p:cNvSpPr/>
          <p:nvPr/>
        </p:nvSpPr>
        <p:spPr>
          <a:xfrm>
            <a:off x="182880" y="1005840"/>
            <a:ext cx="2743200" cy="363855"/>
          </a:xfrm>
          <a:prstGeom prst="rect">
            <a:avLst/>
          </a:prstGeom>
          <a:noFill/>
          <a:ln w="28575">
            <a:solidFill>
              <a:schemeClr val="accent3">
                <a:lumMod val="75000"/>
              </a:schemeClr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3">
                    <a:lumMod val="75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91440" y="914400"/>
            <a:ext cx="3017520" cy="3860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>
                <a:solidFill>
                  <a:srgbClr val="FF0000"/>
                </a:solidFill>
                <a:latin typeface="ui-sans-serif"/>
                <a:ea typeface="ui-sans-serif"/>
                <a:sym typeface="+mn-ea"/>
              </a:rPr>
              <a:t>Q6：实验如何证明有效？</a:t>
            </a:r>
            <a:endParaRPr lang="zh-CN" altLang="en-US" sz="1600" b="1">
              <a:solidFill>
                <a:srgbClr val="0D0D0D"/>
              </a:solidFill>
              <a:latin typeface="ui-sans-serif"/>
              <a:ea typeface="ui-sans-serif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82880" y="1371600"/>
            <a:ext cx="1152144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algn="l">
              <a:buClrTx/>
              <a:buSzTx/>
              <a:buFont typeface="Arial" panose="020B0604020202020204"/>
            </a:pPr>
            <a:r>
              <a:rPr lang="zh-CN" altLang="en-US" b="1">
                <a:solidFill>
                  <a:schemeClr val="accent3">
                    <a:lumMod val="75000"/>
                  </a:schemeClr>
                </a:solidFill>
                <a:latin typeface="ui-sans-serif"/>
                <a:ea typeface="ui-sans-serif"/>
                <a:sym typeface="+mn-ea"/>
              </a:rPr>
              <a:t>三、实验设置与主结果</a:t>
            </a:r>
            <a:endParaRPr lang="zh-CN" altLang="en-US" b="1">
              <a:solidFill>
                <a:schemeClr val="accent3">
                  <a:lumMod val="75000"/>
                </a:schemeClr>
              </a:solidFill>
              <a:latin typeface="ui-sans-serif"/>
              <a:ea typeface="ui-sans-serif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28600" y="1828800"/>
            <a:ext cx="11521440" cy="118872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 sz="1250" b="1" i="0">
                <a:solidFill>
                  <a:schemeClr val="accent3">
                    <a:lumMod val="75000"/>
                  </a:schemeClr>
                </a:solidFill>
                <a:latin typeface="ui-sans-serif"/>
                <a:ea typeface="ui-sans-serif"/>
              </a:rPr>
              <a:t>• 数据：BA / ER / WS 随机生成的小型合成图（30–50 节点，共 2×10⁵ 张），测试含更大的合成图与真实网络</a:t>
            </a:r>
            <a:endParaRPr lang="zh-CN" altLang="en-US" sz="1250" b="1" i="0">
              <a:solidFill>
                <a:schemeClr val="accent3">
                  <a:lumMod val="75000"/>
                </a:schemeClr>
              </a:solidFill>
              <a:latin typeface="ui-sans-serif"/>
              <a:ea typeface="ui-sans-serif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 sz="1250" b="1" i="0">
                <a:solidFill>
                  <a:schemeClr val="accent3">
                    <a:lumMod val="75000"/>
                  </a:schemeClr>
                </a:solidFill>
                <a:latin typeface="ui-sans-serif"/>
                <a:ea typeface="ui-sans-serif"/>
              </a:rPr>
              <a:t>• 指标：ANC 及其曲线；CN 场景用 pairwise connectivity，ND 场景用 GCC 大小，另设节点带权场景</a:t>
            </a:r>
            <a:endParaRPr lang="zh-CN" altLang="en-US" sz="1250" b="1" i="0">
              <a:solidFill>
                <a:schemeClr val="accent3">
                  <a:lumMod val="75000"/>
                </a:schemeClr>
              </a:solidFill>
              <a:latin typeface="ui-sans-serif"/>
              <a:ea typeface="ui-sans-serif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 sz="1250" b="1" i="0">
                <a:solidFill>
                  <a:schemeClr val="accent3">
                    <a:lumMod val="75000"/>
                  </a:schemeClr>
                </a:solidFill>
                <a:latin typeface="ui-sans-serif"/>
                <a:ea typeface="ui-sans-serif"/>
              </a:rPr>
              <a:t>• 结论：多数场景优于全部基线，节点带权场景优势最大；应用阶段每步批删约 1% 高 Q 节点，性能无损</a:t>
            </a:r>
            <a:endParaRPr lang="zh-CN" altLang="en-US" sz="1250" b="1" i="0">
              <a:solidFill>
                <a:schemeClr val="accent3">
                  <a:lumMod val="75000"/>
                </a:schemeClr>
              </a:solidFill>
              <a:latin typeface="ui-sans-serif"/>
              <a:ea typeface="ui-sans-serif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 sz="1250" b="1" i="0">
                <a:solidFill>
                  <a:schemeClr val="accent3">
                    <a:lumMod val="75000"/>
                  </a:schemeClr>
                </a:solidFill>
                <a:latin typeface="ui-sans-serif"/>
                <a:ea typeface="ui-sans-serif"/>
              </a:rPr>
              <a:t>• 留意：论文没有各模块的系统消融表，「虚拟节点贡献多少」要靠复现来补，代码与论文也有出入</a:t>
            </a:r>
            <a:endParaRPr lang="zh-CN" altLang="en-US" sz="1250" b="1" i="0">
              <a:solidFill>
                <a:schemeClr val="accent3">
                  <a:lumMod val="75000"/>
                </a:schemeClr>
              </a:solidFill>
              <a:latin typeface="ui-sans-serif"/>
              <a:ea typeface="ui-sans-serif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48640" y="6355080"/>
            <a:ext cx="1060704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/>
            <a:r>
              <a:rPr lang="en-US" altLang="zh-CN" sz="1600" b="1" i="0">
                <a:solidFill>
                  <a:srgbClr val="0D0D0D"/>
                </a:solidFill>
                <a:latin typeface="ui-sans-serif"/>
                <a:ea typeface="ui-sans-serif"/>
              </a:rPr>
              <a:t>这三个数字都是论文报告值，复现时务必对齐口径——「删除代价」和「已删除节点比例」不是一回事。</a:t>
            </a:r>
            <a:endParaRPr lang="zh-CN" altLang="en-US" sz="1600" b="0" i="0">
              <a:solidFill>
                <a:srgbClr val="0D0D0D"/>
              </a:solidFill>
              <a:latin typeface="ui-sans-serif"/>
              <a:ea typeface="ui-sans-serif"/>
            </a:endParaRP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457200" y="3383280"/>
          <a:ext cx="11247119" cy="20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98848"/>
                <a:gridCol w="3486607"/>
                <a:gridCol w="3261664"/>
              </a:tblGrid>
              <a:tr h="40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对比场景（论文报告值）</a:t>
                      </a:r>
                    </a:p>
                  </a:txBody>
                  <a:tcPr anchor="ctr" marL="91440" marR="91440" marT="45720" marB="45720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最强基线</a:t>
                      </a:r>
                    </a:p>
                  </a:txBody>
                  <a:tcPr anchor="ctr" marL="91440" marR="91440" marT="45720" marB="45720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FINDER</a:t>
                      </a:r>
                    </a:p>
                  </a:txBody>
                  <a:tcPr anchor="ctr" marL="91440" marR="91440" marT="45720" marB="45720">
                    <a:solidFill>
                      <a:srgbClr val="1F4E79"/>
                    </a:solidFill>
                  </a:tcPr>
                </a:tc>
              </a:tr>
              <a:tr h="54000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333D4A"/>
                          </a:solidFill>
                          <a:latin typeface="微软雅黑"/>
                          <a:ea typeface="微软雅黑"/>
                        </a:rPr>
                        <a:t>Gnutella：把残余 GCC 压到原规模的一半</a:t>
                      </a: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333D4A"/>
                          </a:solidFill>
                          <a:latin typeface="微软雅黑"/>
                          <a:ea typeface="微软雅黑"/>
                        </a:rPr>
                        <a:t>（ND，按度加权）</a:t>
                      </a:r>
                    </a:p>
                  </a:txBody>
                  <a:tcPr anchor="ctr" marL="91440" marR="91440" marT="45720" marB="45720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333D4A"/>
                          </a:solidFill>
                          <a:latin typeface="微软雅黑"/>
                          <a:ea typeface="微软雅黑"/>
                        </a:rPr>
                        <a:t>HDA：需要 40.3% 的删除代价</a:t>
                      </a:r>
                    </a:p>
                  </a:txBody>
                  <a:tcPr anchor="ctr" marL="91440" marR="91440" marT="45720" marB="45720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只需 14.1% 代价</a:t>
                      </a:r>
                    </a:p>
                  </a:txBody>
                  <a:tcPr anchor="ctr" marL="91440" marR="91440" marT="45720" marB="45720">
                    <a:solidFill>
                      <a:srgbClr val="F2F5F9"/>
                    </a:solidFill>
                  </a:tcPr>
                </a:tc>
              </a:tr>
              <a:tr h="54000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333D4A"/>
                          </a:solidFill>
                          <a:latin typeface="微软雅黑"/>
                          <a:ea typeface="微软雅黑"/>
                        </a:rPr>
                        <a:t>Gnutella：给定 0.2 的删除代价</a:t>
                      </a: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333D4A"/>
                          </a:solidFill>
                          <a:latin typeface="微软雅黑"/>
                          <a:ea typeface="微软雅黑"/>
                        </a:rPr>
                        <a:t>（ND，按度加权）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333D4A"/>
                          </a:solidFill>
                          <a:latin typeface="微软雅黑"/>
                          <a:ea typeface="微软雅黑"/>
                        </a:rPr>
                        <a:t>GND：残余 GCC 仍占 80.8%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残余 GCC 仅 35.3%</a:t>
                      </a:r>
                    </a:p>
                  </a:txBody>
                  <a:tcPr anchor="ctr" marL="91440" marR="91440" marT="45720" marB="45720">
                    <a:solidFill>
                      <a:srgbClr val="FFFFFF"/>
                    </a:solidFill>
                  </a:tcPr>
                </a:tc>
              </a:tr>
              <a:tr h="54000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333D4A"/>
                          </a:solidFill>
                          <a:latin typeface="微软雅黑"/>
                          <a:ea typeface="微软雅黑"/>
                        </a:rPr>
                        <a:t>Flickr（百万节点 / 千万边）运行时间</a:t>
                      </a:r>
                    </a:p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333D4A"/>
                          </a:solidFill>
                          <a:latin typeface="微软雅黑"/>
                          <a:ea typeface="微软雅黑"/>
                        </a:rPr>
                        <a:t>（ND，按度加权）</a:t>
                      </a:r>
                    </a:p>
                  </a:txBody>
                  <a:tcPr anchor="ctr" marL="91440" marR="91440" marT="45720" marB="45720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333D4A"/>
                          </a:solidFill>
                          <a:latin typeface="微软雅黑"/>
                          <a:ea typeface="微软雅黑"/>
                        </a:rPr>
                        <a:t>GND：174,363 秒</a:t>
                      </a:r>
                    </a:p>
                  </a:txBody>
                  <a:tcPr anchor="ctr" marL="91440" marR="91440" marT="45720" marB="45720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1F4E79"/>
                          </a:solidFill>
                          <a:latin typeface="微软雅黑"/>
                          <a:ea typeface="微软雅黑"/>
                        </a:rPr>
                        <a:t>7,734 秒（快 20 倍以上）</a:t>
                      </a:r>
                    </a:p>
                  </a:txBody>
                  <a:tcPr anchor="ctr" marL="91440" marR="91440" marT="45720" marB="45720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矩形 11"/>
          <p:cNvSpPr/>
          <p:nvPr/>
        </p:nvSpPr>
        <p:spPr>
          <a:xfrm>
            <a:off x="182880" y="1005840"/>
            <a:ext cx="2743200" cy="363855"/>
          </a:xfrm>
          <a:prstGeom prst="rect">
            <a:avLst/>
          </a:prstGeom>
          <a:noFill/>
          <a:ln w="28575">
            <a:solidFill>
              <a:schemeClr val="accent3">
                <a:lumMod val="75000"/>
              </a:schemeClr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3">
                    <a:lumMod val="75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91440" y="914400"/>
            <a:ext cx="3017520" cy="3860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>
                <a:solidFill>
                  <a:srgbClr val="FF0000"/>
                </a:solidFill>
                <a:latin typeface="ui-sans-serif"/>
                <a:ea typeface="ui-sans-serif"/>
                <a:sym typeface="+mn-ea"/>
              </a:rPr>
              <a:t>Q7：消融与稳健性如何？</a:t>
            </a:r>
            <a:endParaRPr lang="zh-CN" altLang="en-US" sz="1600" b="1">
              <a:solidFill>
                <a:srgbClr val="0D0D0D"/>
              </a:solidFill>
              <a:latin typeface="ui-sans-serif"/>
              <a:ea typeface="ui-sans-serif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82880" y="1371600"/>
            <a:ext cx="1152144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algn="l">
              <a:buClrTx/>
              <a:buSzTx/>
              <a:buFont typeface="Arial" panose="020B0604020202020204"/>
            </a:pPr>
            <a:r>
              <a:rPr lang="zh-CN" altLang="en-US" b="1">
                <a:solidFill>
                  <a:schemeClr val="accent3">
                    <a:lumMod val="75000"/>
                  </a:schemeClr>
                </a:solidFill>
                <a:latin typeface="ui-sans-serif"/>
                <a:ea typeface="ui-sans-serif"/>
                <a:sym typeface="+mn-ea"/>
              </a:rPr>
              <a:t>四、消融、鲁棒性与可扩展性</a:t>
            </a:r>
            <a:endParaRPr lang="zh-CN" altLang="en-US" b="1">
              <a:solidFill>
                <a:schemeClr val="accent3">
                  <a:lumMod val="75000"/>
                </a:schemeClr>
              </a:solidFill>
              <a:latin typeface="ui-sans-serif"/>
              <a:ea typeface="ui-sans-serif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28600" y="1828800"/>
            <a:ext cx="11521440" cy="402336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 sz="1600" b="1" i="0">
                <a:solidFill>
                  <a:schemeClr val="accent3">
                    <a:lumMod val="75000"/>
                  </a:schemeClr>
                </a:solidFill>
                <a:latin typeface="ui-sans-serif"/>
                <a:ea typeface="ui-sans-serif"/>
              </a:rPr>
              <a:t>• 训练图类型的影响：同模型训练 / 测试时表现最好；由于真实网络普遍呈幂律或重尾度分布，在 BA 图上训练的智能体于真实网络上最稳，因此论文统一用 BA 图训练</a:t>
            </a:r>
            <a:endParaRPr lang="zh-CN" altLang="en-US" sz="1600" b="1" i="0">
              <a:solidFill>
                <a:schemeClr val="accent3">
                  <a:lumMod val="75000"/>
                </a:schemeClr>
              </a:solidFill>
              <a:latin typeface="ui-sans-serif"/>
              <a:ea typeface="ui-sans-serif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 sz="1600" b="1" i="0">
                <a:solidFill>
                  <a:schemeClr val="accent3">
                    <a:lumMod val="75000"/>
                  </a:schemeClr>
                </a:solidFill>
                <a:latin typeface="ui-sans-serif"/>
                <a:ea typeface="ui-sans-serif"/>
              </a:rPr>
              <a:t>• 批量删除的近似：应用阶段每步删掉 Q 值最高的约 1% 节点（而非逐个删），性能基本无损，却把时间复杂度降低了好几个数量级——这是它能上百万节点网络的前提</a:t>
            </a:r>
            <a:endParaRPr lang="zh-CN" altLang="en-US" sz="1600" b="1" i="0">
              <a:solidFill>
                <a:schemeClr val="accent3">
                  <a:lumMod val="75000"/>
                </a:schemeClr>
              </a:solidFill>
              <a:latin typeface="ui-sans-serif"/>
              <a:ea typeface="ui-sans-serif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 sz="1600" b="1" i="0">
                <a:solidFill>
                  <a:schemeClr val="accent3">
                    <a:lumMod val="75000"/>
                  </a:schemeClr>
                </a:solidFill>
                <a:latin typeface="ui-sans-serif"/>
                <a:ea typeface="ui-sans-serif"/>
              </a:rPr>
              <a:t>• 可扩展性：参数量与图规模无关，可直接作用于比训练图大几个数量级的网络；模型天然支持 GPU 加速（论文报告的效率数据反而是没开 GPU 的保守值）</a:t>
            </a:r>
            <a:endParaRPr lang="zh-CN" altLang="en-US" sz="1600" b="1" i="0">
              <a:solidFill>
                <a:schemeClr val="accent3">
                  <a:lumMod val="75000"/>
                </a:schemeClr>
              </a:solidFill>
              <a:latin typeface="ui-sans-serif"/>
              <a:ea typeface="ui-sans-serif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 sz="1600" b="1" i="0">
                <a:solidFill>
                  <a:schemeClr val="accent3">
                    <a:lumMod val="75000"/>
                  </a:schemeClr>
                </a:solidFill>
                <a:latin typeface="ui-sans-serif"/>
                <a:ea typeface="ui-sans-serif"/>
              </a:rPr>
              <a:t>• 局限（自己先说）：奖励只基于 σ 这一个标量，信号稀疏、方差大；论文没有系统消融，各模块的贡献边界不清楚；跨领域的迁移性在异质网络上仍需验证</a:t>
            </a:r>
            <a:endParaRPr lang="zh-CN" altLang="en-US" sz="1600" b="1" i="0">
              <a:solidFill>
                <a:schemeClr val="accent3">
                  <a:lumMod val="75000"/>
                </a:schemeClr>
              </a:solidFill>
              <a:latin typeface="ui-sans-serif"/>
              <a:ea typeface="ui-sans-serif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48640" y="6355080"/>
            <a:ext cx="1060704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/>
            <a:r>
              <a:rPr lang="en-US" altLang="zh-CN" sz="1600" b="1" i="0">
                <a:solidFill>
                  <a:srgbClr val="0D0D0D"/>
                </a:solidFill>
                <a:latin typeface="ui-sans-serif"/>
                <a:ea typeface="ui-sans-serif"/>
              </a:rPr>
              <a:t>作者的局限先讲出来，比被追问时再承认更可信。</a:t>
            </a:r>
            <a:endParaRPr lang="zh-CN" altLang="en-US" sz="1600" b="0" i="0">
              <a:solidFill>
                <a:srgbClr val="0D0D0D"/>
              </a:solidFill>
              <a:latin typeface="ui-sans-serif"/>
              <a:ea typeface="ui-sans-serif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274320" y="1097280"/>
            <a:ext cx="54864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algn="l">
              <a:buClrTx/>
              <a:buSzTx/>
              <a:buFont typeface="Arial" panose="020B0604020202020204"/>
            </a:pPr>
            <a:r>
              <a:rPr lang="zh-CN" altLang="en-US" b="1">
                <a:solidFill>
                  <a:schemeClr val="accent3">
                    <a:lumMod val="75000"/>
                  </a:schemeClr>
                </a:solidFill>
                <a:latin typeface="ui-sans-serif"/>
                <a:ea typeface="ui-sans-serif"/>
                <a:sym typeface="+mn-ea"/>
              </a:rPr>
              <a:t>一、论文结论</a:t>
            </a:r>
            <a:endParaRPr lang="en-US" altLang="zh-CN">
              <a:solidFill>
                <a:schemeClr val="accent3">
                  <a:lumMod val="75000"/>
                </a:schemeClr>
              </a:solidFill>
              <a:latin typeface="ui-sans-serif"/>
              <a:ea typeface="ui-sans-serif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74320" y="1508760"/>
            <a:ext cx="11338560" cy="20116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dirty="0" smtClean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• 论文做出的事：把「找关键节点」变成端到端的强化学习问题——在 30–50 节点的 BA 小图上离线训练，直接迁移到真实网络，多数场景优于启发式与组合优化基线</a:t>
            </a:r>
            <a:endParaRPr lang="zh-CN" altLang="en-US" dirty="0" smtClean="0">
              <a:solidFill>
                <a:schemeClr val="tx1">
                  <a:lumMod val="85000"/>
                  <a:lumOff val="15000"/>
                </a:schemeClr>
              </a:solidFill>
              <a:effectLst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dirty="0" smtClean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• 为什么能做到：用一个虚拟节点把全图信息编进每个节点的表征，让节点既懂自己的局部邻域、也知道自己在整张图里的位置；再把「删谁」变成可微的打分问题，用连通性的即时收益当奖励</a:t>
            </a:r>
            <a:endParaRPr lang="zh-CN" altLang="en-US" dirty="0" smtClean="0">
              <a:solidFill>
                <a:schemeClr val="tx1">
                  <a:lumMod val="85000"/>
                  <a:lumOff val="15000"/>
                </a:schemeClr>
              </a:solidFill>
              <a:effectLst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dirty="0" smtClean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• 量化结论：Gnutella 上把残余 GCC 压到一半，代价从 HDA 的 40.3% 降到 14.1%；同样 0.2 的代价下，残余 GCC 从 GND 的 80.8% 降到 35.3%；Flickr 上比最强基线快 20 倍以上</a:t>
            </a:r>
            <a:endParaRPr lang="zh-CN" altLang="en-US" dirty="0" smtClean="0">
              <a:solidFill>
                <a:schemeClr val="tx1">
                  <a:lumMod val="85000"/>
                  <a:lumOff val="15000"/>
                </a:schemeClr>
              </a:solidFill>
              <a:effectLst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74320" y="3657600"/>
            <a:ext cx="54864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algn="l">
              <a:buClrTx/>
              <a:buSzTx/>
              <a:buFont typeface="Arial" panose="020B0604020202020204"/>
            </a:pPr>
            <a:r>
              <a:rPr lang="zh-CN" altLang="en-US" b="1">
                <a:solidFill>
                  <a:schemeClr val="accent3">
                    <a:lumMod val="75000"/>
                  </a:schemeClr>
                </a:solidFill>
                <a:latin typeface="ui-sans-serif"/>
                <a:ea typeface="ui-sans-serif"/>
                <a:sym typeface="+mn-ea"/>
              </a:rPr>
              <a:t>二、启发与可迁移点</a:t>
            </a:r>
            <a:endParaRPr lang="zh-CN" altLang="en-US" b="1">
              <a:solidFill>
                <a:schemeClr val="accent3">
                  <a:lumMod val="75000"/>
                </a:schemeClr>
              </a:solidFill>
              <a:latin typeface="ui-sans-serif"/>
              <a:ea typeface="ui-sans-serif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74320" y="4069080"/>
            <a:ext cx="11338560" cy="23774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• 可迁移：虚拟节点其实是「图级 readout 的廉价实现」，凡是需要全局上下文的图级任务都能借用；「小图训练、大图推理」的范式也适合算力受限的场景</a:t>
            </a:r>
            <a:endParaRPr lang="zh-CN" altLang="en-US" b="1" dirty="0" smtClean="0">
              <a:solidFill>
                <a:schemeClr val="tx1">
                  <a:lumMod val="85000"/>
                  <a:lumOff val="15000"/>
                </a:schemeClr>
              </a:solidFill>
              <a:effectLst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• 可改进：奖励只有 σ 一个标量，信号稀疏、方差大；论文缺系统消融，虚拟节点到底贡献多少，无法从论文本身判断</a:t>
            </a:r>
            <a:endParaRPr lang="zh-CN" altLang="en-US" b="1" dirty="0" smtClean="0">
              <a:solidFill>
                <a:schemeClr val="tx1">
                  <a:lumMod val="85000"/>
                  <a:lumOff val="15000"/>
                </a:schemeClr>
              </a:solidFill>
              <a:effectLst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• 复现风险与下一步：GRACO 的 FINDER baseline 没有实现虚拟节点，不能当忠实复现来用；下一步跑通官方代码，并补一个「去掉虚拟节点」的消融来回答上一条</a:t>
            </a:r>
            <a:endParaRPr lang="zh-CN" altLang="en-US" b="1" dirty="0" smtClean="0">
              <a:solidFill>
                <a:schemeClr val="tx1">
                  <a:lumMod val="85000"/>
                  <a:lumOff val="15000"/>
                </a:schemeClr>
              </a:solidFill>
              <a:effectLst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2897896" y="2965620"/>
            <a:ext cx="7043147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zh-CN" altLang="en-US" sz="4400" b="1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谢谢聆听！</a:t>
            </a:r>
            <a:endParaRPr lang="en-US" altLang="zh-CN" sz="4400" b="1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2839" y="6075803"/>
            <a:ext cx="3666321" cy="49087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3566160" y="3794760"/>
            <a:ext cx="50292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/>
            <a:r>
              <a:rPr lang="en-US" altLang="zh-CN" sz="1600" b="1" i="0">
                <a:solidFill>
                  <a:srgbClr val="0D0D0D"/>
                </a:solidFill>
                <a:latin typeface="ui-sans-serif"/>
                <a:ea typeface="ui-sans-serif"/>
              </a:rPr>
              <a:t>欢迎批评指正　｜　Q&amp;A</a:t>
            </a:r>
            <a:endParaRPr lang="zh-CN" altLang="en-US" sz="1600" b="0" i="0">
              <a:solidFill>
                <a:srgbClr val="0D0D0D"/>
              </a:solidFill>
              <a:latin typeface="ui-sans-serif"/>
              <a:ea typeface="ui-sans-serif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矩形 11"/>
          <p:cNvSpPr/>
          <p:nvPr/>
        </p:nvSpPr>
        <p:spPr>
          <a:xfrm>
            <a:off x="182880" y="1005840"/>
            <a:ext cx="2743200" cy="363855"/>
          </a:xfrm>
          <a:prstGeom prst="rect">
            <a:avLst/>
          </a:prstGeom>
          <a:noFill/>
          <a:ln w="28575">
            <a:solidFill>
              <a:schemeClr val="accent3">
                <a:lumMod val="75000"/>
              </a:schemeClr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3">
                    <a:lumMod val="75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91440" y="914400"/>
            <a:ext cx="3017520" cy="3860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>
                <a:solidFill>
                  <a:srgbClr val="FF0000"/>
                </a:solidFill>
                <a:latin typeface="ui-sans-serif"/>
                <a:ea typeface="ui-sans-serif"/>
                <a:sym typeface="+mn-ea"/>
              </a:rPr>
              <a:t>附：关键设计的代码对照</a:t>
            </a:r>
            <a:endParaRPr lang="zh-CN" altLang="en-US" sz="1600" b="1">
              <a:solidFill>
                <a:srgbClr val="0D0D0D"/>
              </a:solidFill>
              <a:latin typeface="ui-sans-serif"/>
              <a:ea typeface="ui-sans-serif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82880" y="1371600"/>
            <a:ext cx="1152144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algn="l">
              <a:buClrTx/>
              <a:buSzTx/>
              <a:buFont typeface="Arial" panose="020B0604020202020204"/>
            </a:pPr>
            <a:r>
              <a:rPr lang="zh-CN" altLang="en-US" b="1">
                <a:solidFill>
                  <a:schemeClr val="accent3">
                    <a:lumMod val="75000"/>
                  </a:schemeClr>
                </a:solidFill>
                <a:latin typeface="ui-sans-serif"/>
                <a:ea typeface="ui-sans-serif"/>
                <a:sym typeface="+mn-ea"/>
              </a:rPr>
              <a:t>五、从论文描述到代码实现</a:t>
            </a:r>
            <a:endParaRPr lang="zh-CN" altLang="en-US" b="1">
              <a:solidFill>
                <a:schemeClr val="accent3">
                  <a:lumMod val="75000"/>
                </a:schemeClr>
              </a:solidFill>
              <a:latin typeface="ui-sans-serif"/>
              <a:ea typeface="ui-sans-serif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28600" y="1828800"/>
            <a:ext cx="11521440" cy="402336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 sz="1250" b="1" i="0">
                <a:solidFill>
                  <a:schemeClr val="accent3">
                    <a:lumMod val="75000"/>
                  </a:schemeClr>
                </a:solidFill>
                <a:latin typeface="ui-sans-serif"/>
                <a:ea typeface="ui-sans-serif"/>
              </a:rPr>
              <a:t>• 聚合是「求和」而非均值：aggregatorID = 0 → 邻居权重恒为 1.0，不做度归一化（PrepareBatchGraph.cpp:253-275）</a:t>
            </a:r>
            <a:endParaRPr lang="zh-CN" altLang="en-US" sz="1250" b="1" i="0">
              <a:solidFill>
                <a:schemeClr val="accent3">
                  <a:lumMod val="75000"/>
                </a:schemeClr>
              </a:solidFill>
              <a:latin typeface="ui-sans-serif"/>
              <a:ea typeface="ui-sans-serif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 sz="1250" b="1" i="0">
                <a:solidFill>
                  <a:schemeClr val="accent3">
                    <a:lumMod val="75000"/>
                  </a:schemeClr>
                </a:solidFill>
                <a:latin typeface="ui-sans-serif"/>
                <a:ea typeface="ui-sans-serif"/>
              </a:rPr>
              <a:t>• 先各自乘权重、再拼接：邻居走 p_node_conv、自身走 w_self，拼接之后才过 w_n2l（FINDER.pyx:217-246）</a:t>
            </a:r>
            <a:endParaRPr lang="zh-CN" altLang="en-US" sz="1250" b="1" i="0">
              <a:solidFill>
                <a:schemeClr val="accent3">
                  <a:lumMod val="75000"/>
                </a:schemeClr>
              </a:solidFill>
              <a:latin typeface="ui-sans-serif"/>
              <a:ea typeface="ui-sans-serif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zh-CN" altLang="en-US" sz="1250" b="1" i="0">
                <a:solidFill>
                  <a:schemeClr val="accent3">
                    <a:lumMod val="75000"/>
                  </a:schemeClr>
                </a:solidFill>
                <a:latin typeface="ui-sans-serif"/>
                <a:ea typeface="ui-sans-serif"/>
              </a:rPr>
              <a:t>• Q 头 MLP 实际维度是 64 → 32 → 36 → 1，不是常见笔记里的 4096 → 128 → 64 → 1（FINDER.pyx:152-163）</a:t>
            </a:r>
            <a:endParaRPr lang="zh-CN" altLang="en-US" sz="1250" b="1" i="0">
              <a:solidFill>
                <a:schemeClr val="accent3">
                  <a:lumMod val="75000"/>
                </a:schemeClr>
              </a:solidFill>
              <a:latin typeface="ui-sans-serif"/>
              <a:ea typeface="ui-sans-serif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48640" y="6355080"/>
            <a:ext cx="1060704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/>
            <a:r>
              <a:rPr lang="en-US" altLang="zh-CN" sz="1600" b="1" i="0">
                <a:solidFill>
                  <a:srgbClr val="0D0D0D"/>
                </a:solidFill>
                <a:latin typeface="ui-sans-serif"/>
                <a:ea typeface="ui-sans-serif"/>
              </a:rPr>
              <a:t>其余差异（回放池 500000 vs 论文 50000 等）见配套清单：week2笔记-待修复清单.md</a:t>
            </a:r>
            <a:endParaRPr lang="zh-CN" altLang="en-US" sz="1600" b="0" i="0">
              <a:solidFill>
                <a:srgbClr val="0D0D0D"/>
              </a:solidFill>
              <a:latin typeface="ui-sans-serif"/>
              <a:ea typeface="ui-sans-serif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7200" y="2460000"/>
            <a:ext cx="11000000" cy="2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4E79"/>
                </a:solidFill>
                <a:latin typeface="微软雅黑"/>
                <a:ea typeface="微软雅黑"/>
              </a:rPr>
              <a:t>代码默认走的 case 0：邻居权重恒为 1.0；笔记里常写的「求平均」是 case 1，并不启用。</a:t>
            </a:r>
          </a:p>
        </p:txBody>
      </p:sp>
      <p:pic>
        <p:nvPicPr>
          <p:cNvPr id="16" name="Picture 15" descr="代码A-聚合是求和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30000"/>
            <a:ext cx="4200169" cy="1765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57200" y="4550000"/>
            <a:ext cx="11000000" cy="2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F4E79"/>
                </a:solidFill>
                <a:latin typeface="微软雅黑"/>
                <a:ea typeface="微软雅黑"/>
              </a:rPr>
              <a:t>两者乘的是同一个 p_node_conv —— 虚拟节点与真实节点共用一套卷积参数。</a:t>
            </a:r>
          </a:p>
        </p:txBody>
      </p:sp>
      <p:pic>
        <p:nvPicPr>
          <p:cNvPr id="18" name="Picture 17" descr="代码B-共用权重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820000"/>
            <a:ext cx="4936967" cy="1355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Office 主题​​">
  <a:themeElements>
    <a:clrScheme name="中大色系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00713D"/>
      </a:accent1>
      <a:accent2>
        <a:srgbClr val="49A343"/>
      </a:accent2>
      <a:accent3>
        <a:srgbClr val="0066CB"/>
      </a:accent3>
      <a:accent4>
        <a:srgbClr val="FFD148"/>
      </a:accent4>
      <a:accent5>
        <a:srgbClr val="A5A5A5"/>
      </a:accent5>
      <a:accent6>
        <a:srgbClr val="C9C9C9"/>
      </a:accent6>
      <a:hlink>
        <a:srgbClr val="4472C4"/>
      </a:hlink>
      <a:folHlink>
        <a:srgbClr val="BFBFBF"/>
      </a:folHlink>
    </a:clrScheme>
    <a:fontScheme name="宋体+Times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ctr">
          <a:lnSpc>
            <a:spcPct val="120000"/>
          </a:lnSpc>
          <a:spcBef>
            <a:spcPts val="0"/>
          </a:spcBef>
          <a:spcAft>
            <a:spcPts val="0"/>
          </a:spcAft>
          <a:defRPr sz="1200" dirty="0" smtClean="0">
            <a:solidFill>
              <a:schemeClr val="tx1">
                <a:lumMod val="85000"/>
                <a:lumOff val="15000"/>
              </a:schemeClr>
            </a:solidFill>
            <a:effectLst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中大色系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00713D"/>
      </a:accent1>
      <a:accent2>
        <a:srgbClr val="49A343"/>
      </a:accent2>
      <a:accent3>
        <a:srgbClr val="0066CB"/>
      </a:accent3>
      <a:accent4>
        <a:srgbClr val="FFD148"/>
      </a:accent4>
      <a:accent5>
        <a:srgbClr val="A5A5A5"/>
      </a:accent5>
      <a:accent6>
        <a:srgbClr val="C9C9C9"/>
      </a:accent6>
      <a:hlink>
        <a:srgbClr val="4472C4"/>
      </a:hlink>
      <a:folHlink>
        <a:srgbClr val="BFBFBF"/>
      </a:folHlink>
    </a:clrScheme>
    <a:fontScheme name="宋体+Times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ctr">
          <a:lnSpc>
            <a:spcPct val="120000"/>
          </a:lnSpc>
          <a:spcBef>
            <a:spcPts val="0"/>
          </a:spcBef>
          <a:spcAft>
            <a:spcPts val="0"/>
          </a:spcAft>
          <a:defRPr sz="1200" dirty="0" smtClean="0">
            <a:solidFill>
              <a:schemeClr val="tx1">
                <a:lumMod val="85000"/>
                <a:lumOff val="15000"/>
              </a:schemeClr>
            </a:solidFill>
            <a:effectLst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1392</Words>
  <Application>WPS 演示</Application>
  <PresentationFormat>宽屏</PresentationFormat>
  <Paragraphs>105</Paragraphs>
  <Slides>10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29" baseType="lpstr">
      <vt:lpstr>Arial</vt:lpstr>
      <vt:lpstr>宋体</vt:lpstr>
      <vt:lpstr>Wingdings</vt:lpstr>
      <vt:lpstr>等线</vt:lpstr>
      <vt:lpstr>微软雅黑</vt:lpstr>
      <vt:lpstr>Times New Roman</vt:lpstr>
      <vt:lpstr>华文中宋</vt:lpstr>
      <vt:lpstr>-apple-system</vt:lpstr>
      <vt:lpstr>ui-sans-serif</vt:lpstr>
      <vt:lpstr>Arial</vt:lpstr>
      <vt:lpstr>Times New Roman</vt:lpstr>
      <vt:lpstr>Arial Unicode MS</vt:lpstr>
      <vt:lpstr>-apple-system</vt:lpstr>
      <vt:lpstr>Wingdings</vt:lpstr>
      <vt:lpstr>ui-sans-serif</vt:lpstr>
      <vt:lpstr>Be Happy</vt:lpstr>
      <vt:lpstr>黑体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海阔天空</cp:lastModifiedBy>
  <cp:revision>295</cp:revision>
  <dcterms:created xsi:type="dcterms:W3CDTF">2022-02-19T02:21:00Z</dcterms:created>
  <dcterms:modified xsi:type="dcterms:W3CDTF">2026-09-20T10:46:12Z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BEC7DF6A7FC64170BF325211EBBBCCD6_13</vt:lpwstr>
  </property>
  <property fmtid="{D5CDD505-2E9C-101B-9397-08002B2CF9AE}" pid="3" name="KSOProductBuildVer">
    <vt:lpwstr>2052-12.1.0.28505</vt:lpwstr>
  </property>
</Properties>
</file>