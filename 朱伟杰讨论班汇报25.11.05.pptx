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69" r:id="rId3"/>
  </p:sldMasterIdLst>
  <p:notesMasterIdLst>
    <p:notesMasterId r:id="rId6"/>
  </p:notesMasterIdLst>
  <p:handoutMasterIdLst>
    <p:handoutMasterId r:id="rId26"/>
  </p:handoutMasterIdLst>
  <p:sldIdLst>
    <p:sldId id="570" r:id="rId4"/>
    <p:sldId id="266" r:id="rId5"/>
    <p:sldId id="571" r:id="rId7"/>
    <p:sldId id="572" r:id="rId8"/>
    <p:sldId id="574" r:id="rId9"/>
    <p:sldId id="575" r:id="rId10"/>
    <p:sldId id="576" r:id="rId11"/>
    <p:sldId id="577" r:id="rId12"/>
    <p:sldId id="583" r:id="rId13"/>
    <p:sldId id="578" r:id="rId14"/>
    <p:sldId id="579" r:id="rId15"/>
    <p:sldId id="580" r:id="rId16"/>
    <p:sldId id="581" r:id="rId17"/>
    <p:sldId id="582" r:id="rId18"/>
    <p:sldId id="584" r:id="rId19"/>
    <p:sldId id="585" r:id="rId20"/>
    <p:sldId id="586" r:id="rId21"/>
    <p:sldId id="587" r:id="rId22"/>
    <p:sldId id="588" r:id="rId23"/>
    <p:sldId id="589" r:id="rId24"/>
    <p:sldId id="59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陈舒平" initials="陈" lastIdx="2" clrIdx="0"/>
  <p:cmAuthor id="2" name="李俊杰" initials="李俊杰" lastIdx="5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88449"/>
    <a:srgbClr val="003D8C"/>
    <a:srgbClr val="003366"/>
    <a:srgbClr val="58977B"/>
    <a:srgbClr val="BEC14F"/>
    <a:srgbClr val="C2E0FF"/>
    <a:srgbClr val="007437"/>
    <a:srgbClr val="B08E6C"/>
    <a:srgbClr val="255222"/>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89" autoAdjust="0"/>
    <p:restoredTop sz="95664" autoAdjust="0"/>
  </p:normalViewPr>
  <p:slideViewPr>
    <p:cSldViewPr snapToGrid="0">
      <p:cViewPr varScale="1">
        <p:scale>
          <a:sx n="96" d="100"/>
          <a:sy n="96" d="100"/>
        </p:scale>
        <p:origin x="712" y="56"/>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F3349EB-802B-4ADF-8BE5-CB4BF9A18A9D}"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B1CBC3-BCAE-4C05-950C-2BB7B521F94D}"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6DF54F-F791-40A7-84BE-11DDFAE72E8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70EE7-2ED4-48DC-956B-CD5D5847742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我来自信息与计算科学</a:t>
            </a:r>
            <a:endParaRPr lang="zh-CN" altLang="en-US" dirty="0"/>
          </a:p>
          <a:p>
            <a:r>
              <a:rPr lang="zh-CN" altLang="en-US" dirty="0"/>
              <a:t>目前担任武汉理工大学数模协会的副会长和创新开放实验室的项目部部长</a:t>
            </a:r>
            <a:endParaRPr lang="zh-CN" altLang="en-US" dirty="0"/>
          </a:p>
          <a:p>
            <a:r>
              <a:rPr lang="zh-CN" altLang="en-US" dirty="0"/>
              <a:t>这是学生的个人主页</a:t>
            </a:r>
            <a:endParaRPr lang="zh-CN" altLang="en-US" dirty="0"/>
          </a:p>
          <a:p>
            <a:r>
              <a:rPr lang="zh-CN" altLang="en-US" dirty="0"/>
              <a:t>曾在模式识别、智能计算、数值计算等课程取得优异成绩</a:t>
            </a:r>
            <a:endParaRPr lang="zh-CN" altLang="en-US" dirty="0"/>
          </a:p>
          <a:p>
            <a:r>
              <a:rPr lang="zh-CN" altLang="en-US" dirty="0"/>
              <a:t>专业技能有目标检测应用、时空序列分析、多模态</a:t>
            </a:r>
            <a:r>
              <a:rPr lang="en-US" altLang="zh-CN" dirty="0"/>
              <a:t> </a:t>
            </a:r>
            <a:r>
              <a:rPr lang="zh-CN" altLang="en-US" dirty="0"/>
              <a:t>时间序列对齐，</a:t>
            </a:r>
            <a:r>
              <a:rPr lang="en-US" altLang="zh-CN" dirty="0"/>
              <a:t>LLM</a:t>
            </a:r>
            <a:r>
              <a:rPr lang="zh-CN" altLang="en-US" dirty="0"/>
              <a:t>的部署与微调、</a:t>
            </a:r>
            <a:r>
              <a:rPr lang="en-US" altLang="zh-CN" dirty="0"/>
              <a:t>MCP Server</a:t>
            </a:r>
            <a:endParaRPr lang="en-US" altLang="zh-CN" dirty="0"/>
          </a:p>
          <a:p>
            <a:r>
              <a:rPr lang="zh-CN" altLang="en-US" dirty="0"/>
              <a:t>因科研竞赛突出，可以获得保研名额</a:t>
            </a:r>
            <a:endParaRPr lang="zh-CN" altLang="en-US" dirty="0"/>
          </a:p>
        </p:txBody>
      </p:sp>
      <p:sp>
        <p:nvSpPr>
          <p:cNvPr id="4" name="灯片编号占位符 3"/>
          <p:cNvSpPr>
            <a:spLocks noGrp="1"/>
          </p:cNvSpPr>
          <p:nvPr>
            <p:ph type="sldNum" sz="quarter" idx="5"/>
          </p:nvPr>
        </p:nvSpPr>
        <p:spPr/>
        <p:txBody>
          <a:bodyPr/>
          <a:lstStyle/>
          <a:p>
            <a:fld id="{E8570EE7-2ED4-48DC-956B-CD5D5847742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这张图展示了塔斯曼海</a:t>
            </a:r>
            <a:r>
              <a:rPr lang="en-US" altLang="zh-CN"/>
              <a:t>2015–2016</a:t>
            </a:r>
            <a:r>
              <a:rPr lang="zh-CN" altLang="en-US"/>
              <a:t>年海洋热浪的形成过程，用观测数据验证了前面混合层热收支方程所描述的机制。</a:t>
            </a:r>
            <a:endParaRPr lang="zh-CN" altLang="en-US"/>
          </a:p>
          <a:p>
            <a:r>
              <a:rPr lang="zh-CN" altLang="en-US"/>
              <a:t>可以清楚看到：在该事件中，表层吸热增强、混合层变浅以及暖流输送共同作用，导致海洋上层热量异常积聚，从而形成并维持了强烈的</a:t>
            </a:r>
            <a:r>
              <a:rPr lang="en-US" altLang="zh-CN"/>
              <a:t>MHW</a:t>
            </a:r>
            <a:r>
              <a:rPr lang="zh-CN" altLang="en-US"/>
              <a:t>。</a:t>
            </a:r>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E8570EE7-2ED4-48DC-956B-CD5D5847742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E80D30-CC64-456A-9E13-063D8AE374D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研究进展与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痛点</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391660" y="238760"/>
            <a:ext cx="1450975"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研究背景与</a:t>
            </a:r>
            <a:r>
              <a:rPr lang="zh-CN" altLang="en-US" sz="1600" b="1" dirty="0">
                <a:solidFill>
                  <a:schemeClr val="bg1"/>
                </a:solidFill>
                <a:latin typeface="微软雅黑" panose="020B0503020204020204" pitchFamily="34" charset="-122"/>
                <a:ea typeface="微软雅黑" panose="020B0503020204020204" pitchFamily="34" charset="-122"/>
              </a:rPr>
              <a:t>意义</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物理信息融合</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机理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结论与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391660" y="246380"/>
            <a:ext cx="1450975"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研究背景与意义</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物理信息融合</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机理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结论与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7" name="矩形 6"/>
          <p:cNvSpPr/>
          <p:nvPr userDrawn="1"/>
        </p:nvSpPr>
        <p:spPr>
          <a:xfrm>
            <a:off x="6024262" y="0"/>
            <a:ext cx="1666001" cy="792000"/>
          </a:xfrm>
          <a:prstGeom prst="rect">
            <a:avLst/>
          </a:prstGeom>
          <a:solidFill>
            <a:srgbClr val="003D8C"/>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等腰三角形 7"/>
          <p:cNvSpPr/>
          <p:nvPr userDrawn="1"/>
        </p:nvSpPr>
        <p:spPr>
          <a:xfrm>
            <a:off x="668126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研究进展与痛点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研究进展与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痛点</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391660" y="246380"/>
            <a:ext cx="1450975" cy="340995"/>
          </a:xfrm>
          <a:prstGeom prst="rect">
            <a:avLst/>
          </a:prstGeom>
          <a:noFill/>
        </p:spPr>
        <p:txBody>
          <a:bodyPr wrap="square" lIns="0" tIns="48000" rIns="0" bIns="48000" rtlCol="0">
            <a:spAutoFit/>
          </a:bodyPr>
          <a:lstStyle/>
          <a:p>
            <a:pPr algn="ctr">
              <a:buClrTx/>
              <a:buSzTx/>
              <a:buFontTx/>
            </a:pP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研究背景与意义</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结论与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7" name="矩形 6"/>
          <p:cNvSpPr/>
          <p:nvPr userDrawn="1"/>
        </p:nvSpPr>
        <p:spPr>
          <a:xfrm>
            <a:off x="804483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等腰三角形 7"/>
          <p:cNvSpPr/>
          <p:nvPr userDrawn="1"/>
        </p:nvSpPr>
        <p:spPr>
          <a:xfrm>
            <a:off x="870183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rPr>
              <a:t>物理信息融合机理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研究进展与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痛点</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391660" y="238760"/>
            <a:ext cx="1450975" cy="340995"/>
          </a:xfrm>
          <a:prstGeom prst="rect">
            <a:avLst/>
          </a:prstGeom>
          <a:noFill/>
        </p:spPr>
        <p:txBody>
          <a:bodyPr wrap="square" lIns="0" tIns="48000" rIns="0" bIns="48000" rtlCol="0">
            <a:spAutoFit/>
          </a:bodyPr>
          <a:lstStyle/>
          <a:p>
            <a:pPr algn="ctr">
              <a:buClrTx/>
              <a:buSzTx/>
              <a:buFontTx/>
            </a:pP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研究背景与意义</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物理信息融合</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机理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7" name="矩形 6"/>
          <p:cNvSpPr/>
          <p:nvPr userDrawn="1"/>
        </p:nvSpPr>
        <p:spPr>
          <a:xfrm>
            <a:off x="10100310" y="0"/>
            <a:ext cx="1551940" cy="791845"/>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等腰三角形 7"/>
          <p:cNvSpPr/>
          <p:nvPr userDrawn="1"/>
        </p:nvSpPr>
        <p:spPr>
          <a:xfrm>
            <a:off x="10703989"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schemeClr val="bg1"/>
                </a:solidFill>
                <a:latin typeface="微软雅黑" panose="020B0503020204020204" pitchFamily="34" charset="-122"/>
                <a:ea typeface="微软雅黑" panose="020B0503020204020204" pitchFamily="34" charset="-122"/>
              </a:rPr>
              <a:t>结论与启发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9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FDE32B-6F2B-444E-8057-3FEDBC04F142}"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矩形 21"/>
          <p:cNvSpPr/>
          <p:nvPr userDrawn="1"/>
        </p:nvSpPr>
        <p:spPr>
          <a:xfrm>
            <a:off x="5952900" y="0"/>
            <a:ext cx="1701799"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66278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科研论文</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36"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
        <p:nvSpPr>
          <p:cNvPr id="4" name="TextBox 6"/>
          <p:cNvSpPr txBox="1"/>
          <p:nvPr userDrawn="1"/>
        </p:nvSpPr>
        <p:spPr>
          <a:xfrm>
            <a:off x="6096000" y="215903"/>
            <a:ext cx="1344000" cy="340995"/>
          </a:xfrm>
          <a:prstGeom prst="rect">
            <a:avLst/>
          </a:prstGeom>
          <a:noFill/>
        </p:spPr>
        <p:txBody>
          <a:bodyPr wrap="square" lIns="0" tIns="48000" rIns="0" bIns="48000" rtlCol="0">
            <a:spAutoFit/>
          </a:bodyPr>
          <a:lstStyle/>
          <a:p>
            <a:pPr algn="ctr"/>
            <a:r>
              <a:rPr lang="zh-CN" altLang="en-US" sz="1600" b="1" kern="1200" dirty="0">
                <a:solidFill>
                  <a:schemeClr val="bg1"/>
                </a:solidFill>
                <a:latin typeface="微软雅黑" panose="020B0503020204020204" pitchFamily="34" charset="-122"/>
                <a:ea typeface="微软雅黑" panose="020B0503020204020204" pitchFamily="34" charset="-122"/>
                <a:cs typeface="+mn-cs"/>
              </a:rPr>
              <a:t>项目经历</a:t>
            </a:r>
            <a:endParaRPr lang="zh-CN" altLang="en-US" sz="1600" b="1" kern="1200" dirty="0">
              <a:solidFill>
                <a:schemeClr val="bg1"/>
              </a:solidFill>
              <a:latin typeface="微软雅黑" panose="020B0503020204020204" pitchFamily="34" charset="-122"/>
              <a:ea typeface="微软雅黑" panose="020B0503020204020204" pitchFamily="34" charset="-122"/>
              <a:cs typeface="+mn-cs"/>
            </a:endParaRPr>
          </a:p>
        </p:txBody>
      </p:sp>
      <p:cxnSp>
        <p:nvCxnSpPr>
          <p:cNvPr id="5" name="直接连接符 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近期学习</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个人介绍</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1026"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近期学习</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个人介绍</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1026"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4757B21-2C49-445E-9795-D323DB908675}"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矩形 21"/>
          <p:cNvSpPr/>
          <p:nvPr userDrawn="1"/>
        </p:nvSpPr>
        <p:spPr>
          <a:xfrm>
            <a:off x="59707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66278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竞赛经历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36" name="页脚占位符 2"/>
          <p:cNvSpPr>
            <a:spLocks noGrp="1"/>
          </p:cNvSpPr>
          <p:nvPr userDrawn="1">
            <p:ph type="ftr" sz="quarter" idx="11"/>
          </p:nvPr>
        </p:nvSpPr>
        <p:spPr>
          <a:xfrm>
            <a:off x="4038600" y="6572908"/>
            <a:ext cx="6805000" cy="163350"/>
          </a:xfrm>
          <a:prstGeom prst="rect">
            <a:avLst/>
          </a:prstGeom>
        </p:spPr>
        <p:txBody>
          <a:bodyPr/>
          <a:lstStyle>
            <a:lvl1pPr>
              <a:defRPr sz="1200">
                <a:solidFill>
                  <a:schemeClr val="bg2">
                    <a:lumMod val="50000"/>
                  </a:schemeClr>
                </a:solidFill>
              </a:defRPr>
            </a:lvl1pPr>
          </a:lstStyle>
          <a:p>
            <a:pPr algn="ctr"/>
            <a:endParaRPr lang="zh-CN" altLang="en-US" dirty="0"/>
          </a:p>
        </p:txBody>
      </p:sp>
      <p:sp>
        <p:nvSpPr>
          <p:cNvPr id="29" name="矩形 28"/>
          <p:cNvSpPr/>
          <p:nvPr/>
        </p:nvSpPr>
        <p:spPr>
          <a:xfrm>
            <a:off x="0" y="795427"/>
            <a:ext cx="1847215" cy="6071463"/>
          </a:xfrm>
          <a:prstGeom prst="rect">
            <a:avLst/>
          </a:prstGeom>
          <a:solidFill>
            <a:srgbClr val="003D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78202" y="5656716"/>
            <a:ext cx="690809" cy="691810"/>
          </a:xfrm>
          <a:prstGeom prst="rect">
            <a:avLst/>
          </a:prstGeom>
        </p:spPr>
      </p:pic>
      <p:sp>
        <p:nvSpPr>
          <p:cNvPr id="10" name="标题 1"/>
          <p:cNvSpPr txBox="1"/>
          <p:nvPr userDrawn="1"/>
        </p:nvSpPr>
        <p:spPr>
          <a:xfrm>
            <a:off x="1847214" y="836678"/>
            <a:ext cx="10344786" cy="748447"/>
          </a:xfrm>
          <a:prstGeom prst="rect">
            <a:avLst/>
          </a:prstGeom>
          <a:solidFill>
            <a:schemeClr val="accent3">
              <a:lumMod val="20000"/>
              <a:lumOff val="80000"/>
            </a:schemeClr>
          </a:solidFill>
          <a:ln>
            <a:noFill/>
          </a:ln>
          <a:effectLst/>
        </p:spPr>
        <p:txBody>
          <a:bodyPr wrap="square" lIns="79553" tIns="39776" rIns="79553" bIns="39776">
            <a:noAutofit/>
          </a:bodyPr>
          <a:lstStyle>
            <a:lvl1pPr algn="l" defTabSz="914400" rtl="0" eaLnBrk="1" latinLnBrk="0" hangingPunct="1">
              <a:lnSpc>
                <a:spcPct val="90000"/>
              </a:lnSpc>
              <a:spcBef>
                <a:spcPct val="0"/>
              </a:spcBef>
              <a:buNone/>
              <a:defRPr sz="4400" kern="1200">
                <a:solidFill>
                  <a:schemeClr val="tx1"/>
                </a:solidFill>
              </a:defRPr>
            </a:lvl1pPr>
          </a:lstStyle>
          <a:p>
            <a:pPr algn="ctr">
              <a:lnSpc>
                <a:spcPct val="150000"/>
              </a:lnSpc>
            </a:pPr>
            <a:r>
              <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   基于多目标规划和布谷鸟算法的换电站选址及调度策略</a:t>
            </a: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近期学习</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个人介绍</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1026"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B64360-6CCE-4D03-99DB-F61F26084D93}"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科研经历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7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B64360-6CCE-4D03-99DB-F61F26084D93}"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科研经历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
        <p:nvSpPr>
          <p:cNvPr id="4" name="日期占位符 1"/>
          <p:cNvSpPr txBox="1"/>
          <p:nvPr userDrawn="1"/>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4757B21-2C49-445E-9795-D323DB908675}" type="datetime1">
              <a:rPr lang="zh-CN" altLang="en-US" smtClean="0"/>
            </a:fld>
            <a:endParaRPr lang="zh-CN" altLang="en-US"/>
          </a:p>
        </p:txBody>
      </p:sp>
      <p:sp>
        <p:nvSpPr>
          <p:cNvPr id="5" name="矩形 4"/>
          <p:cNvSpPr/>
          <p:nvPr userDrawn="1"/>
        </p:nvSpPr>
        <p:spPr>
          <a:xfrm>
            <a:off x="0" y="795427"/>
            <a:ext cx="1847215" cy="6071463"/>
          </a:xfrm>
          <a:prstGeom prst="rect">
            <a:avLst/>
          </a:prstGeom>
          <a:solidFill>
            <a:srgbClr val="003D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78202" y="5656716"/>
            <a:ext cx="690809" cy="691810"/>
          </a:xfrm>
          <a:prstGeom prst="rect">
            <a:avLst/>
          </a:prstGeom>
        </p:spPr>
      </p:pic>
      <p:sp>
        <p:nvSpPr>
          <p:cNvPr id="7" name="标题 1"/>
          <p:cNvSpPr txBox="1"/>
          <p:nvPr userDrawn="1"/>
        </p:nvSpPr>
        <p:spPr>
          <a:xfrm>
            <a:off x="1847214" y="836678"/>
            <a:ext cx="10344786" cy="748447"/>
          </a:xfrm>
          <a:prstGeom prst="rect">
            <a:avLst/>
          </a:prstGeom>
          <a:solidFill>
            <a:schemeClr val="accent3">
              <a:lumMod val="20000"/>
              <a:lumOff val="80000"/>
            </a:schemeClr>
          </a:solidFill>
          <a:ln>
            <a:noFill/>
          </a:ln>
          <a:effectLst/>
        </p:spPr>
        <p:txBody>
          <a:bodyPr wrap="square" lIns="79553" tIns="39776" rIns="79553" bIns="39776">
            <a:noAutofit/>
          </a:bodyPr>
          <a:lstStyle>
            <a:lvl1pPr algn="l" defTabSz="914400" rtl="0" eaLnBrk="1" latinLnBrk="0" hangingPunct="1">
              <a:lnSpc>
                <a:spcPct val="90000"/>
              </a:lnSpc>
              <a:spcBef>
                <a:spcPct val="0"/>
              </a:spcBef>
              <a:buNone/>
              <a:defRPr sz="4400" kern="1200">
                <a:solidFill>
                  <a:schemeClr val="tx1"/>
                </a:solidFill>
              </a:defRPr>
            </a:lvl1pPr>
          </a:lstStyle>
          <a:p>
            <a:pPr algn="ctr">
              <a:lnSpc>
                <a:spcPct val="150000"/>
              </a:lnSpc>
            </a:pPr>
            <a:r>
              <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   基于多目标规划和布谷鸟算法的换电站选址及调度策略</a:t>
            </a: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8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B64360-6CCE-4D03-99DB-F61F26084D93}"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科研经历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
        <p:nvSpPr>
          <p:cNvPr id="4" name="日期占位符 1"/>
          <p:cNvSpPr txBox="1"/>
          <p:nvPr userDrawn="1"/>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4757B21-2C49-445E-9795-D323DB908675}" type="datetime1">
              <a:rPr lang="zh-CN" altLang="en-US" smtClean="0"/>
            </a:fld>
            <a:endParaRPr lang="zh-CN" altLang="en-US"/>
          </a:p>
        </p:txBody>
      </p:sp>
      <p:sp>
        <p:nvSpPr>
          <p:cNvPr id="5" name="矩形 4"/>
          <p:cNvSpPr/>
          <p:nvPr userDrawn="1"/>
        </p:nvSpPr>
        <p:spPr>
          <a:xfrm>
            <a:off x="0" y="795427"/>
            <a:ext cx="1847215" cy="6071463"/>
          </a:xfrm>
          <a:prstGeom prst="rect">
            <a:avLst/>
          </a:prstGeom>
          <a:solidFill>
            <a:srgbClr val="003D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78202" y="5656716"/>
            <a:ext cx="690809" cy="691810"/>
          </a:xfrm>
          <a:prstGeom prst="rect">
            <a:avLst/>
          </a:prstGeom>
        </p:spPr>
      </p:pic>
      <p:sp>
        <p:nvSpPr>
          <p:cNvPr id="7" name="标题 1"/>
          <p:cNvSpPr txBox="1"/>
          <p:nvPr userDrawn="1"/>
        </p:nvSpPr>
        <p:spPr>
          <a:xfrm>
            <a:off x="1847214" y="836678"/>
            <a:ext cx="10344786" cy="748447"/>
          </a:xfrm>
          <a:prstGeom prst="rect">
            <a:avLst/>
          </a:prstGeom>
          <a:solidFill>
            <a:schemeClr val="accent3">
              <a:lumMod val="20000"/>
              <a:lumOff val="80000"/>
            </a:schemeClr>
          </a:solidFill>
          <a:ln>
            <a:noFill/>
          </a:ln>
          <a:effectLst/>
        </p:spPr>
        <p:txBody>
          <a:bodyPr wrap="square" lIns="79553" tIns="39776" rIns="79553" bIns="39776">
            <a:noAutofit/>
          </a:bodyPr>
          <a:lstStyle>
            <a:lvl1pPr algn="l" defTabSz="914400" rtl="0" eaLnBrk="1" latinLnBrk="0" hangingPunct="1">
              <a:lnSpc>
                <a:spcPct val="90000"/>
              </a:lnSpc>
              <a:spcBef>
                <a:spcPct val="0"/>
              </a:spcBef>
              <a:buNone/>
              <a:defRPr sz="4400" kern="1200">
                <a:solidFill>
                  <a:schemeClr val="tx1"/>
                </a:solidFill>
              </a:defRPr>
            </a:lvl1pPr>
          </a:lstStyle>
          <a:p>
            <a:pPr marL="0" marR="0" lvl="0" indent="0" algn="ctr" defTabSz="914400" rtl="0" eaLnBrk="1" fontAlgn="auto" latinLnBrk="0" hangingPunct="1">
              <a:lnSpc>
                <a:spcPct val="150000"/>
              </a:lnSpc>
              <a:spcBef>
                <a:spcPct val="0"/>
              </a:spcBef>
              <a:spcAft>
                <a:spcPts val="0"/>
              </a:spcAft>
              <a:buClrTx/>
              <a:buSzTx/>
              <a:buFontTx/>
              <a:buNone/>
              <a:defRPr/>
            </a:pPr>
            <a:r>
              <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   </a:t>
            </a:r>
            <a:r>
              <a:rPr lang="en-US" altLang="zh-CN"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Grasping ecology with one hand and economy with the other</a:t>
            </a: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50000"/>
              </a:lnSpc>
            </a:pP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E30D6E8-72C1-4297-8423-D9E4388BE142}"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科研竞赛经历</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8" name="矩形 7"/>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schemeClr val="bg1"/>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9" name="等腰三角形 8"/>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12" name="直接连接符 11"/>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0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E30D6E8-72C1-4297-8423-D9E4388BE142}"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73970"/>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研究生计划</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C413FED-E324-46EB-A0CE-245DBD0BCFF0}" type="datetime1">
              <a:rPr lang="zh-CN" altLang="en-US" smtClean="0"/>
            </a:fld>
            <a:endParaRPr lang="zh-CN" altLang="en-US"/>
          </a:p>
        </p:txBody>
      </p:sp>
      <p:sp>
        <p:nvSpPr>
          <p:cNvPr id="4"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DACF80-1CBA-4673-8A95-71174BF4DE44}" type="datetime1">
              <a:rPr lang="zh-CN" altLang="en-US" smtClean="0"/>
            </a:fld>
            <a:endParaRPr lang="zh-CN" altLang="en-US"/>
          </a:p>
        </p:txBody>
      </p:sp>
      <p:sp>
        <p:nvSpPr>
          <p:cNvPr id="4"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01893EC-4A51-4A66-A41D-93D2FD008B19}" type="datetime1">
              <a:rPr lang="zh-CN" altLang="en-US" smtClean="0"/>
            </a:fld>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solidFill>
                  <a:schemeClr val="bg2">
                    <a:lumMod val="50000"/>
                  </a:schemeClr>
                </a:solidFill>
              </a:defRPr>
            </a:lvl1pPr>
          </a:lstStyle>
          <a:p>
            <a:fld id="{6EBB307F-9B35-4682-BDAD-5A15872FBB74}" type="slidenum">
              <a:rPr lang="zh-CN" altLang="en-US" smtClean="0"/>
            </a:fld>
            <a:endParaRPr lang="zh-CN" altLang="en-US"/>
          </a:p>
        </p:txBody>
      </p:sp>
      <p:sp>
        <p:nvSpPr>
          <p:cNvPr id="7"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有背景图内容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研究进展与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痛点</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391660" y="238760"/>
            <a:ext cx="1450975"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研究背景与</a:t>
            </a:r>
            <a:r>
              <a:rPr lang="zh-CN" altLang="en-US" sz="1600" b="1" dirty="0">
                <a:solidFill>
                  <a:schemeClr val="bg1"/>
                </a:solidFill>
                <a:latin typeface="微软雅黑" panose="020B0503020204020204" pitchFamily="34" charset="-122"/>
                <a:ea typeface="微软雅黑" panose="020B0503020204020204" pitchFamily="34" charset="-122"/>
              </a:rPr>
              <a:t>意义</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物理信息融合</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机理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结论与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391660" y="246380"/>
            <a:ext cx="1450975"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研究背景与意义</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物理信息融合</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机理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结论与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7" name="矩形 6"/>
          <p:cNvSpPr/>
          <p:nvPr userDrawn="1"/>
        </p:nvSpPr>
        <p:spPr>
          <a:xfrm>
            <a:off x="6024262" y="0"/>
            <a:ext cx="1666001" cy="792000"/>
          </a:xfrm>
          <a:prstGeom prst="rect">
            <a:avLst/>
          </a:prstGeom>
          <a:solidFill>
            <a:srgbClr val="003D8C"/>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等腰三角形 7"/>
          <p:cNvSpPr/>
          <p:nvPr userDrawn="1"/>
        </p:nvSpPr>
        <p:spPr>
          <a:xfrm>
            <a:off x="668126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研究进展与痛点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研究进展与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痛点</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391660" y="246380"/>
            <a:ext cx="1450975" cy="340995"/>
          </a:xfrm>
          <a:prstGeom prst="rect">
            <a:avLst/>
          </a:prstGeom>
          <a:noFill/>
        </p:spPr>
        <p:txBody>
          <a:bodyPr wrap="square" lIns="0" tIns="48000" rIns="0" bIns="48000" rtlCol="0">
            <a:spAutoFit/>
          </a:bodyPr>
          <a:lstStyle/>
          <a:p>
            <a:pPr algn="ctr">
              <a:buClrTx/>
              <a:buSzTx/>
              <a:buFontTx/>
            </a:pP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研究背景与意义</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结论与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7" name="矩形 6"/>
          <p:cNvSpPr/>
          <p:nvPr userDrawn="1"/>
        </p:nvSpPr>
        <p:spPr>
          <a:xfrm>
            <a:off x="804483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等腰三角形 7"/>
          <p:cNvSpPr/>
          <p:nvPr userDrawn="1"/>
        </p:nvSpPr>
        <p:spPr>
          <a:xfrm>
            <a:off x="870183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rPr>
              <a:t>物理信息融合机理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5989320" y="246380"/>
            <a:ext cx="1651000" cy="340995"/>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研究进展与</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痛点</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76137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391660" y="238760"/>
            <a:ext cx="1450975" cy="340995"/>
          </a:xfrm>
          <a:prstGeom prst="rect">
            <a:avLst/>
          </a:prstGeom>
          <a:noFill/>
        </p:spPr>
        <p:txBody>
          <a:bodyPr wrap="square" lIns="0" tIns="48000" rIns="0" bIns="48000" rtlCol="0">
            <a:spAutoFit/>
          </a:bodyPr>
          <a:lstStyle/>
          <a:p>
            <a:pPr algn="ctr">
              <a:buClrTx/>
              <a:buSzTx/>
              <a:buFontTx/>
            </a:pP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研究背景与意义</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
        <p:nvSpPr>
          <p:cNvPr id="4" name="TextBox 6"/>
          <p:cNvSpPr txBox="1"/>
          <p:nvPr userDrawn="1"/>
        </p:nvSpPr>
        <p:spPr>
          <a:xfrm>
            <a:off x="8044815" y="246380"/>
            <a:ext cx="1651000" cy="340995"/>
          </a:xfrm>
          <a:prstGeom prst="rect">
            <a:avLst/>
          </a:prstGeom>
          <a:noFill/>
        </p:spPr>
        <p:txBody>
          <a:bodyPr wrap="square" lIns="0" tIns="48000" rIns="0" bIns="48000" rtlCol="0">
            <a:spAutoFit/>
          </a:bodyPr>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物理信息融合</a:t>
            </a: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机理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9978799" y="285092"/>
            <a:ext cx="0" cy="245816"/>
          </a:xfrm>
          <a:prstGeom prst="line">
            <a:avLst/>
          </a:prstGeom>
          <a:noFill/>
          <a:ln w="6350" cap="flat" cmpd="sng" algn="ctr">
            <a:solidFill>
              <a:sysClr val="window" lastClr="FFFFFF">
                <a:lumMod val="75000"/>
              </a:sysClr>
            </a:solidFill>
            <a:prstDash val="solid"/>
            <a:miter lim="800000"/>
          </a:ln>
          <a:effectLst/>
        </p:spPr>
      </p:cxnSp>
      <p:sp>
        <p:nvSpPr>
          <p:cNvPr id="7" name="矩形 6"/>
          <p:cNvSpPr/>
          <p:nvPr userDrawn="1"/>
        </p:nvSpPr>
        <p:spPr>
          <a:xfrm>
            <a:off x="10100310" y="0"/>
            <a:ext cx="1551940" cy="791845"/>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等腰三角形 7"/>
          <p:cNvSpPr/>
          <p:nvPr userDrawn="1"/>
        </p:nvSpPr>
        <p:spPr>
          <a:xfrm>
            <a:off x="10703989"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6"/>
          <p:cNvSpPr txBox="1"/>
          <p:nvPr userDrawn="1"/>
        </p:nvSpPr>
        <p:spPr>
          <a:xfrm>
            <a:off x="9979025" y="246380"/>
            <a:ext cx="1685925" cy="340995"/>
          </a:xfrm>
          <a:prstGeom prst="rect">
            <a:avLst/>
          </a:prstGeom>
          <a:noFill/>
        </p:spPr>
        <p:txBody>
          <a:bodyPr wrap="square" lIns="0" tIns="48000" rIns="0" bIns="48000" rtlCol="0">
            <a:spAutoFit/>
          </a:bodyPr>
          <a:p>
            <a:pPr algn="ctr"/>
            <a:r>
              <a:rPr lang="zh-CN" altLang="en-US" sz="1600" b="1" dirty="0">
                <a:solidFill>
                  <a:schemeClr val="bg1"/>
                </a:solidFill>
                <a:latin typeface="微软雅黑" panose="020B0503020204020204" pitchFamily="34" charset="-122"/>
                <a:ea typeface="微软雅黑" panose="020B0503020204020204" pitchFamily="34" charset="-122"/>
              </a:rPr>
              <a:t>结论与启发</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9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FDE32B-6F2B-444E-8057-3FEDBC04F142}"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矩形 21"/>
          <p:cNvSpPr/>
          <p:nvPr userDrawn="1"/>
        </p:nvSpPr>
        <p:spPr>
          <a:xfrm>
            <a:off x="5952900" y="0"/>
            <a:ext cx="1701799"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66278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科研论文</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36"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
        <p:nvSpPr>
          <p:cNvPr id="4" name="TextBox 6"/>
          <p:cNvSpPr txBox="1"/>
          <p:nvPr userDrawn="1"/>
        </p:nvSpPr>
        <p:spPr>
          <a:xfrm>
            <a:off x="6096000" y="215903"/>
            <a:ext cx="1344000" cy="340995"/>
          </a:xfrm>
          <a:prstGeom prst="rect">
            <a:avLst/>
          </a:prstGeom>
          <a:noFill/>
        </p:spPr>
        <p:txBody>
          <a:bodyPr wrap="square" lIns="0" tIns="48000" rIns="0" bIns="48000" rtlCol="0">
            <a:spAutoFit/>
          </a:bodyPr>
          <a:lstStyle/>
          <a:p>
            <a:pPr algn="ctr"/>
            <a:r>
              <a:rPr lang="zh-CN" altLang="en-US" sz="1600" b="1" kern="1200" dirty="0">
                <a:solidFill>
                  <a:schemeClr val="bg1"/>
                </a:solidFill>
                <a:latin typeface="微软雅黑" panose="020B0503020204020204" pitchFamily="34" charset="-122"/>
                <a:ea typeface="微软雅黑" panose="020B0503020204020204" pitchFamily="34" charset="-122"/>
                <a:cs typeface="+mn-cs"/>
              </a:rPr>
              <a:t>项目经历</a:t>
            </a:r>
            <a:endParaRPr lang="zh-CN" altLang="en-US" sz="1600" b="1" kern="1200" dirty="0">
              <a:solidFill>
                <a:schemeClr val="bg1"/>
              </a:solidFill>
              <a:latin typeface="微软雅黑" panose="020B0503020204020204" pitchFamily="34" charset="-122"/>
              <a:ea typeface="微软雅黑" panose="020B0503020204020204" pitchFamily="34" charset="-122"/>
              <a:cs typeface="+mn-cs"/>
            </a:endParaRPr>
          </a:p>
        </p:txBody>
      </p:sp>
      <p:cxnSp>
        <p:nvCxnSpPr>
          <p:cNvPr id="5" name="直接连接符 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942" y="149777"/>
            <a:ext cx="3666321" cy="4908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1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近期学习</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个人介绍</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1026"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1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近期学习</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个人介绍</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1026"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4757B21-2C49-445E-9795-D323DB908675}"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矩形 21"/>
          <p:cNvSpPr/>
          <p:nvPr userDrawn="1"/>
        </p:nvSpPr>
        <p:spPr>
          <a:xfrm>
            <a:off x="59707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66278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竞赛经历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36" name="页脚占位符 2"/>
          <p:cNvSpPr>
            <a:spLocks noGrp="1"/>
          </p:cNvSpPr>
          <p:nvPr userDrawn="1">
            <p:ph type="ftr" sz="quarter" idx="11"/>
          </p:nvPr>
        </p:nvSpPr>
        <p:spPr>
          <a:xfrm>
            <a:off x="4038600" y="6572908"/>
            <a:ext cx="6805000" cy="163350"/>
          </a:xfrm>
          <a:prstGeom prst="rect">
            <a:avLst/>
          </a:prstGeom>
        </p:spPr>
        <p:txBody>
          <a:bodyPr/>
          <a:lstStyle>
            <a:lvl1pPr>
              <a:defRPr sz="1200">
                <a:solidFill>
                  <a:schemeClr val="bg2">
                    <a:lumMod val="50000"/>
                  </a:schemeClr>
                </a:solidFill>
              </a:defRPr>
            </a:lvl1pPr>
          </a:lstStyle>
          <a:p>
            <a:pPr algn="ctr"/>
            <a:endParaRPr lang="zh-CN" altLang="en-US" dirty="0"/>
          </a:p>
        </p:txBody>
      </p:sp>
      <p:sp>
        <p:nvSpPr>
          <p:cNvPr id="29" name="矩形 28"/>
          <p:cNvSpPr/>
          <p:nvPr/>
        </p:nvSpPr>
        <p:spPr>
          <a:xfrm>
            <a:off x="0" y="795427"/>
            <a:ext cx="1847215" cy="6071463"/>
          </a:xfrm>
          <a:prstGeom prst="rect">
            <a:avLst/>
          </a:prstGeom>
          <a:solidFill>
            <a:srgbClr val="003D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78202" y="5656716"/>
            <a:ext cx="690809" cy="691810"/>
          </a:xfrm>
          <a:prstGeom prst="rect">
            <a:avLst/>
          </a:prstGeom>
        </p:spPr>
      </p:pic>
      <p:sp>
        <p:nvSpPr>
          <p:cNvPr id="10" name="标题 1"/>
          <p:cNvSpPr txBox="1"/>
          <p:nvPr userDrawn="1"/>
        </p:nvSpPr>
        <p:spPr>
          <a:xfrm>
            <a:off x="1847214" y="836678"/>
            <a:ext cx="10344786" cy="748447"/>
          </a:xfrm>
          <a:prstGeom prst="rect">
            <a:avLst/>
          </a:prstGeom>
          <a:solidFill>
            <a:schemeClr val="accent3">
              <a:lumMod val="20000"/>
              <a:lumOff val="80000"/>
            </a:schemeClr>
          </a:solidFill>
          <a:ln>
            <a:noFill/>
          </a:ln>
          <a:effectLst/>
        </p:spPr>
        <p:txBody>
          <a:bodyPr wrap="square" lIns="79553" tIns="39776" rIns="79553" bIns="39776">
            <a:noAutofit/>
          </a:bodyPr>
          <a:lstStyle>
            <a:lvl1pPr algn="l" defTabSz="914400" rtl="0" eaLnBrk="1" latinLnBrk="0" hangingPunct="1">
              <a:lnSpc>
                <a:spcPct val="90000"/>
              </a:lnSpc>
              <a:spcBef>
                <a:spcPct val="0"/>
              </a:spcBef>
              <a:buNone/>
              <a:defRPr sz="4400" kern="1200">
                <a:solidFill>
                  <a:schemeClr val="tx1"/>
                </a:solidFill>
              </a:defRPr>
            </a:lvl1pPr>
          </a:lstStyle>
          <a:p>
            <a:pPr algn="ctr">
              <a:lnSpc>
                <a:spcPct val="150000"/>
              </a:lnSpc>
            </a:pPr>
            <a:r>
              <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   基于多目标规划和布谷鸟算法的换电站选址及调度策略</a:t>
            </a: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1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9C6E2F-C166-4B07-88BE-4130CF44AD46}"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近期学习</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矩形 16"/>
          <p:cNvSpPr/>
          <p:nvPr userDrawn="1"/>
        </p:nvSpPr>
        <p:spPr>
          <a:xfrm>
            <a:off x="4286902"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9" name="等腰三角形 28"/>
          <p:cNvSpPr/>
          <p:nvPr userDrawn="1"/>
        </p:nvSpPr>
        <p:spPr>
          <a:xfrm>
            <a:off x="4943904"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个人介绍</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prstClr val="black">
                  <a:lumMod val="65000"/>
                  <a:lumOff val="35000"/>
                </a:prstClr>
              </a:solidFill>
              <a:latin typeface="微软雅黑" panose="020B0503020204020204" pitchFamily="34" charset="-122"/>
              <a:ea typeface="微软雅黑" panose="020B0503020204020204" pitchFamily="34" charset="-122"/>
              <a:cs typeface="+mn-cs"/>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8"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1026"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B64360-6CCE-4D03-99DB-F61F26084D93}"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科研经历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7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B64360-6CCE-4D03-99DB-F61F26084D93}"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科研经历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
        <p:nvSpPr>
          <p:cNvPr id="4" name="日期占位符 1"/>
          <p:cNvSpPr txBox="1"/>
          <p:nvPr userDrawn="1"/>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4757B21-2C49-445E-9795-D323DB908675}" type="datetime1">
              <a:rPr lang="zh-CN" altLang="en-US" smtClean="0"/>
            </a:fld>
            <a:endParaRPr lang="zh-CN" altLang="en-US"/>
          </a:p>
        </p:txBody>
      </p:sp>
      <p:sp>
        <p:nvSpPr>
          <p:cNvPr id="5" name="矩形 4"/>
          <p:cNvSpPr/>
          <p:nvPr userDrawn="1"/>
        </p:nvSpPr>
        <p:spPr>
          <a:xfrm>
            <a:off x="0" y="795427"/>
            <a:ext cx="1847215" cy="6071463"/>
          </a:xfrm>
          <a:prstGeom prst="rect">
            <a:avLst/>
          </a:prstGeom>
          <a:solidFill>
            <a:srgbClr val="003D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78202" y="5656716"/>
            <a:ext cx="690809" cy="691810"/>
          </a:xfrm>
          <a:prstGeom prst="rect">
            <a:avLst/>
          </a:prstGeom>
        </p:spPr>
      </p:pic>
      <p:sp>
        <p:nvSpPr>
          <p:cNvPr id="7" name="标题 1"/>
          <p:cNvSpPr txBox="1"/>
          <p:nvPr userDrawn="1"/>
        </p:nvSpPr>
        <p:spPr>
          <a:xfrm>
            <a:off x="1847214" y="836678"/>
            <a:ext cx="10344786" cy="748447"/>
          </a:xfrm>
          <a:prstGeom prst="rect">
            <a:avLst/>
          </a:prstGeom>
          <a:solidFill>
            <a:schemeClr val="accent3">
              <a:lumMod val="20000"/>
              <a:lumOff val="80000"/>
            </a:schemeClr>
          </a:solidFill>
          <a:ln>
            <a:noFill/>
          </a:ln>
          <a:effectLst/>
        </p:spPr>
        <p:txBody>
          <a:bodyPr wrap="square" lIns="79553" tIns="39776" rIns="79553" bIns="39776">
            <a:noAutofit/>
          </a:bodyPr>
          <a:lstStyle>
            <a:lvl1pPr algn="l" defTabSz="914400" rtl="0" eaLnBrk="1" latinLnBrk="0" hangingPunct="1">
              <a:lnSpc>
                <a:spcPct val="90000"/>
              </a:lnSpc>
              <a:spcBef>
                <a:spcPct val="0"/>
              </a:spcBef>
              <a:buNone/>
              <a:defRPr sz="4400" kern="1200">
                <a:solidFill>
                  <a:schemeClr val="tx1"/>
                </a:solidFill>
              </a:defRPr>
            </a:lvl1pPr>
          </a:lstStyle>
          <a:p>
            <a:pPr algn="ctr">
              <a:lnSpc>
                <a:spcPct val="150000"/>
              </a:lnSpc>
            </a:pPr>
            <a:r>
              <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   基于多目标规划和布谷鸟算法的换电站选址及调度策略</a:t>
            </a: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8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B64360-6CCE-4D03-99DB-F61F26084D93}"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等腰三角形 22"/>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科研经历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rgbClr val="595959"/>
                </a:solidFill>
                <a:latin typeface="微软雅黑" panose="020B0503020204020204" pitchFamily="34" charset="-122"/>
                <a:ea typeface="微软雅黑" panose="020B0503020204020204" pitchFamily="34" charset="-122"/>
              </a:rPr>
              <a:t>研究生计划</a:t>
            </a:r>
            <a:endParaRPr lang="zh-CN" altLang="en-US" sz="1600" b="1" dirty="0">
              <a:solidFill>
                <a:srgbClr val="595959"/>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
        <p:nvSpPr>
          <p:cNvPr id="4" name="日期占位符 1"/>
          <p:cNvSpPr txBox="1"/>
          <p:nvPr userDrawn="1"/>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4757B21-2C49-445E-9795-D323DB908675}" type="datetime1">
              <a:rPr lang="zh-CN" altLang="en-US" smtClean="0"/>
            </a:fld>
            <a:endParaRPr lang="zh-CN" altLang="en-US"/>
          </a:p>
        </p:txBody>
      </p:sp>
      <p:sp>
        <p:nvSpPr>
          <p:cNvPr id="5" name="矩形 4"/>
          <p:cNvSpPr/>
          <p:nvPr userDrawn="1"/>
        </p:nvSpPr>
        <p:spPr>
          <a:xfrm>
            <a:off x="0" y="795427"/>
            <a:ext cx="1847215" cy="6071463"/>
          </a:xfrm>
          <a:prstGeom prst="rect">
            <a:avLst/>
          </a:prstGeom>
          <a:solidFill>
            <a:srgbClr val="003D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78202" y="5656716"/>
            <a:ext cx="690809" cy="691810"/>
          </a:xfrm>
          <a:prstGeom prst="rect">
            <a:avLst/>
          </a:prstGeom>
        </p:spPr>
      </p:pic>
      <p:sp>
        <p:nvSpPr>
          <p:cNvPr id="7" name="标题 1"/>
          <p:cNvSpPr txBox="1"/>
          <p:nvPr userDrawn="1"/>
        </p:nvSpPr>
        <p:spPr>
          <a:xfrm>
            <a:off x="1847214" y="836678"/>
            <a:ext cx="10344786" cy="748447"/>
          </a:xfrm>
          <a:prstGeom prst="rect">
            <a:avLst/>
          </a:prstGeom>
          <a:solidFill>
            <a:schemeClr val="accent3">
              <a:lumMod val="20000"/>
              <a:lumOff val="80000"/>
            </a:schemeClr>
          </a:solidFill>
          <a:ln>
            <a:noFill/>
          </a:ln>
          <a:effectLst/>
        </p:spPr>
        <p:txBody>
          <a:bodyPr wrap="square" lIns="79553" tIns="39776" rIns="79553" bIns="39776">
            <a:noAutofit/>
          </a:bodyPr>
          <a:lstStyle>
            <a:lvl1pPr algn="l" defTabSz="914400" rtl="0" eaLnBrk="1" latinLnBrk="0" hangingPunct="1">
              <a:lnSpc>
                <a:spcPct val="90000"/>
              </a:lnSpc>
              <a:spcBef>
                <a:spcPct val="0"/>
              </a:spcBef>
              <a:buNone/>
              <a:defRPr sz="4400" kern="1200">
                <a:solidFill>
                  <a:schemeClr val="tx1"/>
                </a:solidFill>
              </a:defRPr>
            </a:lvl1pPr>
          </a:lstStyle>
          <a:p>
            <a:pPr marL="0" marR="0" lvl="0" indent="0" algn="ctr" defTabSz="914400" rtl="0" eaLnBrk="1" fontAlgn="auto" latinLnBrk="0" hangingPunct="1">
              <a:lnSpc>
                <a:spcPct val="150000"/>
              </a:lnSpc>
              <a:spcBef>
                <a:spcPct val="0"/>
              </a:spcBef>
              <a:spcAft>
                <a:spcPts val="0"/>
              </a:spcAft>
              <a:buClrTx/>
              <a:buSzTx/>
              <a:buFontTx/>
              <a:buNone/>
              <a:defRPr/>
            </a:pPr>
            <a:r>
              <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   </a:t>
            </a:r>
            <a:r>
              <a:rPr lang="en-US" altLang="zh-CN"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rPr>
              <a:t>Grasping ecology with one hand and economy with the other</a:t>
            </a: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50000"/>
              </a:lnSpc>
            </a:pPr>
            <a:endParaRPr lang="zh-CN" altLang="en-US" sz="2785" b="1" dirty="0">
              <a:solidFill>
                <a:srgbClr val="003D8C"/>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E30D6E8-72C1-4297-8423-D9E4388BE142}"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userDrawn="1">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科研竞赛经历</a:t>
            </a:r>
            <a:endParaRPr lang="en-US" altLang="zh-CN"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5" name="直接连接符 4"/>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sp>
        <p:nvSpPr>
          <p:cNvPr id="8" name="矩形 7"/>
          <p:cNvSpPr/>
          <p:nvPr userDrawn="1"/>
        </p:nvSpPr>
        <p:spPr>
          <a:xfrm>
            <a:off x="7654699" y="0"/>
            <a:ext cx="1666001" cy="792000"/>
          </a:xfrm>
          <a:prstGeom prst="rect">
            <a:avLst/>
          </a:prstGeom>
          <a:solidFill>
            <a:srgbClr val="003D8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TextBox 9"/>
          <p:cNvSpPr txBox="1"/>
          <p:nvPr userDrawn="1"/>
        </p:nvSpPr>
        <p:spPr>
          <a:xfrm>
            <a:off x="7822230" y="215903"/>
            <a:ext cx="1344000" cy="343159"/>
          </a:xfrm>
          <a:prstGeom prst="rect">
            <a:avLst/>
          </a:prstGeom>
          <a:noFill/>
        </p:spPr>
        <p:txBody>
          <a:bodyPr wrap="square" lIns="0" tIns="48000" rIns="0" bIns="48000" rtlCol="0">
            <a:spAutoFit/>
          </a:bodyPr>
          <a:lstStyle/>
          <a:p>
            <a:pPr marL="0" algn="ctr" defTabSz="914400" rtl="0" eaLnBrk="1" latinLnBrk="0" hangingPunct="1"/>
            <a:r>
              <a:rPr lang="zh-CN" altLang="en-US" sz="1600" b="1" kern="1200" dirty="0">
                <a:solidFill>
                  <a:schemeClr val="bg1"/>
                </a:solidFill>
                <a:latin typeface="微软雅黑" panose="020B0503020204020204" pitchFamily="34" charset="-122"/>
                <a:ea typeface="微软雅黑" panose="020B0503020204020204" pitchFamily="34" charset="-122"/>
                <a:cs typeface="+mn-cs"/>
              </a:rPr>
              <a:t>未来展望</a:t>
            </a:r>
            <a:endParaRPr lang="zh-CN" altLang="en-US" sz="16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9" name="等腰三角形 8"/>
          <p:cNvSpPr/>
          <p:nvPr userDrawn="1"/>
        </p:nvSpPr>
        <p:spPr>
          <a:xfrm>
            <a:off x="8311701" y="628650"/>
            <a:ext cx="351996" cy="16335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userDrawn="1"/>
        </p:nvCxnSpPr>
        <p:spPr>
          <a:xfrm>
            <a:off x="7654699"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12" name="直接连接符 11"/>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10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E30D6E8-72C1-4297-8423-D9E4388BE142}" type="datetime1">
              <a:rPr lang="zh-CN" altLang="en-US" smtClean="0"/>
            </a:fld>
            <a:endParaRPr lang="zh-CN" altLang="en-US"/>
          </a:p>
        </p:txBody>
      </p:sp>
      <p:sp>
        <p:nvSpPr>
          <p:cNvPr id="16" name="矩形 4"/>
          <p:cNvSpPr/>
          <p:nvPr userDrawn="1"/>
        </p:nvSpPr>
        <p:spPr>
          <a:xfrm>
            <a:off x="0" y="0"/>
            <a:ext cx="12192000" cy="792000"/>
          </a:xfrm>
          <a:prstGeom prst="rect">
            <a:avLst/>
          </a:prstGeom>
          <a:solidFill>
            <a:sysClr val="window" lastClr="FFFFFF">
              <a:lumMod val="95000"/>
            </a:sysClr>
          </a:solidFill>
          <a:ln w="12700" cap="flat" cmpd="sng" algn="ctr">
            <a:noFill/>
            <a:prstDash val="solid"/>
            <a:miter lim="800000"/>
          </a:ln>
          <a:effectLst>
            <a:outerShdw blurRad="228600" dist="50800" dir="5400000" algn="t" rotWithShape="0">
              <a:prstClr val="black">
                <a:alpha val="2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8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
          <p:cNvSpPr txBox="1"/>
          <p:nvPr userDrawn="1"/>
        </p:nvSpPr>
        <p:spPr>
          <a:xfrm>
            <a:off x="6096000"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竞赛经历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0" name="TextBox 7"/>
          <p:cNvSpPr txBox="1"/>
          <p:nvPr userDrawn="1"/>
        </p:nvSpPr>
        <p:spPr>
          <a:xfrm>
            <a:off x="7797800" y="215904"/>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科研经历</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4" name="直接连接符 23"/>
          <p:cNvCxnSpPr/>
          <p:nvPr userDrawn="1"/>
        </p:nvCxnSpPr>
        <p:spPr>
          <a:xfrm>
            <a:off x="5952901" y="285092"/>
            <a:ext cx="0" cy="245816"/>
          </a:xfrm>
          <a:prstGeom prst="line">
            <a:avLst/>
          </a:prstGeom>
          <a:noFill/>
          <a:ln w="6350" cap="flat" cmpd="sng" algn="ctr">
            <a:solidFill>
              <a:sysClr val="window" lastClr="FFFFFF">
                <a:lumMod val="75000"/>
              </a:sysClr>
            </a:solidFill>
            <a:prstDash val="solid"/>
            <a:miter lim="800000"/>
          </a:ln>
          <a:effectLst/>
        </p:spPr>
      </p:cxnSp>
      <p:cxnSp>
        <p:nvCxnSpPr>
          <p:cNvPr id="25" name="直接连接符 24"/>
          <p:cNvCxnSpPr/>
          <p:nvPr userDrawn="1"/>
        </p:nvCxnSpPr>
        <p:spPr>
          <a:xfrm>
            <a:off x="7654699" y="285092"/>
            <a:ext cx="0" cy="273970"/>
          </a:xfrm>
          <a:prstGeom prst="line">
            <a:avLst/>
          </a:prstGeom>
          <a:noFill/>
          <a:ln w="6350" cap="flat" cmpd="sng" algn="ctr">
            <a:solidFill>
              <a:sysClr val="window" lastClr="FFFFFF">
                <a:lumMod val="75000"/>
              </a:sysClr>
            </a:solidFill>
            <a:prstDash val="solid"/>
            <a:miter lim="800000"/>
          </a:ln>
          <a:effectLst/>
        </p:spPr>
      </p:cxnSp>
      <p:sp>
        <p:nvSpPr>
          <p:cNvPr id="27" name="TextBox 6"/>
          <p:cNvSpPr txBox="1"/>
          <p:nvPr userDrawn="1"/>
        </p:nvSpPr>
        <p:spPr>
          <a:xfrm>
            <a:off x="4430001" y="215903"/>
            <a:ext cx="1344000" cy="343159"/>
          </a:xfrm>
          <a:prstGeom prst="rect">
            <a:avLst/>
          </a:prstGeom>
          <a:noFill/>
        </p:spPr>
        <p:txBody>
          <a:bodyPr wrap="square" lIns="0" tIns="48000" rIns="0" bIns="48000" rtlCol="0">
            <a:spAutoFit/>
          </a:bodyPr>
          <a:lstStyle/>
          <a:p>
            <a:pPr algn="ctr"/>
            <a:r>
              <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rPr>
              <a:t>个人介绍</a:t>
            </a:r>
            <a:endParaRPr lang="zh-CN" altLang="en-US" sz="16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cxnSp>
        <p:nvCxnSpPr>
          <p:cNvPr id="28" name="直接连接符 27"/>
          <p:cNvCxnSpPr/>
          <p:nvPr userDrawn="1"/>
        </p:nvCxnSpPr>
        <p:spPr>
          <a:xfrm>
            <a:off x="4286902" y="285092"/>
            <a:ext cx="0" cy="245816"/>
          </a:xfrm>
          <a:prstGeom prst="line">
            <a:avLst/>
          </a:prstGeom>
          <a:noFill/>
          <a:ln w="6350" cap="flat" cmpd="sng" algn="ctr">
            <a:solidFill>
              <a:sysClr val="window" lastClr="FFFFFF">
                <a:lumMod val="75000"/>
              </a:sysClr>
            </a:solidFill>
            <a:prstDash val="solid"/>
            <a:miter lim="800000"/>
          </a:ln>
          <a:effectLst/>
        </p:spPr>
      </p:cxnSp>
      <p:sp>
        <p:nvSpPr>
          <p:cNvPr id="21" name="TextBox 9"/>
          <p:cNvSpPr txBox="1"/>
          <p:nvPr userDrawn="1"/>
        </p:nvSpPr>
        <p:spPr>
          <a:xfrm>
            <a:off x="9499600" y="215903"/>
            <a:ext cx="1344000" cy="343159"/>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研究生计划</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a:off x="9309328" y="285092"/>
            <a:ext cx="0" cy="273970"/>
          </a:xfrm>
          <a:prstGeom prst="line">
            <a:avLst/>
          </a:prstGeom>
          <a:noFill/>
          <a:ln w="6350" cap="flat" cmpd="sng" algn="ctr">
            <a:solidFill>
              <a:sysClr val="window" lastClr="FFFFFF">
                <a:lumMod val="75000"/>
              </a:sysClr>
            </a:solidFill>
            <a:prstDash val="solid"/>
            <a:miter lim="800000"/>
          </a:ln>
          <a:effectLst/>
        </p:spPr>
      </p:cxnSp>
      <p:sp>
        <p:nvSpPr>
          <p:cNvPr id="17"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pic>
        <p:nvPicPr>
          <p:cNvPr id="3" name="Picture 2" descr="贝恩三维-STEAM创客教育领导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3430" y="16175"/>
            <a:ext cx="2861582" cy="783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C413FED-E324-46EB-A0CE-245DBD0BCFF0}" type="datetime1">
              <a:rPr lang="zh-CN" altLang="en-US" smtClean="0"/>
            </a:fld>
            <a:endParaRPr lang="zh-CN" altLang="en-US"/>
          </a:p>
        </p:txBody>
      </p:sp>
      <p:sp>
        <p:nvSpPr>
          <p:cNvPr id="4"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DACF80-1CBA-4673-8A95-71174BF4DE44}" type="datetime1">
              <a:rPr lang="zh-CN" altLang="en-US" smtClean="0"/>
            </a:fld>
            <a:endParaRPr lang="zh-CN" altLang="en-US"/>
          </a:p>
        </p:txBody>
      </p:sp>
      <p:sp>
        <p:nvSpPr>
          <p:cNvPr id="4"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01893EC-4A51-4A66-A41D-93D2FD008B19}" type="datetime1">
              <a:rPr lang="zh-CN" altLang="en-US" smtClean="0"/>
            </a:fld>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solidFill>
                  <a:schemeClr val="bg2">
                    <a:lumMod val="50000"/>
                  </a:schemeClr>
                </a:solidFill>
              </a:defRPr>
            </a:lvl1pPr>
          </a:lstStyle>
          <a:p>
            <a:fld id="{6EBB307F-9B35-4682-BDAD-5A15872FBB74}" type="slidenum">
              <a:rPr lang="zh-CN" altLang="en-US" smtClean="0"/>
            </a:fld>
            <a:endParaRPr lang="zh-CN" altLang="en-US"/>
          </a:p>
        </p:txBody>
      </p:sp>
      <p:sp>
        <p:nvSpPr>
          <p:cNvPr id="7" name="页脚占位符 2"/>
          <p:cNvSpPr>
            <a:spLocks noGrp="1"/>
          </p:cNvSpPr>
          <p:nvPr>
            <p:ph type="ftr" sz="quarter" idx="11"/>
          </p:nvPr>
        </p:nvSpPr>
        <p:spPr>
          <a:xfrm>
            <a:off x="4038600" y="6572908"/>
            <a:ext cx="4114800" cy="234498"/>
          </a:xfrm>
          <a:prstGeom prst="rect">
            <a:avLst/>
          </a:prstGeom>
        </p:spPr>
        <p:txBody>
          <a:bodyPr/>
          <a:lstStyle>
            <a:lvl1pPr>
              <a:defRPr sz="1200">
                <a:solidFill>
                  <a:schemeClr val="bg2">
                    <a:lumMod val="50000"/>
                  </a:schemeClr>
                </a:solidFill>
              </a:defRPr>
            </a:lvl1pPr>
          </a:lstStyle>
          <a:p>
            <a:pPr algn="ct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有背景图内容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1" Type="http://schemas.openxmlformats.org/officeDocument/2006/relationships/theme" Target="../theme/theme2.xml"/><Relationship Id="rId20" Type="http://schemas.openxmlformats.org/officeDocument/2006/relationships/slideLayout" Target="../slideLayouts/slideLayout40.xml"/><Relationship Id="rId2" Type="http://schemas.openxmlformats.org/officeDocument/2006/relationships/slideLayout" Target="../slideLayouts/slideLayout22.xml"/><Relationship Id="rId19" Type="http://schemas.openxmlformats.org/officeDocument/2006/relationships/slideLayout" Target="../slideLayouts/slideLayout39.xml"/><Relationship Id="rId18" Type="http://schemas.openxmlformats.org/officeDocument/2006/relationships/slideLayout" Target="../slideLayouts/slideLayout38.xml"/><Relationship Id="rId17" Type="http://schemas.openxmlformats.org/officeDocument/2006/relationships/slideLayout" Target="../slideLayouts/slideLayout37.xml"/><Relationship Id="rId16" Type="http://schemas.openxmlformats.org/officeDocument/2006/relationships/slideLayout" Target="../slideLayouts/slideLayout36.xml"/><Relationship Id="rId15" Type="http://schemas.openxmlformats.org/officeDocument/2006/relationships/slideLayout" Target="../slideLayouts/slideLayout35.xml"/><Relationship Id="rId14" Type="http://schemas.openxmlformats.org/officeDocument/2006/relationships/slideLayout" Target="../slideLayouts/slideLayout34.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3EDC5C-1D11-4CBB-8805-F7690F828FF5}" type="datetime1">
              <a:rPr lang="zh-CN" altLang="en-US" smtClean="0"/>
            </a:fld>
            <a:endParaRPr lang="zh-CN" altLang="en-US"/>
          </a:p>
        </p:txBody>
      </p:sp>
      <p:sp>
        <p:nvSpPr>
          <p:cNvPr id="9" name="页脚占位符 2"/>
          <p:cNvSpPr>
            <a:spLocks noGrp="1"/>
          </p:cNvSpPr>
          <p:nvPr>
            <p:ph type="ftr" sz="quarter" idx="3"/>
          </p:nvPr>
        </p:nvSpPr>
        <p:spPr>
          <a:xfrm>
            <a:off x="4038600" y="6486977"/>
            <a:ext cx="4114800" cy="365125"/>
          </a:xfrm>
          <a:prstGeom prst="rect">
            <a:avLst/>
          </a:prstGeom>
        </p:spPr>
        <p:txBody>
          <a:bodyPr/>
          <a:lstStyle>
            <a:lvl1pPr>
              <a:defRPr>
                <a:solidFill>
                  <a:schemeClr val="bg2">
                    <a:lumMod val="50000"/>
                  </a:schemeClr>
                </a:solidFill>
              </a:defRPr>
            </a:lvl1pPr>
          </a:lstStyle>
          <a:p>
            <a:pPr algn="ctr"/>
            <a:endParaRPr lang="zh-CN" altLang="en-US" dirty="0"/>
          </a:p>
        </p:txBody>
      </p:sp>
      <p:sp>
        <p:nvSpPr>
          <p:cNvPr id="5" name="灯片编号占位符 4"/>
          <p:cNvSpPr>
            <a:spLocks noGrp="1"/>
          </p:cNvSpPr>
          <p:nvPr>
            <p:ph type="sldNum" sz="quarter" idx="4"/>
          </p:nvPr>
        </p:nvSpPr>
        <p:spPr>
          <a:xfrm>
            <a:off x="11526520" y="6356350"/>
            <a:ext cx="66548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fld id="{1DE805D2-31CC-4E98-BE31-AA1DAACD642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3EDC5C-1D11-4CBB-8805-F7690F828FF5}" type="datetime1">
              <a:rPr lang="zh-CN" altLang="en-US" smtClean="0"/>
            </a:fld>
            <a:endParaRPr lang="zh-CN" altLang="en-US"/>
          </a:p>
        </p:txBody>
      </p:sp>
      <p:sp>
        <p:nvSpPr>
          <p:cNvPr id="9" name="页脚占位符 2"/>
          <p:cNvSpPr>
            <a:spLocks noGrp="1"/>
          </p:cNvSpPr>
          <p:nvPr>
            <p:ph type="ftr" sz="quarter" idx="3"/>
          </p:nvPr>
        </p:nvSpPr>
        <p:spPr>
          <a:xfrm>
            <a:off x="4038600" y="6486977"/>
            <a:ext cx="4114800" cy="365125"/>
          </a:xfrm>
          <a:prstGeom prst="rect">
            <a:avLst/>
          </a:prstGeom>
        </p:spPr>
        <p:txBody>
          <a:bodyPr/>
          <a:lstStyle>
            <a:lvl1pPr>
              <a:defRPr>
                <a:solidFill>
                  <a:schemeClr val="bg2">
                    <a:lumMod val="50000"/>
                  </a:schemeClr>
                </a:solidFill>
              </a:defRPr>
            </a:lvl1pPr>
          </a:lstStyle>
          <a:p>
            <a:pPr algn="ctr"/>
            <a:endParaRPr lang="zh-CN" altLang="en-US" dirty="0"/>
          </a:p>
        </p:txBody>
      </p:sp>
      <p:sp>
        <p:nvSpPr>
          <p:cNvPr id="5" name="灯片编号占位符 4"/>
          <p:cNvSpPr>
            <a:spLocks noGrp="1"/>
          </p:cNvSpPr>
          <p:nvPr>
            <p:ph type="sldNum" sz="quarter" idx="4"/>
          </p:nvPr>
        </p:nvSpPr>
        <p:spPr>
          <a:xfrm>
            <a:off x="11526520" y="6356350"/>
            <a:ext cx="66548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fld id="{1DE805D2-31CC-4E98-BE31-AA1DAACD642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hemeOverride" Target="../theme/themeOverride1.xml"/><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7.png"/><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62839" y="340021"/>
            <a:ext cx="3666321" cy="490870"/>
          </a:xfrm>
          <a:prstGeom prst="rect">
            <a:avLst/>
          </a:prstGeom>
        </p:spPr>
      </p:pic>
      <p:grpSp>
        <p:nvGrpSpPr>
          <p:cNvPr id="15" name="组合 14"/>
          <p:cNvGrpSpPr/>
          <p:nvPr/>
        </p:nvGrpSpPr>
        <p:grpSpPr>
          <a:xfrm>
            <a:off x="0" y="1097949"/>
            <a:ext cx="12192000" cy="5541547"/>
            <a:chOff x="0" y="1097949"/>
            <a:chExt cx="9144000" cy="5541547"/>
          </a:xfrm>
        </p:grpSpPr>
        <p:sp>
          <p:nvSpPr>
            <p:cNvPr id="11" name="矩形 10"/>
            <p:cNvSpPr/>
            <p:nvPr/>
          </p:nvSpPr>
          <p:spPr>
            <a:xfrm>
              <a:off x="0" y="6271196"/>
              <a:ext cx="9144000" cy="368300"/>
            </a:xfrm>
            <a:prstGeom prst="rect">
              <a:avLst/>
            </a:prstGeom>
          </p:spPr>
          <p:txBody>
            <a:bodyPr wrap="square">
              <a:spAutoFit/>
            </a:bodyPr>
            <a:p>
              <a:pPr algn="ctr">
                <a:spcBef>
                  <a:spcPct val="20000"/>
                </a:spcBef>
                <a:buClr>
                  <a:srgbClr val="000000"/>
                </a:buClr>
                <a:buFont typeface="Wingdings" panose="05000000000000000000" pitchFamily="2" charset="2"/>
                <a:buNone/>
                <a:defRPr/>
              </a:pPr>
              <a:r>
                <a:rPr lang="en-US" altLang="zh-CN" b="1" kern="0" spc="600" dirty="0">
                  <a:solidFill>
                    <a:srgbClr val="002060"/>
                  </a:solidFill>
                  <a:latin typeface="华文中宋" panose="02010600040101010101" pitchFamily="2" charset="-122"/>
                  <a:ea typeface="华文中宋" panose="02010600040101010101" pitchFamily="2" charset="-122"/>
                </a:rPr>
                <a:t>2025.11.05</a:t>
              </a:r>
              <a:endParaRPr lang="en-US" altLang="zh-CN" sz="1600" b="1" kern="0" spc="600" dirty="0">
                <a:solidFill>
                  <a:srgbClr val="002060"/>
                </a:solidFill>
                <a:latin typeface="华文中宋" panose="02010600040101010101" pitchFamily="2" charset="-122"/>
                <a:ea typeface="华文中宋" panose="02010600040101010101" pitchFamily="2" charset="-122"/>
              </a:endParaRPr>
            </a:p>
          </p:txBody>
        </p:sp>
        <p:cxnSp>
          <p:nvCxnSpPr>
            <p:cNvPr id="12" name="直接连接符 11"/>
            <p:cNvCxnSpPr/>
            <p:nvPr/>
          </p:nvCxnSpPr>
          <p:spPr bwMode="auto">
            <a:xfrm flipV="1">
              <a:off x="267727" y="1097949"/>
              <a:ext cx="8608541" cy="2"/>
            </a:xfrm>
            <a:prstGeom prst="line">
              <a:avLst/>
            </a:prstGeom>
            <a:solidFill>
              <a:schemeClr val="accent1"/>
            </a:solidFill>
            <a:ln w="19050" cap="flat" cmpd="sng" algn="ctr">
              <a:solidFill>
                <a:srgbClr val="0070C0"/>
              </a:solidFill>
              <a:prstDash val="solid"/>
              <a:miter lim="800000"/>
              <a:headEnd type="none" w="med" len="med"/>
              <a:tailEnd type="none" w="med" len="med"/>
            </a:ln>
            <a:effectLst/>
          </p:spPr>
        </p:cxnSp>
        <p:cxnSp>
          <p:nvCxnSpPr>
            <p:cNvPr id="13" name="直接连接符 12"/>
            <p:cNvCxnSpPr/>
            <p:nvPr/>
          </p:nvCxnSpPr>
          <p:spPr bwMode="auto">
            <a:xfrm flipV="1">
              <a:off x="267726" y="4280237"/>
              <a:ext cx="8608541" cy="2"/>
            </a:xfrm>
            <a:prstGeom prst="line">
              <a:avLst/>
            </a:prstGeom>
            <a:solidFill>
              <a:schemeClr val="accent1"/>
            </a:solidFill>
            <a:ln w="19050" cap="flat" cmpd="sng" algn="ctr">
              <a:solidFill>
                <a:srgbClr val="0070C0"/>
              </a:solidFill>
              <a:prstDash val="solid"/>
              <a:miter lim="800000"/>
              <a:headEnd type="none" w="med" len="med"/>
              <a:tailEnd type="none" w="med" len="med"/>
            </a:ln>
            <a:effectLst/>
          </p:spPr>
        </p:cxnSp>
        <p:sp>
          <p:nvSpPr>
            <p:cNvPr id="14" name="矩形 13"/>
            <p:cNvSpPr/>
            <p:nvPr/>
          </p:nvSpPr>
          <p:spPr>
            <a:xfrm>
              <a:off x="267726" y="4883800"/>
              <a:ext cx="8608541" cy="460375"/>
            </a:xfrm>
            <a:prstGeom prst="rect">
              <a:avLst/>
            </a:prstGeom>
          </p:spPr>
          <p:txBody>
            <a:bodyPr wrap="square">
              <a:spAutoFit/>
            </a:bodyPr>
            <a:p>
              <a:pPr algn="ctr">
                <a:spcBef>
                  <a:spcPct val="20000"/>
                </a:spcBef>
                <a:buClr>
                  <a:srgbClr val="000000"/>
                </a:buClr>
                <a:buFont typeface="Wingdings" panose="05000000000000000000" pitchFamily="2" charset="2"/>
                <a:buNone/>
                <a:defRPr/>
              </a:pPr>
              <a:r>
                <a:rPr lang="zh-CN" altLang="en-US" sz="2400" b="1" kern="0" dirty="0">
                  <a:solidFill>
                    <a:srgbClr val="002060"/>
                  </a:solidFill>
                  <a:latin typeface="华文中宋" panose="02010600040101010101" pitchFamily="2" charset="-122"/>
                  <a:ea typeface="华文中宋" panose="02010600040101010101" pitchFamily="2" charset="-122"/>
                </a:rPr>
                <a:t>汇报人：</a:t>
              </a:r>
              <a:r>
                <a:rPr lang="en-US" altLang="zh-CN" sz="2400" b="1" kern="0" dirty="0">
                  <a:solidFill>
                    <a:srgbClr val="002060"/>
                  </a:solidFill>
                  <a:latin typeface="华文中宋" panose="02010600040101010101" pitchFamily="2" charset="-122"/>
                  <a:ea typeface="华文中宋" panose="02010600040101010101" pitchFamily="2" charset="-122"/>
                </a:rPr>
                <a:t>	</a:t>
              </a:r>
              <a:r>
                <a:rPr lang="zh-CN" altLang="en-US" sz="2400" b="1" kern="0" dirty="0">
                  <a:solidFill>
                    <a:srgbClr val="002060"/>
                  </a:solidFill>
                  <a:latin typeface="华文中宋" panose="02010600040101010101" pitchFamily="2" charset="-122"/>
                  <a:ea typeface="华文中宋" panose="02010600040101010101" pitchFamily="2" charset="-122"/>
                </a:rPr>
                <a:t>朱伟杰</a:t>
              </a:r>
              <a:endParaRPr lang="zh-CN" altLang="en-US" sz="2400" b="1" kern="0" dirty="0">
                <a:solidFill>
                  <a:srgbClr val="002060"/>
                </a:solidFill>
                <a:latin typeface="华文中宋" panose="02010600040101010101" pitchFamily="2" charset="-122"/>
                <a:ea typeface="华文中宋" panose="02010600040101010101" pitchFamily="2" charset="-122"/>
              </a:endParaRPr>
            </a:p>
          </p:txBody>
        </p:sp>
      </p:grpSp>
      <p:pic>
        <p:nvPicPr>
          <p:cNvPr id="2" name="图片 1"/>
          <p:cNvPicPr>
            <a:picLocks noChangeAspect="1"/>
          </p:cNvPicPr>
          <p:nvPr/>
        </p:nvPicPr>
        <p:blipFill>
          <a:blip r:embed="rId2"/>
          <a:stretch>
            <a:fillRect/>
          </a:stretch>
        </p:blipFill>
        <p:spPr>
          <a:xfrm>
            <a:off x="534035" y="1785620"/>
            <a:ext cx="11017250" cy="755650"/>
          </a:xfrm>
          <a:prstGeom prst="rect">
            <a:avLst/>
          </a:prstGeom>
        </p:spPr>
      </p:pic>
      <p:sp>
        <p:nvSpPr>
          <p:cNvPr id="5" name="文本框 4"/>
          <p:cNvSpPr txBox="1"/>
          <p:nvPr/>
        </p:nvSpPr>
        <p:spPr>
          <a:xfrm>
            <a:off x="1640840" y="2825750"/>
            <a:ext cx="9217025" cy="460375"/>
          </a:xfrm>
          <a:prstGeom prst="rect">
            <a:avLst/>
          </a:prstGeom>
        </p:spPr>
        <p:txBody>
          <a:bodyPr wrap="square">
            <a:spAutoFit/>
          </a:bodyPr>
          <a:p>
            <a:pPr marL="0" indent="0"/>
            <a:r>
              <a:rPr lang="zh-CN" altLang="en-US" sz="2400" b="1" i="0">
                <a:latin typeface="-apple-system"/>
                <a:ea typeface="-apple-system"/>
              </a:rPr>
              <a:t>基于物理与数据驱动融合的端到端神经同化海洋热浪全球预测框架</a:t>
            </a:r>
            <a:endParaRPr lang="zh-CN" altLang="en-US" sz="2400" b="1" i="0">
              <a:latin typeface="-apple-system"/>
              <a:ea typeface="-apple-system"/>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文本框 5"/>
          <p:cNvSpPr txBox="1"/>
          <p:nvPr/>
        </p:nvSpPr>
        <p:spPr>
          <a:xfrm>
            <a:off x="502285" y="1418590"/>
            <a:ext cx="10518140" cy="1076325"/>
          </a:xfrm>
          <a:prstGeom prst="rect">
            <a:avLst/>
          </a:prstGeom>
        </p:spPr>
        <p:txBody>
          <a:bodyPr wrap="square">
            <a:spAutoFit/>
          </a:bodyPr>
          <a:p>
            <a:pPr marL="0" indent="0">
              <a:spcBef>
                <a:spcPct val="0"/>
              </a:spcBef>
              <a:spcAft>
                <a:spcPct val="0"/>
              </a:spcAft>
              <a:buFont typeface="Arial" panose="020B0604020202020204"/>
              <a:buNone/>
            </a:pPr>
            <a:r>
              <a:rPr lang="zh-CN" altLang="en-US" sz="1600" b="1" i="0">
                <a:solidFill>
                  <a:schemeClr val="accent3">
                    <a:lumMod val="75000"/>
                  </a:schemeClr>
                </a:solidFill>
                <a:latin typeface="ui-sans-serif"/>
                <a:ea typeface="ui-sans-serif"/>
              </a:rPr>
              <a:t>一、定义：</a:t>
            </a:r>
            <a:endParaRPr lang="zh-CN" altLang="en-US" sz="1600" b="1" i="0">
              <a:solidFill>
                <a:schemeClr val="accent3">
                  <a:lumMod val="75000"/>
                </a:schemeClr>
              </a:solidFill>
              <a:latin typeface="ui-sans-serif"/>
              <a:ea typeface="ui-sans-serif"/>
            </a:endParaRPr>
          </a:p>
          <a:p>
            <a:pPr marL="0" indent="0">
              <a:spcBef>
                <a:spcPct val="0"/>
              </a:spcBef>
              <a:spcAft>
                <a:spcPct val="0"/>
              </a:spcAft>
              <a:buFont typeface="Arial" panose="020B0604020202020204"/>
              <a:buNone/>
            </a:pPr>
            <a:r>
              <a:rPr lang="zh-CN" altLang="en-US" sz="1600" b="1" i="0">
                <a:solidFill>
                  <a:srgbClr val="FF0000"/>
                </a:solidFill>
                <a:latin typeface="ui-sans-serif"/>
                <a:ea typeface="ui-sans-serif"/>
              </a:rPr>
              <a:t>海洋热浪</a:t>
            </a:r>
            <a:r>
              <a:rPr lang="en-US" altLang="zh-CN" sz="1600" b="1" i="0">
                <a:solidFill>
                  <a:srgbClr val="FF0000"/>
                </a:solidFill>
                <a:latin typeface="ui-sans-serif"/>
                <a:ea typeface="ui-sans-serif"/>
              </a:rPr>
              <a:t>marine heatwaves</a:t>
            </a:r>
            <a:r>
              <a:rPr lang="zh-CN" altLang="en-US" sz="1600" b="1" i="0">
                <a:solidFill>
                  <a:srgbClr val="FF0000"/>
                </a:solidFill>
                <a:latin typeface="ui-sans-serif"/>
                <a:ea typeface="ui-sans-serif"/>
              </a:rPr>
              <a:t>（</a:t>
            </a:r>
            <a:r>
              <a:rPr lang="en-US" altLang="zh-CN" sz="1600" b="1" i="0">
                <a:solidFill>
                  <a:srgbClr val="FF0000"/>
                </a:solidFill>
                <a:latin typeface="ui-sans-serif"/>
                <a:ea typeface="ui-sans-serif"/>
              </a:rPr>
              <a:t>MHWs</a:t>
            </a:r>
            <a:r>
              <a:rPr lang="zh-CN" altLang="en-US" sz="1600" b="1" i="0">
                <a:solidFill>
                  <a:srgbClr val="FF0000"/>
                </a:solidFill>
                <a:latin typeface="ui-sans-serif"/>
                <a:ea typeface="ui-sans-serif"/>
              </a:rPr>
              <a:t>）</a:t>
            </a:r>
            <a:r>
              <a:rPr lang="en-US" altLang="zh-CN" sz="1600" b="1" i="0">
                <a:solidFill>
                  <a:srgbClr val="FF0000"/>
                </a:solidFill>
                <a:latin typeface="ui-sans-serif"/>
                <a:ea typeface="ui-sans-serif"/>
              </a:rPr>
              <a:t> </a:t>
            </a:r>
            <a:r>
              <a:rPr lang="zh-CN" altLang="en-US" sz="1600" b="1" i="0">
                <a:solidFill>
                  <a:srgbClr val="FF0000"/>
                </a:solidFill>
                <a:latin typeface="ui-sans-serif"/>
                <a:ea typeface="宋体" panose="02010600030101010101" pitchFamily="2" charset="-122"/>
              </a:rPr>
              <a:t>：</a:t>
            </a:r>
            <a:r>
              <a:rPr lang="zh-CN" altLang="en-US" sz="1600" i="0">
                <a:solidFill>
                  <a:srgbClr val="0D0D0D"/>
                </a:solidFill>
                <a:latin typeface="ui-sans-serif"/>
                <a:ea typeface="ui-sans-serif"/>
              </a:rPr>
              <a:t>指某一海域在特定时间内持续出现异常偏高的海水温度的极端事件。</a:t>
            </a:r>
            <a:endParaRPr lang="zh-CN" altLang="en-US" sz="1600" i="0">
              <a:solidFill>
                <a:srgbClr val="0D0D0D"/>
              </a:solidFill>
              <a:latin typeface="ui-sans-serif"/>
              <a:ea typeface="ui-sans-serif"/>
            </a:endParaRPr>
          </a:p>
          <a:p>
            <a:pPr marL="0" indent="0">
              <a:spcBef>
                <a:spcPct val="0"/>
              </a:spcBef>
              <a:spcAft>
                <a:spcPct val="0"/>
              </a:spcAft>
              <a:buFont typeface="Arial" panose="020B0604020202020204"/>
              <a:buNone/>
            </a:pPr>
            <a:r>
              <a:rPr lang="en-US" altLang="zh-CN" sz="1600" b="1">
                <a:solidFill>
                  <a:srgbClr val="0D0D0D"/>
                </a:solidFill>
                <a:latin typeface="ui-sans-serif"/>
                <a:ea typeface="ui-sans-serif"/>
                <a:sym typeface="+mn-ea"/>
              </a:rPr>
              <a:t>MHW </a:t>
            </a:r>
            <a:r>
              <a:rPr lang="zh-CN" altLang="en-US" sz="1600" b="1">
                <a:solidFill>
                  <a:srgbClr val="0D0D0D"/>
                </a:solidFill>
                <a:latin typeface="ui-sans-serif"/>
                <a:ea typeface="ui-sans-serif"/>
                <a:sym typeface="+mn-ea"/>
              </a:rPr>
              <a:t>通常通过温度阈值法来定义：</a:t>
            </a:r>
            <a:r>
              <a:rPr lang="zh-CN" altLang="en-US" sz="1600" b="1">
                <a:solidFill>
                  <a:schemeClr val="accent3">
                    <a:lumMod val="75000"/>
                  </a:schemeClr>
                </a:solidFill>
                <a:latin typeface="ui-sans-serif"/>
                <a:ea typeface="ui-sans-serif"/>
                <a:sym typeface="+mn-ea"/>
              </a:rPr>
              <a:t>海表温度</a:t>
            </a:r>
            <a:r>
              <a:rPr lang="en-US" altLang="zh-CN" sz="1600" b="1">
                <a:solidFill>
                  <a:schemeClr val="accent3">
                    <a:lumMod val="75000"/>
                  </a:schemeClr>
                </a:solidFill>
                <a:latin typeface="ui-sans-serif"/>
                <a:ea typeface="ui-sans-serif"/>
                <a:sym typeface="+mn-ea"/>
              </a:rPr>
              <a:t>Sea Surface Temperature</a:t>
            </a:r>
            <a:r>
              <a:rPr lang="zh-CN" altLang="en-US" sz="1600" b="1">
                <a:solidFill>
                  <a:schemeClr val="accent3">
                    <a:lumMod val="75000"/>
                  </a:schemeClr>
                </a:solidFill>
                <a:latin typeface="ui-sans-serif"/>
                <a:ea typeface="ui-sans-serif"/>
                <a:sym typeface="+mn-ea"/>
              </a:rPr>
              <a:t>（</a:t>
            </a:r>
            <a:r>
              <a:rPr lang="en-US" altLang="zh-CN" sz="1600" b="1">
                <a:solidFill>
                  <a:schemeClr val="accent3">
                    <a:lumMod val="75000"/>
                  </a:schemeClr>
                </a:solidFill>
                <a:latin typeface="ui-sans-serif"/>
                <a:ea typeface="ui-sans-serif"/>
                <a:sym typeface="+mn-ea"/>
              </a:rPr>
              <a:t>SST</a:t>
            </a:r>
            <a:r>
              <a:rPr lang="zh-CN" altLang="en-US" sz="1600" b="1">
                <a:solidFill>
                  <a:schemeClr val="accent3">
                    <a:lumMod val="75000"/>
                  </a:schemeClr>
                </a:solidFill>
                <a:latin typeface="ui-sans-serif"/>
                <a:ea typeface="ui-sans-serif"/>
                <a:sym typeface="+mn-ea"/>
              </a:rPr>
              <a:t>）</a:t>
            </a:r>
            <a:r>
              <a:rPr lang="zh-CN" altLang="en-US" sz="1600">
                <a:solidFill>
                  <a:srgbClr val="0D0D0D"/>
                </a:solidFill>
                <a:latin typeface="ui-sans-serif"/>
                <a:ea typeface="ui-sans-serif"/>
                <a:sym typeface="+mn-ea"/>
              </a:rPr>
              <a:t>连续多天超过当地气候统计阈值（如第 </a:t>
            </a:r>
            <a:r>
              <a:rPr lang="en-US" altLang="zh-CN" sz="1600">
                <a:solidFill>
                  <a:srgbClr val="0D0D0D"/>
                </a:solidFill>
                <a:latin typeface="ui-sans-serif"/>
                <a:ea typeface="ui-sans-serif"/>
                <a:sym typeface="+mn-ea"/>
              </a:rPr>
              <a:t>90 </a:t>
            </a:r>
            <a:r>
              <a:rPr lang="zh-CN" altLang="en-US" sz="1600">
                <a:solidFill>
                  <a:srgbClr val="0D0D0D"/>
                </a:solidFill>
                <a:latin typeface="ui-sans-serif"/>
                <a:ea typeface="ui-sans-serif"/>
                <a:sym typeface="+mn-ea"/>
              </a:rPr>
              <a:t>百分位）</a:t>
            </a:r>
            <a:endParaRPr lang="en-US" altLang="zh-CN" sz="1600" b="1" i="0">
              <a:solidFill>
                <a:srgbClr val="0D0D0D"/>
              </a:solidFill>
              <a:latin typeface="ui-sans-serif"/>
              <a:ea typeface="ui-sans-serif"/>
            </a:endParaRPr>
          </a:p>
        </p:txBody>
      </p:sp>
      <p:pic>
        <p:nvPicPr>
          <p:cNvPr id="7" name="图片 6"/>
          <p:cNvPicPr>
            <a:picLocks noChangeAspect="1"/>
          </p:cNvPicPr>
          <p:nvPr/>
        </p:nvPicPr>
        <p:blipFill>
          <a:blip r:embed="rId1"/>
          <a:stretch>
            <a:fillRect/>
          </a:stretch>
        </p:blipFill>
        <p:spPr>
          <a:xfrm>
            <a:off x="156210" y="3391535"/>
            <a:ext cx="6426200" cy="3079750"/>
          </a:xfrm>
          <a:prstGeom prst="rect">
            <a:avLst/>
          </a:prstGeom>
        </p:spPr>
      </p:pic>
      <p:pic>
        <p:nvPicPr>
          <p:cNvPr id="8" name="图片 7"/>
          <p:cNvPicPr>
            <a:picLocks noChangeAspect="1"/>
          </p:cNvPicPr>
          <p:nvPr/>
        </p:nvPicPr>
        <p:blipFill>
          <a:blip r:embed="rId2"/>
          <a:stretch>
            <a:fillRect/>
          </a:stretch>
        </p:blipFill>
        <p:spPr>
          <a:xfrm>
            <a:off x="7277735" y="3489960"/>
            <a:ext cx="4171950" cy="3225800"/>
          </a:xfrm>
          <a:prstGeom prst="rect">
            <a:avLst/>
          </a:prstGeom>
        </p:spPr>
      </p:pic>
      <p:sp>
        <p:nvSpPr>
          <p:cNvPr id="11" name="文本框 10"/>
          <p:cNvSpPr txBox="1"/>
          <p:nvPr/>
        </p:nvSpPr>
        <p:spPr>
          <a:xfrm>
            <a:off x="829310" y="6373178"/>
            <a:ext cx="5080000" cy="337185"/>
          </a:xfrm>
          <a:prstGeom prst="rect">
            <a:avLst/>
          </a:prstGeom>
        </p:spPr>
        <p:txBody>
          <a:bodyPr>
            <a:spAutoFit/>
          </a:bodyPr>
          <a:p>
            <a:pPr marL="0" indent="0"/>
            <a:r>
              <a:rPr lang="en-US" altLang="zh-CN" sz="1600" b="1" i="0">
                <a:solidFill>
                  <a:srgbClr val="0D0D0D"/>
                </a:solidFill>
                <a:latin typeface="ui-sans-serif"/>
                <a:ea typeface="ui-sans-serif"/>
              </a:rPr>
              <a:t>PS</a:t>
            </a:r>
            <a:r>
              <a:rPr lang="zh-CN" altLang="en-US" sz="1600" b="1" i="0">
                <a:solidFill>
                  <a:srgbClr val="0D0D0D"/>
                </a:solidFill>
                <a:latin typeface="ui-sans-serif"/>
                <a:ea typeface="宋体" panose="02010600030101010101" pitchFamily="2" charset="-122"/>
              </a:rPr>
              <a:t>：</a:t>
            </a:r>
            <a:r>
              <a:rPr lang="zh-CN" altLang="en-US" sz="1600" b="0" i="0">
                <a:solidFill>
                  <a:srgbClr val="0D0D0D"/>
                </a:solidFill>
                <a:latin typeface="ui-sans-serif"/>
                <a:ea typeface="ui-sans-serif"/>
              </a:rPr>
              <a:t>直观体现 </a:t>
            </a:r>
            <a:r>
              <a:rPr lang="en-US" altLang="zh-CN" sz="1600" b="0" i="0">
                <a:solidFill>
                  <a:srgbClr val="0D0D0D"/>
                </a:solidFill>
                <a:latin typeface="ui-sans-serif"/>
                <a:ea typeface="ui-sans-serif"/>
              </a:rPr>
              <a:t>MHW </a:t>
            </a:r>
            <a:r>
              <a:rPr lang="zh-CN" altLang="en-US" sz="1600" b="0" i="0">
                <a:solidFill>
                  <a:srgbClr val="0D0D0D"/>
                </a:solidFill>
                <a:latin typeface="ui-sans-serif"/>
                <a:ea typeface="ui-sans-serif"/>
              </a:rPr>
              <a:t>的全球性与频发性</a:t>
            </a:r>
            <a:endParaRPr lang="zh-CN" altLang="en-US" sz="1600" b="0" i="0">
              <a:solidFill>
                <a:srgbClr val="0D0D0D"/>
              </a:solidFill>
              <a:latin typeface="ui-sans-serif"/>
              <a:ea typeface="ui-sans-serif"/>
            </a:endParaRPr>
          </a:p>
        </p:txBody>
      </p:sp>
      <p:sp>
        <p:nvSpPr>
          <p:cNvPr id="12" name="矩形 11"/>
          <p:cNvSpPr/>
          <p:nvPr/>
        </p:nvSpPr>
        <p:spPr>
          <a:xfrm>
            <a:off x="156210" y="990600"/>
            <a:ext cx="2205990" cy="363855"/>
          </a:xfrm>
          <a:prstGeom prst="rect">
            <a:avLst/>
          </a:prstGeom>
          <a:noFill/>
          <a:ln w="28575">
            <a:solidFill>
              <a:schemeClr val="accent3">
                <a:lumMod val="75000"/>
              </a:schemeClr>
            </a:solidFill>
            <a:prstDash val="dash"/>
          </a:ln>
          <a:extLst>
            <a:ext uri="{909E8E84-426E-40DD-AFC4-6F175D3DCCD1}">
              <a14:hiddenFill xmlns:a14="http://schemas.microsoft.com/office/drawing/2010/main">
                <a:solidFill>
                  <a:schemeClr val="accent3">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83185" y="948690"/>
            <a:ext cx="2461895" cy="386080"/>
          </a:xfrm>
          <a:prstGeom prst="rect">
            <a:avLst/>
          </a:prstGeom>
          <a:noFill/>
        </p:spPr>
        <p:txBody>
          <a:bodyPr wrap="square" rtlCol="0" anchor="t">
            <a:spAutoFit/>
          </a:bodyPr>
          <a:p>
            <a:pPr algn="ctr">
              <a:lnSpc>
                <a:spcPct val="120000"/>
              </a:lnSpc>
              <a:spcBef>
                <a:spcPts val="0"/>
              </a:spcBef>
              <a:spcAft>
                <a:spcPts val="0"/>
              </a:spcAft>
            </a:pPr>
            <a:r>
              <a:rPr lang="zh-CN" altLang="en-US" sz="1600" b="1">
                <a:solidFill>
                  <a:srgbClr val="FF0000"/>
                </a:solidFill>
                <a:latin typeface="ui-sans-serif"/>
                <a:ea typeface="ui-sans-serif"/>
                <a:sym typeface="+mn-ea"/>
              </a:rPr>
              <a:t>Q1：</a:t>
            </a:r>
            <a:r>
              <a:rPr lang="zh-CN" altLang="en-US" sz="1600" b="1">
                <a:solidFill>
                  <a:srgbClr val="0D0D0D"/>
                </a:solidFill>
                <a:latin typeface="ui-sans-serif"/>
                <a:ea typeface="ui-sans-serif"/>
                <a:sym typeface="+mn-ea"/>
              </a:rPr>
              <a:t>什么</a:t>
            </a:r>
            <a:r>
              <a:rPr lang="zh-CN" altLang="en-US" sz="1600" b="1">
                <a:solidFill>
                  <a:srgbClr val="0D0D0D"/>
                </a:solidFill>
                <a:latin typeface="ui-sans-serif"/>
                <a:ea typeface="ui-sans-serif"/>
                <a:sym typeface="+mn-ea"/>
              </a:rPr>
              <a:t>是海洋热浪？</a:t>
            </a:r>
            <a:endParaRPr lang="zh-CN" altLang="en-US" sz="1600" b="1">
              <a:solidFill>
                <a:srgbClr val="0D0D0D"/>
              </a:solidFill>
              <a:latin typeface="ui-sans-serif"/>
              <a:ea typeface="ui-sans-serif"/>
              <a:sym typeface="+mn-ea"/>
            </a:endParaRPr>
          </a:p>
        </p:txBody>
      </p:sp>
      <p:sp>
        <p:nvSpPr>
          <p:cNvPr id="15" name="文本框 14"/>
          <p:cNvSpPr txBox="1"/>
          <p:nvPr/>
        </p:nvSpPr>
        <p:spPr>
          <a:xfrm>
            <a:off x="527050" y="2445385"/>
            <a:ext cx="5760720" cy="1067435"/>
          </a:xfrm>
          <a:prstGeom prst="rect">
            <a:avLst/>
          </a:prstGeom>
        </p:spPr>
        <p:txBody>
          <a:bodyPr wrap="square">
            <a:noAutofit/>
          </a:bodyPr>
          <a:p>
            <a:pPr marL="0" indent="0">
              <a:spcBef>
                <a:spcPct val="0"/>
              </a:spcBef>
              <a:spcAft>
                <a:spcPct val="0"/>
              </a:spcAft>
              <a:buFont typeface="Arial" panose="020B0604020202020204"/>
              <a:buNone/>
            </a:pPr>
            <a:r>
              <a:rPr lang="zh-CN" altLang="en-US" sz="1600" b="1" i="0">
                <a:solidFill>
                  <a:schemeClr val="accent3">
                    <a:lumMod val="75000"/>
                  </a:schemeClr>
                </a:solidFill>
                <a:latin typeface="ui-sans-serif"/>
                <a:ea typeface="ui-sans-serif"/>
              </a:rPr>
              <a:t>二、特征如下：</a:t>
            </a:r>
            <a:endParaRPr lang="zh-CN" altLang="en-US" sz="1600" b="1" i="0">
              <a:solidFill>
                <a:schemeClr val="accent3">
                  <a:lumMod val="75000"/>
                </a:schemeClr>
              </a:solidFill>
              <a:latin typeface="ui-sans-serif"/>
              <a:ea typeface="ui-sans-serif"/>
            </a:endParaRPr>
          </a:p>
          <a:p>
            <a:pPr marL="0" indent="0">
              <a:spcBef>
                <a:spcPct val="0"/>
              </a:spcBef>
              <a:spcAft>
                <a:spcPct val="0"/>
              </a:spcAft>
              <a:buFont typeface="Arial" panose="020B0604020202020204"/>
              <a:buChar char="•"/>
            </a:pPr>
            <a:r>
              <a:rPr lang="zh-CN" altLang="en-US" sz="1600" b="1" i="0">
                <a:solidFill>
                  <a:srgbClr val="0D0D0D"/>
                </a:solidFill>
                <a:latin typeface="ui-sans-serif"/>
                <a:ea typeface="ui-sans-serif"/>
              </a:rPr>
              <a:t>持续时间长</a:t>
            </a:r>
            <a:r>
              <a:rPr lang="zh-CN" altLang="en-US" sz="1600" b="0" i="0">
                <a:solidFill>
                  <a:srgbClr val="0D0D0D"/>
                </a:solidFill>
                <a:latin typeface="ui-sans-serif"/>
                <a:ea typeface="ui-sans-serif"/>
              </a:rPr>
              <a:t>（通常超过</a:t>
            </a:r>
            <a:r>
              <a:rPr lang="en-US" altLang="zh-CN" sz="1600" b="0" i="0">
                <a:solidFill>
                  <a:srgbClr val="0D0D0D"/>
                </a:solidFill>
                <a:latin typeface="ui-sans-serif"/>
                <a:ea typeface="ui-sans-serif"/>
              </a:rPr>
              <a:t>5</a:t>
            </a:r>
            <a:r>
              <a:rPr lang="zh-CN" altLang="en-US" sz="1600" b="0" i="0">
                <a:solidFill>
                  <a:srgbClr val="0D0D0D"/>
                </a:solidFill>
                <a:latin typeface="ui-sans-serif"/>
                <a:ea typeface="ui-sans-serif"/>
              </a:rPr>
              <a:t>天甚至数月），</a:t>
            </a:r>
            <a:endParaRPr lang="zh-CN" altLang="en-US" sz="1600" b="0" i="0">
              <a:solidFill>
                <a:srgbClr val="0D0D0D"/>
              </a:solidFill>
              <a:latin typeface="ui-sans-serif"/>
              <a:ea typeface="ui-sans-serif"/>
            </a:endParaRPr>
          </a:p>
          <a:p>
            <a:pPr marL="0" indent="0">
              <a:spcBef>
                <a:spcPct val="0"/>
              </a:spcBef>
              <a:spcAft>
                <a:spcPct val="0"/>
              </a:spcAft>
              <a:buFont typeface="Arial" panose="020B0604020202020204"/>
              <a:buChar char="•"/>
            </a:pPr>
            <a:r>
              <a:rPr lang="zh-CN" altLang="en-US" sz="1600" b="1" i="0">
                <a:solidFill>
                  <a:srgbClr val="0D0D0D"/>
                </a:solidFill>
                <a:latin typeface="ui-sans-serif"/>
                <a:ea typeface="ui-sans-serif"/>
              </a:rPr>
              <a:t>空间范围广</a:t>
            </a:r>
            <a:r>
              <a:rPr lang="zh-CN" altLang="en-US" sz="1600" b="0" i="0">
                <a:solidFill>
                  <a:srgbClr val="0D0D0D"/>
                </a:solidFill>
                <a:latin typeface="ui-sans-serif"/>
                <a:ea typeface="ui-sans-serif"/>
              </a:rPr>
              <a:t>（可影响上千公里的海域），</a:t>
            </a:r>
            <a:endParaRPr lang="zh-CN" altLang="en-US" sz="1600" b="0" i="0">
              <a:solidFill>
                <a:srgbClr val="0D0D0D"/>
              </a:solidFill>
              <a:latin typeface="ui-sans-serif"/>
              <a:ea typeface="ui-sans-serif"/>
            </a:endParaRPr>
          </a:p>
          <a:p>
            <a:pPr marL="0" indent="0">
              <a:spcBef>
                <a:spcPct val="0"/>
              </a:spcBef>
              <a:spcAft>
                <a:spcPct val="0"/>
              </a:spcAft>
              <a:buFont typeface="Arial" panose="020B0604020202020204"/>
              <a:buChar char="•"/>
            </a:pPr>
            <a:r>
              <a:rPr lang="zh-CN" altLang="en-US" sz="1600" b="1" i="0">
                <a:solidFill>
                  <a:srgbClr val="0D0D0D"/>
                </a:solidFill>
                <a:latin typeface="ui-sans-serif"/>
                <a:ea typeface="ui-sans-serif"/>
              </a:rPr>
              <a:t>温度异常明显</a:t>
            </a:r>
            <a:r>
              <a:rPr lang="zh-CN" altLang="en-US" sz="1600" b="0" i="0">
                <a:solidFill>
                  <a:srgbClr val="0D0D0D"/>
                </a:solidFill>
                <a:latin typeface="ui-sans-serif"/>
                <a:ea typeface="ui-sans-serif"/>
              </a:rPr>
              <a:t>（超过当地长期平均温度的第</a:t>
            </a:r>
            <a:r>
              <a:rPr lang="en-US" altLang="zh-CN" sz="1600" b="0" i="0">
                <a:solidFill>
                  <a:srgbClr val="0D0D0D"/>
                </a:solidFill>
                <a:latin typeface="ui-sans-serif"/>
                <a:ea typeface="ui-sans-serif"/>
              </a:rPr>
              <a:t>90</a:t>
            </a:r>
            <a:r>
              <a:rPr lang="zh-CN" altLang="en-US" sz="1600" b="0" i="0">
                <a:solidFill>
                  <a:srgbClr val="0D0D0D"/>
                </a:solidFill>
                <a:latin typeface="ui-sans-serif"/>
                <a:ea typeface="ui-sans-serif"/>
              </a:rPr>
              <a:t>百分位阈值）。</a:t>
            </a:r>
            <a:endParaRPr lang="zh-CN" altLang="en-US" sz="1600" b="0" i="0">
              <a:solidFill>
                <a:srgbClr val="0D0D0D"/>
              </a:solidFill>
              <a:latin typeface="ui-sans-serif"/>
              <a:ea typeface="ui-sans-serif"/>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025650" y="1627505"/>
            <a:ext cx="7538720" cy="3511550"/>
          </a:xfrm>
          <a:prstGeom prst="rect">
            <a:avLst/>
          </a:prstGeom>
        </p:spPr>
      </p:pic>
      <p:sp>
        <p:nvSpPr>
          <p:cNvPr id="3" name="文本框 2"/>
          <p:cNvSpPr txBox="1"/>
          <p:nvPr/>
        </p:nvSpPr>
        <p:spPr>
          <a:xfrm>
            <a:off x="325120" y="1064895"/>
            <a:ext cx="4573905" cy="386080"/>
          </a:xfrm>
          <a:prstGeom prst="rect">
            <a:avLst/>
          </a:prstGeom>
          <a:noFill/>
        </p:spPr>
        <p:txBody>
          <a:bodyPr wrap="square" rtlCol="0" anchor="t">
            <a:spAutoFit/>
          </a:bodyPr>
          <a:p>
            <a:pPr algn="ctr">
              <a:lnSpc>
                <a:spcPct val="120000"/>
              </a:lnSpc>
              <a:spcBef>
                <a:spcPts val="0"/>
              </a:spcBef>
              <a:spcAft>
                <a:spcPts val="0"/>
              </a:spcAft>
            </a:pPr>
            <a:r>
              <a:rPr lang="zh-CN" altLang="en-US" sz="1600" b="1">
                <a:solidFill>
                  <a:schemeClr val="accent3">
                    <a:lumMod val="75000"/>
                  </a:schemeClr>
                </a:solidFill>
                <a:latin typeface="ui-sans-serif"/>
                <a:ea typeface="ui-sans-serif"/>
                <a:sym typeface="+mn-ea"/>
              </a:rPr>
              <a:t>三、物理过程（需要考虑的影响因素）</a:t>
            </a:r>
            <a:endParaRPr lang="en-US" altLang="zh-CN" sz="1600" b="1">
              <a:solidFill>
                <a:schemeClr val="accent3">
                  <a:lumMod val="75000"/>
                </a:schemeClr>
              </a:solidFill>
              <a:latin typeface="ui-sans-serif"/>
              <a:ea typeface="ui-sans-serif"/>
              <a:sym typeface="+mn-ea"/>
            </a:endParaRPr>
          </a:p>
        </p:txBody>
      </p:sp>
      <p:sp>
        <p:nvSpPr>
          <p:cNvPr id="5" name="文本框 4"/>
          <p:cNvSpPr txBox="1"/>
          <p:nvPr/>
        </p:nvSpPr>
        <p:spPr>
          <a:xfrm>
            <a:off x="403225" y="5250180"/>
            <a:ext cx="11252835" cy="1076325"/>
          </a:xfrm>
          <a:prstGeom prst="rect">
            <a:avLst/>
          </a:prstGeom>
        </p:spPr>
        <p:txBody>
          <a:bodyPr wrap="square">
            <a:spAutoFit/>
          </a:bodyPr>
          <a:p>
            <a:pPr marL="0" indent="0">
              <a:spcBef>
                <a:spcPct val="0"/>
              </a:spcBef>
              <a:spcAft>
                <a:spcPct val="0"/>
              </a:spcAft>
            </a:pPr>
            <a:r>
              <a:rPr lang="en-US" altLang="zh-CN" sz="1600" b="0" i="0">
                <a:solidFill>
                  <a:srgbClr val="0D0D0D"/>
                </a:solidFill>
                <a:latin typeface="Times New Roman" panose="02020603050405020304" pitchFamily="18" charset="0"/>
                <a:ea typeface="ui-sans-serif"/>
                <a:cs typeface="Times New Roman" panose="02020603050405020304" pitchFamily="18" charset="0"/>
              </a:rPr>
              <a:t>PartI</a:t>
            </a: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0" i="0">
                <a:solidFill>
                  <a:srgbClr val="0D0D0D"/>
                </a:solidFill>
                <a:latin typeface="Times New Roman" panose="02020603050405020304" pitchFamily="18" charset="0"/>
                <a:ea typeface="ui-sans-serif"/>
                <a:cs typeface="Times New Roman" panose="02020603050405020304" pitchFamily="18" charset="0"/>
              </a:rPr>
              <a:t>气</a:t>
            </a:r>
            <a:r>
              <a:rPr lang="zh-CN" altLang="en-US" sz="1600" b="0" i="0">
                <a:solidFill>
                  <a:srgbClr val="0D0D0D"/>
                </a:solidFill>
                <a:latin typeface="Times New Roman" panose="02020603050405020304" pitchFamily="18" charset="0"/>
                <a:ea typeface="ui-sans-serif"/>
                <a:cs typeface="Times New Roman" panose="02020603050405020304" pitchFamily="18" charset="0"/>
              </a:rPr>
              <a:t>海热通量（</a:t>
            </a:r>
            <a:r>
              <a:rPr lang="en-US" altLang="zh-CN" sz="1600" b="0" i="0">
                <a:solidFill>
                  <a:srgbClr val="0D0D0D"/>
                </a:solidFill>
                <a:latin typeface="Times New Roman" panose="02020603050405020304" pitchFamily="18" charset="0"/>
                <a:ea typeface="ui-sans-serif"/>
                <a:cs typeface="Times New Roman" panose="02020603050405020304" pitchFamily="18" charset="0"/>
              </a:rPr>
              <a:t>Air–Sea Heat Flux</a:t>
            </a:r>
            <a:r>
              <a:rPr lang="zh-CN" altLang="en-US" sz="1600" b="0" i="0">
                <a:solidFill>
                  <a:srgbClr val="0D0D0D"/>
                </a:solidFill>
                <a:latin typeface="Times New Roman" panose="02020603050405020304" pitchFamily="18" charset="0"/>
                <a:ea typeface="ui-sans-serif"/>
                <a:cs typeface="Times New Roman" panose="02020603050405020304" pitchFamily="18" charset="0"/>
              </a:rPr>
              <a:t>），当大气处于高压系统下</a:t>
            </a:r>
            <a:r>
              <a:rPr lang="en-US" altLang="zh-CN" sz="1600" b="0" i="0">
                <a:solidFill>
                  <a:srgbClr val="0D0D0D"/>
                </a:solidFill>
                <a:latin typeface="Times New Roman" panose="02020603050405020304" pitchFamily="18" charset="0"/>
                <a:ea typeface="ui-sans-serif"/>
                <a:cs typeface="Times New Roman" panose="02020603050405020304" pitchFamily="18" charset="0"/>
              </a:rPr>
              <a:t> </a:t>
            </a:r>
            <a:r>
              <a:rPr lang="en-US" altLang="en-US" sz="1600" b="0" i="0">
                <a:solidFill>
                  <a:srgbClr val="0D0D0D"/>
                </a:solidFill>
                <a:latin typeface="Times New Roman" panose="02020603050405020304" pitchFamily="18" charset="0"/>
                <a:ea typeface="ui-sans-serif"/>
                <a:cs typeface="Times New Roman" panose="02020603050405020304" pitchFamily="18" charset="0"/>
              </a:rPr>
              <a:t>→</a:t>
            </a:r>
            <a:r>
              <a:rPr lang="en-US" altLang="zh-CN" sz="1600" b="0" i="0">
                <a:solidFill>
                  <a:srgbClr val="0D0D0D"/>
                </a:solidFill>
                <a:latin typeface="Times New Roman" panose="02020603050405020304" pitchFamily="18" charset="0"/>
                <a:ea typeface="ui-sans-serif"/>
                <a:cs typeface="Times New Roman" panose="02020603050405020304" pitchFamily="18" charset="0"/>
              </a:rPr>
              <a:t> </a:t>
            </a:r>
            <a:r>
              <a:rPr lang="zh-CN" altLang="en-US" sz="1600" b="0" i="0">
                <a:solidFill>
                  <a:srgbClr val="0D0D0D"/>
                </a:solidFill>
                <a:latin typeface="Times New Roman" panose="02020603050405020304" pitchFamily="18" charset="0"/>
                <a:ea typeface="ui-sans-serif"/>
                <a:cs typeface="Times New Roman" panose="02020603050405020304" pitchFamily="18" charset="0"/>
              </a:rPr>
              <a:t>风速降低、蒸发减弱、云量减少、短波辐射增强</a:t>
            </a:r>
            <a:r>
              <a:rPr lang="en-US" altLang="zh-CN" sz="1600" b="0" i="0">
                <a:solidFill>
                  <a:srgbClr val="0D0D0D"/>
                </a:solidFill>
                <a:latin typeface="Times New Roman" panose="02020603050405020304" pitchFamily="18" charset="0"/>
                <a:ea typeface="ui-sans-serif"/>
                <a:cs typeface="Times New Roman" panose="02020603050405020304" pitchFamily="18" charset="0"/>
              </a:rPr>
              <a:t> </a:t>
            </a:r>
            <a:r>
              <a:rPr lang="en-US" altLang="en-US" sz="1600" b="0" i="0">
                <a:solidFill>
                  <a:srgbClr val="0D0D0D"/>
                </a:solidFill>
                <a:latin typeface="Times New Roman" panose="02020603050405020304" pitchFamily="18" charset="0"/>
                <a:ea typeface="ui-sans-serif"/>
                <a:cs typeface="Times New Roman" panose="02020603050405020304" pitchFamily="18" charset="0"/>
              </a:rPr>
              <a:t>→</a:t>
            </a:r>
            <a:endParaRPr lang="en-US" altLang="en-US" sz="1600" b="0"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zh-CN" altLang="en-US" sz="1600" b="0" i="0">
                <a:solidFill>
                  <a:srgbClr val="0D0D0D"/>
                </a:solidFill>
                <a:latin typeface="Times New Roman" panose="02020603050405020304" pitchFamily="18" charset="0"/>
                <a:ea typeface="ui-sans-serif"/>
                <a:cs typeface="Times New Roman" panose="02020603050405020304" pitchFamily="18" charset="0"/>
              </a:rPr>
              <a:t>海洋吸收的净热量增加，表层温度显著上升。</a:t>
            </a:r>
            <a:endParaRPr lang="zh-CN" altLang="en-US" sz="1600" b="0"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en-US" altLang="zh-CN" sz="1600" b="0" i="0">
                <a:solidFill>
                  <a:srgbClr val="0D0D0D"/>
                </a:solidFill>
                <a:latin typeface="Times New Roman" panose="02020603050405020304" pitchFamily="18" charset="0"/>
                <a:ea typeface="ui-sans-serif"/>
                <a:cs typeface="Times New Roman" panose="02020603050405020304" pitchFamily="18" charset="0"/>
              </a:rPr>
              <a:t>PartI</a:t>
            </a:r>
            <a:r>
              <a:rPr lang="en-US" altLang="zh-CN" sz="1600" b="0" i="0">
                <a:solidFill>
                  <a:srgbClr val="0D0D0D"/>
                </a:solidFill>
                <a:latin typeface="Times New Roman" panose="02020603050405020304" pitchFamily="18" charset="0"/>
                <a:ea typeface="ui-sans-serif"/>
                <a:cs typeface="Times New Roman" panose="02020603050405020304" pitchFamily="18" charset="0"/>
              </a:rPr>
              <a:t>I：</a:t>
            </a: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海洋动力输送（</a:t>
            </a:r>
            <a:r>
              <a:rPr lang="en-US" altLang="zh-CN"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Oceanic Advection and Mixing</a:t>
            </a: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0" i="0">
                <a:solidFill>
                  <a:srgbClr val="0D0D0D"/>
                </a:solidFill>
                <a:latin typeface="Times New Roman" panose="02020603050405020304" pitchFamily="18" charset="0"/>
                <a:ea typeface="ui-sans-serif"/>
                <a:cs typeface="Times New Roman" panose="02020603050405020304" pitchFamily="18" charset="0"/>
              </a:rPr>
              <a:t>若暖流增强或上升流减弱</a:t>
            </a:r>
            <a:r>
              <a:rPr lang="en-US" altLang="zh-CN" sz="1600" b="0" i="0">
                <a:solidFill>
                  <a:srgbClr val="0D0D0D"/>
                </a:solidFill>
                <a:latin typeface="Times New Roman" panose="02020603050405020304" pitchFamily="18" charset="0"/>
                <a:ea typeface="ui-sans-serif"/>
                <a:cs typeface="Times New Roman" panose="02020603050405020304" pitchFamily="18" charset="0"/>
              </a:rPr>
              <a:t> </a:t>
            </a:r>
            <a:r>
              <a:rPr lang="en-US" altLang="en-US" sz="1600" b="0" i="0">
                <a:solidFill>
                  <a:srgbClr val="0D0D0D"/>
                </a:solidFill>
                <a:latin typeface="Times New Roman" panose="02020603050405020304" pitchFamily="18" charset="0"/>
                <a:ea typeface="ui-sans-serif"/>
                <a:cs typeface="Times New Roman" panose="02020603050405020304" pitchFamily="18" charset="0"/>
              </a:rPr>
              <a:t>→</a:t>
            </a:r>
            <a:r>
              <a:rPr lang="en-US" altLang="zh-CN" sz="1600" b="0" i="0">
                <a:solidFill>
                  <a:srgbClr val="0D0D0D"/>
                </a:solidFill>
                <a:latin typeface="Times New Roman" panose="02020603050405020304" pitchFamily="18" charset="0"/>
                <a:ea typeface="ui-sans-serif"/>
                <a:cs typeface="Times New Roman" panose="02020603050405020304" pitchFamily="18" charset="0"/>
              </a:rPr>
              <a:t> </a:t>
            </a:r>
            <a:r>
              <a:rPr lang="zh-CN" altLang="en-US" sz="1600" b="0" i="0">
                <a:solidFill>
                  <a:srgbClr val="0D0D0D"/>
                </a:solidFill>
                <a:latin typeface="Times New Roman" panose="02020603050405020304" pitchFamily="18" charset="0"/>
                <a:ea typeface="ui-sans-serif"/>
                <a:cs typeface="Times New Roman" panose="02020603050405020304" pitchFamily="18" charset="0"/>
              </a:rPr>
              <a:t>热量在局地堆积</a:t>
            </a:r>
            <a:endParaRPr lang="zh-CN" altLang="en-US" sz="1600" b="0"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en-US" altLang="zh-CN" sz="1600" b="0" i="0">
                <a:solidFill>
                  <a:srgbClr val="0D0D0D"/>
                </a:solidFill>
                <a:latin typeface="Times New Roman" panose="02020603050405020304" pitchFamily="18" charset="0"/>
                <a:ea typeface="ui-sans-serif"/>
                <a:cs typeface="Times New Roman" panose="02020603050405020304" pitchFamily="18" charset="0"/>
              </a:rPr>
              <a:t>PartIII</a:t>
            </a: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：垂向过程与混合层深度变化（</a:t>
            </a:r>
            <a:r>
              <a:rPr lang="en-US" altLang="zh-CN"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Vertical mixing &amp; mixed-layer depth</a:t>
            </a: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9398000" y="1627505"/>
            <a:ext cx="2512060" cy="721360"/>
          </a:xfrm>
          <a:prstGeom prst="rect">
            <a:avLst/>
          </a:prstGeom>
        </p:spPr>
      </p:pic>
      <p:sp>
        <p:nvSpPr>
          <p:cNvPr id="9" name="圆角矩形 8"/>
          <p:cNvSpPr/>
          <p:nvPr/>
        </p:nvSpPr>
        <p:spPr>
          <a:xfrm>
            <a:off x="6420485" y="1627505"/>
            <a:ext cx="2735580" cy="804545"/>
          </a:xfrm>
          <a:prstGeom prst="roundRect">
            <a:avLst/>
          </a:prstGeom>
          <a:noFill/>
          <a:ln w="19050">
            <a:solidFill>
              <a:srgbClr val="0070C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圆角矩形 9"/>
          <p:cNvSpPr/>
          <p:nvPr/>
        </p:nvSpPr>
        <p:spPr>
          <a:xfrm>
            <a:off x="1954530" y="2103755"/>
            <a:ext cx="4417060" cy="432435"/>
          </a:xfrm>
          <a:prstGeom prst="roundRect">
            <a:avLst/>
          </a:prstGeom>
          <a:noFill/>
          <a:ln w="19050">
            <a:solidFill>
              <a:srgbClr val="0070C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0" y="1795780"/>
            <a:ext cx="1905000" cy="2345690"/>
          </a:xfrm>
          <a:prstGeom prst="rect">
            <a:avLst/>
          </a:prstGeom>
        </p:spPr>
        <p:txBody>
          <a:bodyPr wrap="square">
            <a:noAutofit/>
          </a:bodyPr>
          <a:p>
            <a:pPr marL="0" indent="0">
              <a:spcBef>
                <a:spcPct val="0"/>
              </a:spcBef>
              <a:spcAft>
                <a:spcPct val="0"/>
              </a:spcAft>
            </a:pPr>
            <a:r>
              <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、地转平流</a:t>
            </a:r>
            <a:r>
              <a:rPr lang="zh-CN" altLang="en-US"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Geostrophic advection, u</a:t>
            </a:r>
            <a:r>
              <a:rPr lang="zh-CN" altLang="en-US"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）：大尺度洋流（如黑潮、东澳大利亚流）输送暖水</a:t>
            </a:r>
            <a:endParaRPr lang="zh-CN" altLang="en-US"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ct val="0"/>
              </a:spcBef>
              <a:spcAft>
                <a:spcPct val="0"/>
              </a:spcAft>
            </a:pPr>
            <a:r>
              <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i="0">
                <a:solidFill>
                  <a:srgbClr val="0D0D0D"/>
                </a:solidFill>
                <a:latin typeface="Times New Roman" panose="02020603050405020304" pitchFamily="18" charset="0"/>
                <a:ea typeface="ui-sans-serif"/>
                <a:cs typeface="Times New Roman" panose="02020603050405020304" pitchFamily="18" charset="0"/>
              </a:rPr>
              <a:t>埃克曼平流</a:t>
            </a:r>
            <a:r>
              <a:rPr lang="zh-CN" altLang="en-US" sz="1200" b="0" i="0">
                <a:solidFill>
                  <a:srgbClr val="0D0D0D"/>
                </a:solidFill>
                <a:latin typeface="Times New Roman" panose="02020603050405020304" pitchFamily="18" charset="0"/>
                <a:ea typeface="ui-sans-serif"/>
                <a:cs typeface="Times New Roman" panose="02020603050405020304" pitchFamily="18" charset="0"/>
              </a:rPr>
              <a:t>（Ekman advection）：风应力驱动的表层流动，将暖水推向特定区域</a:t>
            </a:r>
            <a:endParaRPr lang="zh-CN" altLang="en-US" sz="1200" b="0"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、中尺度混和</a:t>
            </a:r>
            <a:r>
              <a:rPr lang="zh-CN" altLang="en-US"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Mesoscale mixing, κ</a:t>
            </a:r>
            <a:r>
              <a:rPr lang="en-US" altLang="en-US"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ₕ</a:t>
            </a:r>
            <a:r>
              <a:rPr lang="zh-CN" altLang="en-US"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）：涡旋和锋面活动使热量横向扩散</a:t>
            </a:r>
            <a:endParaRPr lang="zh-CN" altLang="en-US" sz="12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p:cNvSpPr txBox="1"/>
          <p:nvPr/>
        </p:nvSpPr>
        <p:spPr>
          <a:xfrm>
            <a:off x="6884035" y="1612265"/>
            <a:ext cx="1737995" cy="423545"/>
          </a:xfrm>
          <a:prstGeom prst="rect">
            <a:avLst/>
          </a:prstGeom>
          <a:noFill/>
        </p:spPr>
        <p:txBody>
          <a:bodyPr wrap="square" rtlCol="0" anchor="t">
            <a:spAutoFit/>
          </a:bodyPr>
          <a:p>
            <a:pPr algn="ctr">
              <a:lnSpc>
                <a:spcPct val="120000"/>
              </a:lnSpc>
              <a:spcBef>
                <a:spcPts val="0"/>
              </a:spcBef>
              <a:spcAft>
                <a:spcPts val="0"/>
              </a:spcAft>
            </a:pP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PartI</a:t>
            </a:r>
            <a:endParaRPr lang="en-US" altLang="zh-CN" dirty="0" smtClean="0">
              <a:solidFill>
                <a:srgbClr val="C00000"/>
              </a:solidFill>
              <a:effectLst/>
              <a:latin typeface="Times New Roman" panose="02020603050405020304" pitchFamily="18" charset="0"/>
              <a:ea typeface="ui-sans-serif"/>
              <a:cs typeface="Times New Roman" panose="02020603050405020304" pitchFamily="18" charset="0"/>
              <a:sym typeface="+mn-ea"/>
            </a:endParaRPr>
          </a:p>
        </p:txBody>
      </p:sp>
      <p:sp>
        <p:nvSpPr>
          <p:cNvPr id="14" name="文本框 13"/>
          <p:cNvSpPr txBox="1"/>
          <p:nvPr/>
        </p:nvSpPr>
        <p:spPr>
          <a:xfrm>
            <a:off x="1905000" y="1730375"/>
            <a:ext cx="1737995" cy="755650"/>
          </a:xfrm>
          <a:prstGeom prst="rect">
            <a:avLst/>
          </a:prstGeom>
          <a:noFill/>
        </p:spPr>
        <p:txBody>
          <a:bodyPr wrap="square" rtlCol="0" anchor="t">
            <a:spAutoFit/>
          </a:bodyPr>
          <a:p>
            <a:pPr algn="ctr">
              <a:lnSpc>
                <a:spcPct val="120000"/>
              </a:lnSpc>
              <a:spcBef>
                <a:spcPts val="0"/>
              </a:spcBef>
              <a:spcAft>
                <a:spcPts val="0"/>
              </a:spcAft>
            </a:pP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PartI</a:t>
            </a: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I</a:t>
            </a:r>
            <a:endParaRPr lang="en-US" altLang="zh-CN">
              <a:solidFill>
                <a:srgbClr val="C00000"/>
              </a:solidFill>
              <a:latin typeface="Times New Roman" panose="02020603050405020304" pitchFamily="18" charset="0"/>
              <a:ea typeface="ui-sans-serif"/>
              <a:cs typeface="Times New Roman" panose="02020603050405020304" pitchFamily="18" charset="0"/>
              <a:sym typeface="+mn-ea"/>
            </a:endParaRPr>
          </a:p>
          <a:p>
            <a:pPr algn="ctr">
              <a:lnSpc>
                <a:spcPct val="120000"/>
              </a:lnSpc>
              <a:spcBef>
                <a:spcPts val="0"/>
              </a:spcBef>
              <a:spcAft>
                <a:spcPts val="0"/>
              </a:spcAft>
            </a:pPr>
            <a:endParaRPr lang="en-US" altLang="zh-CN">
              <a:solidFill>
                <a:srgbClr val="C00000"/>
              </a:solidFill>
              <a:latin typeface="Times New Roman" panose="02020603050405020304" pitchFamily="18" charset="0"/>
              <a:ea typeface="ui-sans-serif"/>
              <a:cs typeface="Times New Roman" panose="02020603050405020304" pitchFamily="18" charset="0"/>
              <a:sym typeface="+mn-ea"/>
            </a:endParaRPr>
          </a:p>
        </p:txBody>
      </p:sp>
      <p:sp>
        <p:nvSpPr>
          <p:cNvPr id="15" name="圆角矩形 14"/>
          <p:cNvSpPr/>
          <p:nvPr/>
        </p:nvSpPr>
        <p:spPr>
          <a:xfrm>
            <a:off x="4836160" y="3758565"/>
            <a:ext cx="4154170" cy="1379855"/>
          </a:xfrm>
          <a:prstGeom prst="roundRect">
            <a:avLst/>
          </a:prstGeom>
          <a:noFill/>
          <a:ln w="19050">
            <a:solidFill>
              <a:srgbClr val="0070C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8990330" y="4569460"/>
            <a:ext cx="1079500" cy="423545"/>
          </a:xfrm>
          <a:prstGeom prst="rect">
            <a:avLst/>
          </a:prstGeom>
          <a:noFill/>
        </p:spPr>
        <p:txBody>
          <a:bodyPr wrap="square" rtlCol="0" anchor="t">
            <a:spAutoFit/>
          </a:bodyPr>
          <a:p>
            <a:pPr algn="ctr">
              <a:lnSpc>
                <a:spcPct val="120000"/>
              </a:lnSpc>
              <a:spcBef>
                <a:spcPts val="0"/>
              </a:spcBef>
              <a:spcAft>
                <a:spcPts val="0"/>
              </a:spcAft>
            </a:pP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PartI</a:t>
            </a: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II</a:t>
            </a:r>
            <a:endParaRPr lang="en-US" altLang="zh-CN">
              <a:solidFill>
                <a:srgbClr val="C00000"/>
              </a:solidFill>
              <a:latin typeface="Times New Roman" panose="02020603050405020304" pitchFamily="18" charset="0"/>
              <a:ea typeface="ui-sans-serif"/>
              <a:cs typeface="Times New Roman" panose="02020603050405020304" pitchFamily="18" charset="0"/>
              <a:sym typeface="+mn-ea"/>
            </a:endParaRPr>
          </a:p>
        </p:txBody>
      </p:sp>
      <p:sp>
        <p:nvSpPr>
          <p:cNvPr id="17" name="文本框 16"/>
          <p:cNvSpPr txBox="1"/>
          <p:nvPr/>
        </p:nvSpPr>
        <p:spPr>
          <a:xfrm>
            <a:off x="9564370" y="3127375"/>
            <a:ext cx="2561590" cy="1442085"/>
          </a:xfrm>
          <a:prstGeom prst="rect">
            <a:avLst/>
          </a:prstGeom>
        </p:spPr>
        <p:txBody>
          <a:bodyPr wrap="square">
            <a:noAutofit/>
          </a:bodyPr>
          <a:p>
            <a:pPr marL="0" indent="0" algn="l">
              <a:buClrTx/>
              <a:buSzTx/>
              <a:buFont typeface="Arial" panose="020B0604020202020204"/>
              <a:buNone/>
            </a:pPr>
            <a:r>
              <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混合层深度变化（h）：</a:t>
            </a:r>
            <a:endPar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0" algn="l">
              <a:buClrTx/>
              <a:buSzTx/>
              <a:buFont typeface="Arial" panose="020B0604020202020204"/>
              <a:buNone/>
            </a:pPr>
            <a:r>
              <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i. 混合层变浅 → 热量集中</a:t>
            </a:r>
            <a:endPar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0" algn="l">
              <a:buClrTx/>
              <a:buSzTx/>
              <a:buFont typeface="Arial" panose="020B0604020202020204"/>
              <a:buNone/>
            </a:pPr>
            <a:r>
              <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在更薄的表层 → 升温加剧；</a:t>
            </a:r>
            <a:endPar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0" algn="l">
              <a:buClrTx/>
              <a:buSzTx/>
              <a:buFont typeface="Arial" panose="020B0604020202020204"/>
              <a:buNone/>
            </a:pPr>
            <a:r>
              <a:rPr lang="en-US" altLang="zh-CN" sz="1200">
                <a:solidFill>
                  <a:srgbClr val="0D0D0D"/>
                </a:solidFill>
                <a:latin typeface="Times New Roman" panose="02020603050405020304" pitchFamily="18" charset="0"/>
                <a:ea typeface="宋体" panose="02010600030101010101" pitchFamily="2" charset="-122"/>
                <a:cs typeface="Times New Roman" panose="02020603050405020304" pitchFamily="18" charset="0"/>
                <a:sym typeface="+mn-ea"/>
              </a:rPr>
              <a:t>ii. </a:t>
            </a:r>
            <a:r>
              <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混合层加深或上升流增强 → 冷水上翻 → 抑制升温。</a:t>
            </a:r>
            <a:endPar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l">
              <a:buClrTx/>
              <a:buSzTx/>
              <a:buFont typeface="Arial" panose="020B0604020202020204"/>
              <a:buNone/>
            </a:pPr>
            <a:r>
              <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垂向混合（Vertical mixing, κᵥ）：</a:t>
            </a:r>
            <a:r>
              <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决定热量能否扩散向深层。</a:t>
            </a:r>
            <a:endParaRPr lang="en-US" altLang="zh-CN" sz="120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7"/>
          <p:cNvSpPr txBox="1"/>
          <p:nvPr/>
        </p:nvSpPr>
        <p:spPr>
          <a:xfrm>
            <a:off x="221615" y="6346825"/>
            <a:ext cx="10636885" cy="398780"/>
          </a:xfrm>
          <a:prstGeom prst="rect">
            <a:avLst/>
          </a:prstGeom>
        </p:spPr>
        <p:txBody>
          <a:bodyPr wrap="square">
            <a:spAutoFit/>
          </a:bodyPr>
          <a:p>
            <a:pPr marL="0" indent="0">
              <a:spcBef>
                <a:spcPct val="0"/>
              </a:spcBef>
              <a:spcAft>
                <a:spcPct val="0"/>
              </a:spcAft>
            </a:pPr>
            <a:r>
              <a:rPr lang="zh-CN" altLang="en-US" sz="2000" b="1" i="0">
                <a:solidFill>
                  <a:srgbClr val="C00000"/>
                </a:solidFill>
                <a:latin typeface="ui-sans-serif"/>
                <a:ea typeface="ui-sans-serif"/>
              </a:rPr>
              <a:t>结论：</a:t>
            </a:r>
            <a:r>
              <a:rPr lang="zh-CN" altLang="en-US" sz="1600" b="0" i="0">
                <a:solidFill>
                  <a:srgbClr val="0D0D0D"/>
                </a:solidFill>
                <a:latin typeface="ui-sans-serif"/>
                <a:ea typeface="ui-sans-serif"/>
              </a:rPr>
              <a:t>当表层吸热增强、暖流输送加强、混合层变浅时，海洋热量无法有效散失，就会形成持续的高温异常。</a:t>
            </a:r>
            <a:endParaRPr lang="zh-CN" altLang="en-US" sz="1600" b="0" i="0">
              <a:solidFill>
                <a:srgbClr val="0D0D0D"/>
              </a:solidFill>
              <a:latin typeface="ui-sans-serif"/>
              <a:ea typeface="ui-sans-serif"/>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52095" y="1443355"/>
            <a:ext cx="6517005" cy="5081270"/>
          </a:xfrm>
          <a:prstGeom prst="rect">
            <a:avLst/>
          </a:prstGeom>
        </p:spPr>
      </p:pic>
      <p:sp>
        <p:nvSpPr>
          <p:cNvPr id="3" name="文本框 2"/>
          <p:cNvSpPr txBox="1"/>
          <p:nvPr/>
        </p:nvSpPr>
        <p:spPr>
          <a:xfrm>
            <a:off x="688975" y="1064895"/>
            <a:ext cx="3743960" cy="386080"/>
          </a:xfrm>
          <a:prstGeom prst="rect">
            <a:avLst/>
          </a:prstGeom>
          <a:noFill/>
        </p:spPr>
        <p:txBody>
          <a:bodyPr wrap="square" rtlCol="0" anchor="t">
            <a:spAutoFit/>
          </a:bodyPr>
          <a:p>
            <a:pPr algn="ctr">
              <a:lnSpc>
                <a:spcPct val="120000"/>
              </a:lnSpc>
              <a:spcBef>
                <a:spcPts val="0"/>
              </a:spcBef>
              <a:spcAft>
                <a:spcPts val="0"/>
              </a:spcAft>
            </a:pPr>
            <a:r>
              <a:rPr lang="zh-CN" altLang="en-US" sz="1600" b="1">
                <a:solidFill>
                  <a:schemeClr val="accent3">
                    <a:lumMod val="75000"/>
                  </a:schemeClr>
                </a:solidFill>
                <a:latin typeface="ui-sans-serif"/>
                <a:ea typeface="ui-sans-serif"/>
                <a:sym typeface="+mn-ea"/>
              </a:rPr>
              <a:t>四、基于塔斯曼海事件的现象</a:t>
            </a:r>
            <a:r>
              <a:rPr lang="zh-CN" altLang="en-US" sz="1600" b="1">
                <a:solidFill>
                  <a:schemeClr val="accent3">
                    <a:lumMod val="75000"/>
                  </a:schemeClr>
                </a:solidFill>
                <a:latin typeface="ui-sans-serif"/>
                <a:ea typeface="ui-sans-serif"/>
                <a:sym typeface="+mn-ea"/>
              </a:rPr>
              <a:t>分析</a:t>
            </a:r>
            <a:endParaRPr lang="zh-CN" altLang="en-US" sz="1600" b="1">
              <a:solidFill>
                <a:schemeClr val="accent3">
                  <a:lumMod val="75000"/>
                </a:schemeClr>
              </a:solidFill>
              <a:latin typeface="ui-sans-serif"/>
              <a:ea typeface="ui-sans-serif"/>
              <a:sym typeface="+mn-ea"/>
            </a:endParaRPr>
          </a:p>
        </p:txBody>
      </p:sp>
      <p:sp>
        <p:nvSpPr>
          <p:cNvPr id="4" name="文本框 3"/>
          <p:cNvSpPr txBox="1"/>
          <p:nvPr/>
        </p:nvSpPr>
        <p:spPr>
          <a:xfrm>
            <a:off x="7625080" y="6042660"/>
            <a:ext cx="4104640" cy="645160"/>
          </a:xfrm>
          <a:prstGeom prst="rect">
            <a:avLst/>
          </a:prstGeom>
        </p:spPr>
        <p:txBody>
          <a:bodyPr wrap="square">
            <a:spAutoFit/>
          </a:bodyPr>
          <a:p>
            <a:pPr marL="0" indent="0"/>
            <a:r>
              <a:rPr lang="zh-CN" altLang="en-US" sz="2000" b="1" i="0">
                <a:solidFill>
                  <a:srgbClr val="C00000"/>
                </a:solidFill>
                <a:latin typeface="ui-sans-serif"/>
                <a:ea typeface="ui-sans-serif"/>
              </a:rPr>
              <a:t>结</a:t>
            </a:r>
            <a:r>
              <a:rPr lang="zh-CN" altLang="en-US" sz="2000" b="1" i="0">
                <a:solidFill>
                  <a:srgbClr val="C00000"/>
                </a:solidFill>
                <a:latin typeface="ui-sans-serif"/>
                <a:ea typeface="ui-sans-serif"/>
              </a:rPr>
              <a:t>论：</a:t>
            </a:r>
            <a:r>
              <a:rPr lang="en-US" altLang="zh-CN" sz="1600" b="0" i="0">
                <a:solidFill>
                  <a:srgbClr val="0D0D0D"/>
                </a:solidFill>
                <a:latin typeface="ui-sans-serif"/>
                <a:ea typeface="ui-sans-serif"/>
              </a:rPr>
              <a:t>MHW </a:t>
            </a:r>
            <a:r>
              <a:rPr lang="zh-CN" altLang="en-US" sz="1600" b="0" i="0">
                <a:solidFill>
                  <a:srgbClr val="0D0D0D"/>
                </a:solidFill>
                <a:latin typeface="ui-sans-serif"/>
                <a:ea typeface="ui-sans-serif"/>
              </a:rPr>
              <a:t>并非由单一过程造成，</a:t>
            </a:r>
            <a:endParaRPr lang="zh-CN" altLang="en-US" sz="1600" b="0" i="0">
              <a:solidFill>
                <a:srgbClr val="0D0D0D"/>
              </a:solidFill>
              <a:latin typeface="ui-sans-serif"/>
              <a:ea typeface="ui-sans-serif"/>
            </a:endParaRPr>
          </a:p>
          <a:p>
            <a:pPr marL="0" indent="0"/>
            <a:r>
              <a:rPr lang="zh-CN" altLang="en-US" sz="1600" b="0" i="0">
                <a:solidFill>
                  <a:srgbClr val="0D0D0D"/>
                </a:solidFill>
                <a:latin typeface="ui-sans-serif"/>
                <a:ea typeface="ui-sans-serif"/>
              </a:rPr>
              <a:t>而是多种热量收支项的叠加效应。</a:t>
            </a:r>
            <a:endParaRPr lang="zh-CN" altLang="en-US" sz="1600" b="0" i="0">
              <a:solidFill>
                <a:srgbClr val="0D0D0D"/>
              </a:solidFill>
              <a:latin typeface="ui-sans-serif"/>
              <a:ea typeface="ui-sans-serif"/>
            </a:endParaRPr>
          </a:p>
        </p:txBody>
      </p:sp>
      <p:sp>
        <p:nvSpPr>
          <p:cNvPr id="13" name="文本框 12"/>
          <p:cNvSpPr txBox="1"/>
          <p:nvPr/>
        </p:nvSpPr>
        <p:spPr>
          <a:xfrm>
            <a:off x="6642100" y="4203065"/>
            <a:ext cx="664845" cy="423545"/>
          </a:xfrm>
          <a:prstGeom prst="rect">
            <a:avLst/>
          </a:prstGeom>
          <a:noFill/>
        </p:spPr>
        <p:txBody>
          <a:bodyPr wrap="square" rtlCol="0" anchor="t">
            <a:spAutoFit/>
          </a:bodyPr>
          <a:p>
            <a:pPr algn="ctr">
              <a:lnSpc>
                <a:spcPct val="120000"/>
              </a:lnSpc>
              <a:spcBef>
                <a:spcPts val="0"/>
              </a:spcBef>
              <a:spcAft>
                <a:spcPts val="0"/>
              </a:spcAft>
            </a:pP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PartI</a:t>
            </a:r>
            <a:endParaRPr lang="en-US" altLang="zh-CN" dirty="0" smtClean="0">
              <a:solidFill>
                <a:srgbClr val="C00000"/>
              </a:solidFill>
              <a:effectLst/>
              <a:latin typeface="Times New Roman" panose="02020603050405020304" pitchFamily="18" charset="0"/>
              <a:ea typeface="ui-sans-serif"/>
              <a:cs typeface="Times New Roman" panose="02020603050405020304" pitchFamily="18" charset="0"/>
              <a:sym typeface="+mn-ea"/>
            </a:endParaRPr>
          </a:p>
        </p:txBody>
      </p:sp>
      <p:sp>
        <p:nvSpPr>
          <p:cNvPr id="5" name="文本框 4"/>
          <p:cNvSpPr txBox="1"/>
          <p:nvPr/>
        </p:nvSpPr>
        <p:spPr>
          <a:xfrm>
            <a:off x="6595745" y="4942205"/>
            <a:ext cx="785495" cy="423545"/>
          </a:xfrm>
          <a:prstGeom prst="rect">
            <a:avLst/>
          </a:prstGeom>
          <a:noFill/>
        </p:spPr>
        <p:txBody>
          <a:bodyPr wrap="square" rtlCol="0" anchor="t">
            <a:spAutoFit/>
          </a:bodyPr>
          <a:p>
            <a:pPr algn="ctr">
              <a:lnSpc>
                <a:spcPct val="120000"/>
              </a:lnSpc>
              <a:spcBef>
                <a:spcPts val="0"/>
              </a:spcBef>
              <a:spcAft>
                <a:spcPts val="0"/>
              </a:spcAft>
            </a:pP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PartI</a:t>
            </a: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II</a:t>
            </a:r>
            <a:endParaRPr lang="en-US" altLang="zh-CN">
              <a:solidFill>
                <a:srgbClr val="C00000"/>
              </a:solidFill>
              <a:latin typeface="Times New Roman" panose="02020603050405020304" pitchFamily="18" charset="0"/>
              <a:ea typeface="ui-sans-serif"/>
              <a:cs typeface="Times New Roman" panose="02020603050405020304" pitchFamily="18" charset="0"/>
              <a:sym typeface="+mn-ea"/>
            </a:endParaRPr>
          </a:p>
        </p:txBody>
      </p:sp>
      <p:sp>
        <p:nvSpPr>
          <p:cNvPr id="6" name="文本框 5"/>
          <p:cNvSpPr txBox="1"/>
          <p:nvPr/>
        </p:nvSpPr>
        <p:spPr>
          <a:xfrm>
            <a:off x="6607175" y="5780405"/>
            <a:ext cx="785495" cy="423545"/>
          </a:xfrm>
          <a:prstGeom prst="rect">
            <a:avLst/>
          </a:prstGeom>
          <a:noFill/>
        </p:spPr>
        <p:txBody>
          <a:bodyPr wrap="square" rtlCol="0" anchor="t">
            <a:spAutoFit/>
          </a:bodyPr>
          <a:p>
            <a:pPr algn="ctr">
              <a:lnSpc>
                <a:spcPct val="120000"/>
              </a:lnSpc>
              <a:spcBef>
                <a:spcPts val="0"/>
              </a:spcBef>
              <a:spcAft>
                <a:spcPts val="0"/>
              </a:spcAft>
            </a:pP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PartI</a:t>
            </a:r>
            <a:r>
              <a:rPr lang="en-US" altLang="zh-CN">
                <a:solidFill>
                  <a:srgbClr val="C00000"/>
                </a:solidFill>
                <a:latin typeface="Times New Roman" panose="02020603050405020304" pitchFamily="18" charset="0"/>
                <a:ea typeface="ui-sans-serif"/>
                <a:cs typeface="Times New Roman" panose="02020603050405020304" pitchFamily="18" charset="0"/>
                <a:sym typeface="+mn-ea"/>
              </a:rPr>
              <a:t>I</a:t>
            </a:r>
            <a:endParaRPr lang="en-US" altLang="zh-CN">
              <a:solidFill>
                <a:srgbClr val="C00000"/>
              </a:solidFill>
              <a:latin typeface="Times New Roman" panose="02020603050405020304" pitchFamily="18" charset="0"/>
              <a:ea typeface="ui-sans-serif"/>
              <a:cs typeface="Times New Roman" panose="02020603050405020304" pitchFamily="18" charset="0"/>
              <a:sym typeface="+mn-ea"/>
            </a:endParaRPr>
          </a:p>
        </p:txBody>
      </p:sp>
      <p:sp>
        <p:nvSpPr>
          <p:cNvPr id="7" name="文本框 6"/>
          <p:cNvSpPr txBox="1"/>
          <p:nvPr/>
        </p:nvSpPr>
        <p:spPr>
          <a:xfrm>
            <a:off x="7306310" y="1064895"/>
            <a:ext cx="4886325" cy="4340225"/>
          </a:xfrm>
          <a:prstGeom prst="rect">
            <a:avLst/>
          </a:prstGeom>
        </p:spPr>
        <p:txBody>
          <a:bodyPr wrap="square">
            <a:noAutofit/>
          </a:bodyPr>
          <a:p>
            <a:pPr marL="0" indent="0">
              <a:spcBef>
                <a:spcPct val="0"/>
              </a:spcBef>
              <a:spcAft>
                <a:spcPct val="0"/>
              </a:spcAft>
              <a:buAutoNum type="arabicPeriod"/>
            </a:pPr>
            <a:r>
              <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海表温度异常（SST anomaly）明显上升</a:t>
            </a:r>
            <a:endPar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图 (a) 和 (d)：塔斯曼海区域在2015年底至2016年初出现了持续升温，SST 异常最高达 +3°C。</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说明该时期发生了强烈且持续的海洋热浪。</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ct val="0"/>
              </a:spcBef>
              <a:spcAft>
                <a:spcPct val="0"/>
              </a:spcAft>
              <a:buAutoNum type="arabicPeriod"/>
            </a:pPr>
            <a:r>
              <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大气热通量增强（Surface heat flux increase）</a:t>
            </a:r>
            <a:endPar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图 (b) 和 (e)：净热通量（Qnet）在热浪期间为正，表示海洋吸收了更多来自大气的热量。</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说明：大气热通量异常是MHW的初始触发因素。</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ct val="0"/>
              </a:spcBef>
              <a:spcAft>
                <a:spcPct val="0"/>
              </a:spcAft>
              <a:buAutoNum type="arabicPeriod"/>
            </a:pPr>
            <a:r>
              <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混合层变浅（Mixed-layer depth anomaly）</a:t>
            </a:r>
            <a:endPar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图 (b) 和 (f)：在热浪高峰期，混合层深度（MLD）显著减小（负异常）。</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说明：热量集中在更浅的表层中，限制了向深层的扩散，增强表层温度异常。</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ct val="0"/>
              </a:spcBef>
              <a:spcAft>
                <a:spcPct val="0"/>
              </a:spcAft>
              <a:buAutoNum type="arabicPeriod"/>
            </a:pPr>
            <a:r>
              <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异常洋流输送暖水（Anomalous advection of warm water）</a:t>
            </a:r>
            <a:endParaRPr lang="zh-CN" altLang="en-US" sz="1600" b="1"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图 (c) 和 (g)：表层洋流异常指向南方（红色箭头），表明来自北方的暖流增强。</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marL="0" lvl="1" indent="457200">
              <a:spcBef>
                <a:spcPct val="0"/>
              </a:spcBef>
              <a:spcAft>
                <a:spcPct val="0"/>
              </a:spcAft>
              <a:buFont typeface="Arial" panose="020B0604020202020204"/>
              <a:buNone/>
            </a:pPr>
            <a:r>
              <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说明：暖流平流进一步维持热量堆积，加强MHW强度。</a:t>
            </a:r>
            <a:endParaRPr lang="zh-CN" altLang="en-US" sz="1600" b="0" i="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2705" y="1372235"/>
            <a:ext cx="11988800" cy="5553710"/>
          </a:xfrm>
          <a:prstGeom prst="rect">
            <a:avLst/>
          </a:prstGeom>
        </p:spPr>
        <p:txBody>
          <a:bodyPr wrap="square">
            <a:noAutofit/>
          </a:bodyPr>
          <a:p>
            <a:pPr marL="0" algn="l">
              <a:buClrTx/>
              <a:buSzTx/>
              <a:buFont typeface="Arial" panose="020B0604020202020204"/>
            </a:pPr>
            <a:r>
              <a:rPr lang="zh-CN" altLang="en-US" b="1" i="0">
                <a:solidFill>
                  <a:schemeClr val="accent3">
                    <a:lumMod val="75000"/>
                  </a:schemeClr>
                </a:solidFill>
                <a:latin typeface="ui-sans-serif"/>
                <a:ea typeface="ui-sans-serif"/>
              </a:rPr>
              <a:t>一、海洋热浪预测本身的科学难点</a:t>
            </a:r>
            <a:endParaRPr lang="zh-CN" altLang="en-US" b="1" i="0">
              <a:solidFill>
                <a:schemeClr val="accent3">
                  <a:lumMod val="75000"/>
                </a:schemeClr>
              </a:solidFill>
              <a:latin typeface="ui-sans-serif"/>
              <a:ea typeface="ui-sans-serif"/>
            </a:endParaRPr>
          </a:p>
          <a:p>
            <a:pPr marL="0" indent="0">
              <a:spcBef>
                <a:spcPct val="0"/>
              </a:spcBef>
              <a:spcAft>
                <a:spcPct val="0"/>
              </a:spcAft>
            </a:pPr>
            <a:r>
              <a:rPr lang="en-US" altLang="zh-CN" b="1" i="0">
                <a:solidFill>
                  <a:srgbClr val="0D0D0D"/>
                </a:solidFill>
                <a:latin typeface="Times New Roman" panose="02020603050405020304" pitchFamily="18" charset="0"/>
                <a:ea typeface="ui-sans-serif"/>
                <a:cs typeface="Times New Roman" panose="02020603050405020304" pitchFamily="18" charset="0"/>
              </a:rPr>
              <a:t>1</a:t>
            </a:r>
            <a:r>
              <a:rPr lang="zh-CN" altLang="en-US"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i="0">
                <a:solidFill>
                  <a:srgbClr val="0D0D0D"/>
                </a:solidFill>
                <a:latin typeface="Times New Roman" panose="02020603050405020304" pitchFamily="18" charset="0"/>
                <a:ea typeface="ui-sans-serif"/>
                <a:cs typeface="Times New Roman" panose="02020603050405020304" pitchFamily="18" charset="0"/>
              </a:rPr>
              <a:t>物理过程复杂、尺度多样</a:t>
            </a:r>
            <a:endParaRPr lang="zh-CN" altLang="en-US" b="1"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zh-CN" altLang="en-US" b="0" i="0">
                <a:solidFill>
                  <a:srgbClr val="0D0D0D"/>
                </a:solidFill>
                <a:latin typeface="Times New Roman" panose="02020603050405020304" pitchFamily="18" charset="0"/>
                <a:ea typeface="ui-sans-serif"/>
                <a:cs typeface="Times New Roman" panose="02020603050405020304" pitchFamily="18" charset="0"/>
              </a:rPr>
              <a:t>涉及多时空尺度耦合（从天气尺度到季节尺度），物理机制复杂、非线性强。</a:t>
            </a: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en-US" altLang="zh-CN" b="1">
                <a:solidFill>
                  <a:srgbClr val="0D0D0D"/>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b="1">
                <a:solidFill>
                  <a:srgbClr val="0D0D0D"/>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b="1">
                <a:solidFill>
                  <a:srgbClr val="0D0D0D"/>
                </a:solidFill>
                <a:latin typeface="Times New Roman" panose="02020603050405020304" pitchFamily="18" charset="0"/>
                <a:ea typeface="ui-sans-serif"/>
                <a:cs typeface="Times New Roman" panose="02020603050405020304" pitchFamily="18" charset="0"/>
                <a:sym typeface="+mn-ea"/>
              </a:rPr>
              <a:t>观测稀疏与同化困难</a:t>
            </a:r>
            <a:endParaRPr lang="zh-CN" altLang="en-US" b="1"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a:solidFill>
                  <a:srgbClr val="0D0D0D"/>
                </a:solidFill>
                <a:latin typeface="Times New Roman" panose="02020603050405020304" pitchFamily="18" charset="0"/>
                <a:ea typeface="ui-sans-serif"/>
                <a:cs typeface="Times New Roman" panose="02020603050405020304" pitchFamily="18" charset="0"/>
                <a:sym typeface="+mn-ea"/>
              </a:rPr>
              <a:t>i. </a:t>
            </a:r>
            <a:r>
              <a:rPr lang="zh-CN" altLang="en-US">
                <a:solidFill>
                  <a:srgbClr val="0D0D0D"/>
                </a:solidFill>
                <a:latin typeface="Times New Roman" panose="02020603050405020304" pitchFamily="18" charset="0"/>
                <a:ea typeface="ui-sans-serif"/>
                <a:cs typeface="Times New Roman" panose="02020603050405020304" pitchFamily="18" charset="0"/>
                <a:sym typeface="+mn-ea"/>
              </a:rPr>
              <a:t>海洋观测点分布稀疏且不连续，难直接获取完整初始场；</a:t>
            </a: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a:solidFill>
                  <a:srgbClr val="0D0D0D"/>
                </a:solidFill>
                <a:latin typeface="Times New Roman" panose="02020603050405020304" pitchFamily="18" charset="0"/>
                <a:ea typeface="ui-sans-serif"/>
                <a:cs typeface="Times New Roman" panose="02020603050405020304" pitchFamily="18" charset="0"/>
                <a:sym typeface="+mn-ea"/>
              </a:rPr>
              <a:t>ii.</a:t>
            </a:r>
            <a:r>
              <a:rPr lang="en-US" altLang="zh-CN">
                <a:solidFill>
                  <a:srgbClr val="0D0D0D"/>
                </a:solidFill>
                <a:latin typeface="Times New Roman" panose="02020603050405020304" pitchFamily="18" charset="0"/>
                <a:ea typeface="ui-sans-serif"/>
                <a:cs typeface="Times New Roman" panose="02020603050405020304" pitchFamily="18" charset="0"/>
                <a:sym typeface="+mn-ea"/>
              </a:rPr>
              <a:t> </a:t>
            </a:r>
            <a:r>
              <a:rPr lang="zh-CN" altLang="en-US">
                <a:solidFill>
                  <a:srgbClr val="0D0D0D"/>
                </a:solidFill>
                <a:latin typeface="Times New Roman" panose="02020603050405020304" pitchFamily="18" charset="0"/>
                <a:ea typeface="ui-sans-serif"/>
                <a:cs typeface="Times New Roman" panose="02020603050405020304" pitchFamily="18" charset="0"/>
                <a:sym typeface="+mn-ea"/>
              </a:rPr>
              <a:t>传统数据同化过程耗时、计算复杂。</a:t>
            </a:r>
            <a:endParaRPr lang="zh-CN" altLang="en-US">
              <a:solidFill>
                <a:srgbClr val="0D0D0D"/>
              </a:solidFill>
              <a:latin typeface="Times New Roman" panose="02020603050405020304" pitchFamily="18" charset="0"/>
              <a:ea typeface="ui-sans-serif"/>
              <a:cs typeface="Times New Roman" panose="02020603050405020304" pitchFamily="18" charset="0"/>
              <a:sym typeface="+mn-ea"/>
            </a:endParaRPr>
          </a:p>
          <a:p>
            <a:pPr marL="0" indent="457200">
              <a:spcBef>
                <a:spcPct val="0"/>
              </a:spcBef>
              <a:spcAft>
                <a:spcPct val="0"/>
              </a:spcAft>
              <a:buFont typeface="Arial" panose="020B0604020202020204"/>
              <a:buNone/>
            </a:pPr>
            <a:endParaRPr lang="zh-CN" altLang="en-US">
              <a:solidFill>
                <a:srgbClr val="0D0D0D"/>
              </a:solidFill>
              <a:latin typeface="Times New Roman" panose="02020603050405020304" pitchFamily="18" charset="0"/>
              <a:ea typeface="ui-sans-serif"/>
              <a:cs typeface="Times New Roman" panose="02020603050405020304" pitchFamily="18" charset="0"/>
              <a:sym typeface="+mn-ea"/>
            </a:endParaRPr>
          </a:p>
          <a:p>
            <a:pPr marL="0" indent="0">
              <a:spcBef>
                <a:spcPct val="0"/>
              </a:spcBef>
              <a:spcAft>
                <a:spcPct val="0"/>
              </a:spcAft>
            </a:pPr>
            <a:r>
              <a:rPr lang="zh-CN" altLang="en-US" b="1">
                <a:solidFill>
                  <a:schemeClr val="accent3">
                    <a:lumMod val="75000"/>
                  </a:schemeClr>
                </a:solidFill>
                <a:latin typeface="ui-sans-serif"/>
                <a:ea typeface="ui-sans-serif"/>
                <a:sym typeface="+mn-ea"/>
              </a:rPr>
              <a:t>二、方法层面的技术难点</a:t>
            </a:r>
            <a:endParaRPr lang="zh-CN" altLang="en-US" b="1" i="0">
              <a:solidFill>
                <a:schemeClr val="accent3">
                  <a:lumMod val="75000"/>
                </a:schemeClr>
              </a:solidFill>
              <a:latin typeface="ui-sans-serif"/>
              <a:ea typeface="ui-sans-serif"/>
            </a:endParaRPr>
          </a:p>
          <a:p>
            <a:pPr marL="0" indent="0">
              <a:spcBef>
                <a:spcPct val="0"/>
              </a:spcBef>
              <a:spcAft>
                <a:spcPct val="0"/>
              </a:spcAft>
            </a:pPr>
            <a:r>
              <a:rPr lang="en-US" altLang="zh-CN"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i="0">
                <a:solidFill>
                  <a:srgbClr val="0D0D0D"/>
                </a:solidFill>
                <a:latin typeface="Times New Roman" panose="02020603050405020304" pitchFamily="18" charset="0"/>
                <a:ea typeface="ui-sans-serif"/>
                <a:cs typeface="Times New Roman" panose="02020603050405020304" pitchFamily="18" charset="0"/>
              </a:rPr>
              <a:t>数值模型</a:t>
            </a:r>
            <a:r>
              <a:rPr lang="en-US" altLang="zh-CN" b="1" i="0">
                <a:solidFill>
                  <a:srgbClr val="0D0D0D"/>
                </a:solidFill>
                <a:latin typeface="Times New Roman" panose="02020603050405020304" pitchFamily="18" charset="0"/>
                <a:ea typeface="ui-sans-serif"/>
                <a:cs typeface="Times New Roman" panose="02020603050405020304" pitchFamily="18" charset="0"/>
              </a:rPr>
              <a:t>:</a:t>
            </a:r>
            <a:r>
              <a:rPr lang="zh-CN" altLang="en-US">
                <a:solidFill>
                  <a:srgbClr val="0D0D0D"/>
                </a:solidFill>
                <a:latin typeface="Times New Roman" panose="02020603050405020304" pitchFamily="18" charset="0"/>
                <a:ea typeface="ui-sans-serif"/>
                <a:cs typeface="Times New Roman" panose="02020603050405020304" pitchFamily="18" charset="0"/>
                <a:sym typeface="+mn-ea"/>
              </a:rPr>
              <a:t>基于海洋原始方程求解，通过数值积分得到海温演化，用于季节至次季节（</a:t>
            </a:r>
            <a:r>
              <a:rPr lang="en-US" altLang="zh-CN">
                <a:solidFill>
                  <a:srgbClr val="0D0D0D"/>
                </a:solidFill>
                <a:latin typeface="Times New Roman" panose="02020603050405020304" pitchFamily="18" charset="0"/>
                <a:ea typeface="ui-sans-serif"/>
                <a:cs typeface="Times New Roman" panose="02020603050405020304" pitchFamily="18" charset="0"/>
                <a:sym typeface="+mn-ea"/>
              </a:rPr>
              <a:t>subseasonal-to-seasonal, S2S</a:t>
            </a:r>
            <a:r>
              <a:rPr lang="zh-CN" altLang="en-US">
                <a:solidFill>
                  <a:srgbClr val="0D0D0D"/>
                </a:solidFill>
                <a:latin typeface="Times New Roman" panose="02020603050405020304" pitchFamily="18" charset="0"/>
                <a:ea typeface="ui-sans-serif"/>
                <a:cs typeface="Times New Roman" panose="02020603050405020304" pitchFamily="18" charset="0"/>
                <a:sym typeface="+mn-ea"/>
              </a:rPr>
              <a:t>）尺度的预测。</a:t>
            </a:r>
            <a:endParaRPr lang="zh-CN" altLang="en-US" b="1"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zh-CN" altLang="en-US" b="1" i="0">
                <a:solidFill>
                  <a:srgbClr val="0D0D0D"/>
                </a:solidFill>
                <a:latin typeface="Times New Roman" panose="02020603050405020304" pitchFamily="18" charset="0"/>
                <a:ea typeface="ui-sans-serif"/>
                <a:cs typeface="Times New Roman" panose="02020603050405020304" pitchFamily="18" charset="0"/>
              </a:rPr>
              <a:t>计算量大且存在系统性偏差</a:t>
            </a:r>
            <a:endParaRPr lang="zh-CN" altLang="en-US" b="1"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i="0">
                <a:solidFill>
                  <a:srgbClr val="0D0D0D"/>
                </a:solidFill>
                <a:latin typeface="Times New Roman" panose="02020603050405020304" pitchFamily="18" charset="0"/>
                <a:ea typeface="ui-sans-serif"/>
                <a:cs typeface="Times New Roman" panose="02020603050405020304" pitchFamily="18" charset="0"/>
              </a:rPr>
              <a:t>i. </a:t>
            </a:r>
            <a:r>
              <a:rPr lang="zh-CN" altLang="en-US" b="0" i="0">
                <a:solidFill>
                  <a:srgbClr val="0D0D0D"/>
                </a:solidFill>
                <a:latin typeface="Times New Roman" panose="02020603050405020304" pitchFamily="18" charset="0"/>
                <a:ea typeface="ui-sans-serif"/>
                <a:cs typeface="Times New Roman" panose="02020603050405020304" pitchFamily="18" charset="0"/>
              </a:rPr>
              <a:t>高分辨率数值模式计算资源消耗极高；</a:t>
            </a: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i="0">
                <a:solidFill>
                  <a:srgbClr val="0D0D0D"/>
                </a:solidFill>
                <a:latin typeface="Times New Roman" panose="02020603050405020304" pitchFamily="18" charset="0"/>
                <a:ea typeface="ui-sans-serif"/>
                <a:cs typeface="Times New Roman" panose="02020603050405020304" pitchFamily="18" charset="0"/>
              </a:rPr>
              <a:t>ii.</a:t>
            </a:r>
            <a:r>
              <a:rPr lang="en-US" altLang="zh-CN" b="0" i="0">
                <a:solidFill>
                  <a:srgbClr val="0D0D0D"/>
                </a:solidFill>
                <a:latin typeface="Times New Roman" panose="02020603050405020304" pitchFamily="18" charset="0"/>
                <a:ea typeface="ui-sans-serif"/>
                <a:cs typeface="Times New Roman" panose="02020603050405020304" pitchFamily="18" charset="0"/>
              </a:rPr>
              <a:t> </a:t>
            </a:r>
            <a:r>
              <a:rPr lang="zh-CN" altLang="en-US" i="0">
                <a:solidFill>
                  <a:srgbClr val="0D0D0D"/>
                </a:solidFill>
                <a:latin typeface="Times New Roman" panose="02020603050405020304" pitchFamily="18" charset="0"/>
                <a:ea typeface="ui-sans-serif"/>
                <a:cs typeface="Times New Roman" panose="02020603050405020304" pitchFamily="18" charset="0"/>
              </a:rPr>
              <a:t>常用经验公式参数化关键的物理过程（如海气耦合与中尺度涡动力学）会带来系统偏差</a:t>
            </a:r>
            <a:endParaRPr lang="zh-CN" altLang="en-US"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i="0">
                <a:solidFill>
                  <a:srgbClr val="0D0D0D"/>
                </a:solidFill>
                <a:latin typeface="Times New Roman" panose="02020603050405020304" pitchFamily="18" charset="0"/>
                <a:ea typeface="ui-sans-serif"/>
                <a:cs typeface="Times New Roman" panose="02020603050405020304" pitchFamily="18" charset="0"/>
              </a:rPr>
              <a:t>iii.</a:t>
            </a:r>
            <a:r>
              <a:rPr lang="en-US" altLang="zh-CN" b="0" i="0">
                <a:solidFill>
                  <a:srgbClr val="0D0D0D"/>
                </a:solidFill>
                <a:latin typeface="Times New Roman" panose="02020603050405020304" pitchFamily="18" charset="0"/>
                <a:ea typeface="ui-sans-serif"/>
                <a:cs typeface="Times New Roman" panose="02020603050405020304" pitchFamily="18" charset="0"/>
              </a:rPr>
              <a:t> </a:t>
            </a:r>
            <a:r>
              <a:rPr lang="zh-CN" altLang="en-US" b="0" i="0">
                <a:solidFill>
                  <a:srgbClr val="0D0D0D"/>
                </a:solidFill>
                <a:latin typeface="Times New Roman" panose="02020603050405020304" pitchFamily="18" charset="0"/>
                <a:ea typeface="ui-sans-serif"/>
                <a:cs typeface="Times New Roman" panose="02020603050405020304" pitchFamily="18" charset="0"/>
              </a:rPr>
              <a:t>对极端</a:t>
            </a:r>
            <a:r>
              <a:rPr lang="en-US" altLang="zh-CN" b="0" i="0">
                <a:solidFill>
                  <a:srgbClr val="0D0D0D"/>
                </a:solidFill>
                <a:latin typeface="Times New Roman" panose="02020603050405020304" pitchFamily="18" charset="0"/>
                <a:ea typeface="ui-sans-serif"/>
                <a:cs typeface="Times New Roman" panose="02020603050405020304" pitchFamily="18" charset="0"/>
              </a:rPr>
              <a:t>MHW</a:t>
            </a:r>
            <a:r>
              <a:rPr lang="zh-CN" altLang="en-US" b="0" i="0">
                <a:solidFill>
                  <a:srgbClr val="0D0D0D"/>
                </a:solidFill>
                <a:latin typeface="Times New Roman" panose="02020603050405020304" pitchFamily="18" charset="0"/>
                <a:ea typeface="ui-sans-serif"/>
                <a:cs typeface="Times New Roman" panose="02020603050405020304" pitchFamily="18" charset="0"/>
              </a:rPr>
              <a:t>事件的强度预测不足。</a:t>
            </a: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en-US" altLang="zh-CN"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b="1" i="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i="0">
                <a:solidFill>
                  <a:srgbClr val="0D0D0D"/>
                </a:solidFill>
                <a:latin typeface="Times New Roman" panose="02020603050405020304" pitchFamily="18" charset="0"/>
                <a:ea typeface="ui-sans-serif"/>
                <a:cs typeface="Times New Roman" panose="02020603050405020304" pitchFamily="18" charset="0"/>
              </a:rPr>
              <a:t>数据驱动模型</a:t>
            </a:r>
            <a:r>
              <a:rPr lang="en-US" altLang="zh-CN" b="1" i="0">
                <a:solidFill>
                  <a:srgbClr val="0D0D0D"/>
                </a:solidFill>
                <a:latin typeface="Times New Roman" panose="02020603050405020304" pitchFamily="18" charset="0"/>
                <a:ea typeface="ui-sans-serif"/>
                <a:cs typeface="Times New Roman" panose="02020603050405020304" pitchFamily="18" charset="0"/>
              </a:rPr>
              <a:t>:</a:t>
            </a:r>
            <a:r>
              <a:rPr lang="zh-CN" altLang="en-US">
                <a:solidFill>
                  <a:srgbClr val="0D0D0D"/>
                </a:solidFill>
                <a:latin typeface="Times New Roman" panose="02020603050405020304" pitchFamily="18" charset="0"/>
                <a:ea typeface="ui-sans-serif"/>
                <a:cs typeface="Times New Roman" panose="02020603050405020304" pitchFamily="18" charset="0"/>
                <a:sym typeface="+mn-ea"/>
              </a:rPr>
              <a:t>利用深度学习学习海洋动力学的统计规律，直接从观测数据预测海表温度异常（</a:t>
            </a:r>
            <a:r>
              <a:rPr lang="en-US" altLang="zh-CN">
                <a:solidFill>
                  <a:srgbClr val="0D0D0D"/>
                </a:solidFill>
                <a:latin typeface="Times New Roman" panose="02020603050405020304" pitchFamily="18" charset="0"/>
                <a:ea typeface="ui-sans-serif"/>
                <a:cs typeface="Times New Roman" panose="02020603050405020304" pitchFamily="18" charset="0"/>
                <a:sym typeface="+mn-ea"/>
              </a:rPr>
              <a:t>SSTA</a:t>
            </a:r>
            <a:r>
              <a:rPr lang="zh-CN" altLang="en-US">
                <a:solidFill>
                  <a:srgbClr val="0D0D0D"/>
                </a:solidFill>
                <a:latin typeface="Times New Roman" panose="02020603050405020304" pitchFamily="18" charset="0"/>
                <a:ea typeface="ui-sans-serif"/>
                <a:cs typeface="Times New Roman" panose="02020603050405020304" pitchFamily="18" charset="0"/>
                <a:sym typeface="+mn-ea"/>
              </a:rPr>
              <a:t>）。</a:t>
            </a:r>
            <a:endParaRPr lang="zh-CN" altLang="en-US" b="1"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r>
              <a:rPr lang="zh-CN" altLang="en-US" b="1" i="0">
                <a:solidFill>
                  <a:srgbClr val="0D0D0D"/>
                </a:solidFill>
                <a:latin typeface="Times New Roman" panose="02020603050405020304" pitchFamily="18" charset="0"/>
                <a:ea typeface="ui-sans-serif"/>
                <a:cs typeface="Times New Roman" panose="02020603050405020304" pitchFamily="18" charset="0"/>
              </a:rPr>
              <a:t>缺乏物理约束</a:t>
            </a:r>
            <a:endParaRPr lang="zh-CN" altLang="en-US" b="1"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i="0">
                <a:solidFill>
                  <a:srgbClr val="0D0D0D"/>
                </a:solidFill>
                <a:latin typeface="Times New Roman" panose="02020603050405020304" pitchFamily="18" charset="0"/>
                <a:ea typeface="ui-sans-serif"/>
                <a:cs typeface="Times New Roman" panose="02020603050405020304" pitchFamily="18" charset="0"/>
              </a:rPr>
              <a:t>i. </a:t>
            </a:r>
            <a:r>
              <a:rPr lang="zh-CN" altLang="en-US" b="0" i="0">
                <a:solidFill>
                  <a:srgbClr val="0D0D0D"/>
                </a:solidFill>
                <a:latin typeface="Times New Roman" panose="02020603050405020304" pitchFamily="18" charset="0"/>
                <a:ea typeface="ui-sans-serif"/>
                <a:cs typeface="Times New Roman" panose="02020603050405020304" pitchFamily="18" charset="0"/>
              </a:rPr>
              <a:t>虽能快速预测，但容易生成“非物理场”；</a:t>
            </a: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i="0">
                <a:solidFill>
                  <a:srgbClr val="0D0D0D"/>
                </a:solidFill>
                <a:latin typeface="Times New Roman" panose="02020603050405020304" pitchFamily="18" charset="0"/>
                <a:ea typeface="ui-sans-serif"/>
                <a:cs typeface="Times New Roman" panose="02020603050405020304" pitchFamily="18" charset="0"/>
              </a:rPr>
              <a:t>ii. </a:t>
            </a:r>
            <a:r>
              <a:rPr lang="zh-CN" altLang="en-US" b="0" i="0">
                <a:solidFill>
                  <a:srgbClr val="0D0D0D"/>
                </a:solidFill>
                <a:latin typeface="Times New Roman" panose="02020603050405020304" pitchFamily="18" charset="0"/>
                <a:ea typeface="ui-sans-serif"/>
                <a:cs typeface="Times New Roman" panose="02020603050405020304" pitchFamily="18" charset="0"/>
              </a:rPr>
              <a:t>时间滚动预测中误差积累，平滑温度梯度、弱化极端事件；</a:t>
            </a: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r>
              <a:rPr lang="en-US" altLang="zh-CN" b="1" i="0">
                <a:solidFill>
                  <a:srgbClr val="0D0D0D"/>
                </a:solidFill>
                <a:latin typeface="Times New Roman" panose="02020603050405020304" pitchFamily="18" charset="0"/>
                <a:ea typeface="ui-sans-serif"/>
                <a:cs typeface="Times New Roman" panose="02020603050405020304" pitchFamily="18" charset="0"/>
              </a:rPr>
              <a:t>iii.</a:t>
            </a:r>
            <a:r>
              <a:rPr lang="en-US" altLang="zh-CN" b="0" i="0">
                <a:solidFill>
                  <a:srgbClr val="0D0D0D"/>
                </a:solidFill>
                <a:latin typeface="Times New Roman" panose="02020603050405020304" pitchFamily="18" charset="0"/>
                <a:ea typeface="ui-sans-serif"/>
                <a:cs typeface="Times New Roman" panose="02020603050405020304" pitchFamily="18" charset="0"/>
              </a:rPr>
              <a:t> </a:t>
            </a:r>
            <a:r>
              <a:rPr lang="zh-CN" altLang="en-US" b="0" i="0">
                <a:solidFill>
                  <a:srgbClr val="0D0D0D"/>
                </a:solidFill>
                <a:latin typeface="Times New Roman" panose="02020603050405020304" pitchFamily="18" charset="0"/>
                <a:ea typeface="ui-sans-serif"/>
                <a:cs typeface="Times New Roman" panose="02020603050405020304" pitchFamily="18" charset="0"/>
              </a:rPr>
              <a:t>通常依赖数值模式提供</a:t>
            </a:r>
            <a:r>
              <a:rPr lang="zh-CN" altLang="en-US" b="1" i="0">
                <a:solidFill>
                  <a:srgbClr val="0D0D0D"/>
                </a:solidFill>
                <a:latin typeface="Times New Roman" panose="02020603050405020304" pitchFamily="18" charset="0"/>
                <a:ea typeface="ui-sans-serif"/>
                <a:cs typeface="Times New Roman" panose="02020603050405020304" pitchFamily="18" charset="0"/>
              </a:rPr>
              <a:t>初始条件</a:t>
            </a:r>
            <a:r>
              <a:rPr lang="zh-CN" altLang="en-US" b="0" i="0">
                <a:solidFill>
                  <a:srgbClr val="0D0D0D"/>
                </a:solidFill>
                <a:latin typeface="Times New Roman" panose="02020603050405020304" pitchFamily="18" charset="0"/>
                <a:ea typeface="ui-sans-serif"/>
                <a:cs typeface="Times New Roman" panose="02020603050405020304" pitchFamily="18" charset="0"/>
              </a:rPr>
              <a:t>，难以实现端到端预测。</a:t>
            </a: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457200">
              <a:spcBef>
                <a:spcPct val="0"/>
              </a:spcBef>
              <a:spcAft>
                <a:spcPct val="0"/>
              </a:spcAft>
              <a:buFont typeface="Arial" panose="020B0604020202020204"/>
              <a:buNone/>
            </a:pP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a:p>
            <a:pPr marL="0" indent="0">
              <a:spcBef>
                <a:spcPct val="0"/>
              </a:spcBef>
              <a:spcAft>
                <a:spcPct val="0"/>
              </a:spcAft>
            </a:pPr>
            <a:endParaRPr lang="zh-CN" altLang="en-US" b="0" i="0">
              <a:solidFill>
                <a:srgbClr val="0D0D0D"/>
              </a:solidFill>
              <a:latin typeface="Times New Roman" panose="02020603050405020304" pitchFamily="18" charset="0"/>
              <a:ea typeface="ui-sans-serif"/>
              <a:cs typeface="Times New Roman" panose="02020603050405020304" pitchFamily="18" charset="0"/>
            </a:endParaRPr>
          </a:p>
        </p:txBody>
      </p:sp>
      <p:sp>
        <p:nvSpPr>
          <p:cNvPr id="12" name="矩形 11"/>
          <p:cNvSpPr/>
          <p:nvPr/>
        </p:nvSpPr>
        <p:spPr>
          <a:xfrm>
            <a:off x="156210" y="990600"/>
            <a:ext cx="2435860" cy="363855"/>
          </a:xfrm>
          <a:prstGeom prst="rect">
            <a:avLst/>
          </a:prstGeom>
          <a:noFill/>
          <a:ln w="28575">
            <a:solidFill>
              <a:schemeClr val="accent3">
                <a:lumMod val="75000"/>
              </a:schemeClr>
            </a:solidFill>
            <a:prstDash val="dash"/>
          </a:ln>
          <a:extLst>
            <a:ext uri="{909E8E84-426E-40DD-AFC4-6F175D3DCCD1}">
              <a14:hiddenFill xmlns:a14="http://schemas.microsoft.com/office/drawing/2010/main">
                <a:solidFill>
                  <a:schemeClr val="accent3">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55245" y="948690"/>
            <a:ext cx="2461895" cy="386080"/>
          </a:xfrm>
          <a:prstGeom prst="rect">
            <a:avLst/>
          </a:prstGeom>
          <a:noFill/>
        </p:spPr>
        <p:txBody>
          <a:bodyPr wrap="square" rtlCol="0" anchor="t">
            <a:spAutoFit/>
          </a:bodyPr>
          <a:p>
            <a:pPr algn="ctr">
              <a:lnSpc>
                <a:spcPct val="120000"/>
              </a:lnSpc>
              <a:spcBef>
                <a:spcPts val="0"/>
              </a:spcBef>
              <a:spcAft>
                <a:spcPts val="0"/>
              </a:spcAft>
            </a:pPr>
            <a:r>
              <a:rPr lang="zh-CN" altLang="en-US" sz="1600" b="1">
                <a:solidFill>
                  <a:srgbClr val="FF0000"/>
                </a:solidFill>
                <a:latin typeface="ui-sans-serif"/>
                <a:ea typeface="ui-sans-serif"/>
                <a:sym typeface="+mn-ea"/>
              </a:rPr>
              <a:t>Q</a:t>
            </a:r>
            <a:r>
              <a:rPr lang="en-US" altLang="zh-CN" sz="1600" b="1">
                <a:solidFill>
                  <a:srgbClr val="FF0000"/>
                </a:solidFill>
                <a:latin typeface="ui-sans-serif"/>
                <a:ea typeface="ui-sans-serif"/>
                <a:sym typeface="+mn-ea"/>
              </a:rPr>
              <a:t>2</a:t>
            </a:r>
            <a:r>
              <a:rPr lang="zh-CN" altLang="en-US" sz="1600" b="1">
                <a:solidFill>
                  <a:srgbClr val="FF0000"/>
                </a:solidFill>
                <a:latin typeface="ui-sans-serif"/>
                <a:ea typeface="ui-sans-serif"/>
                <a:sym typeface="+mn-ea"/>
              </a:rPr>
              <a:t>：</a:t>
            </a:r>
            <a:r>
              <a:rPr lang="zh-CN" altLang="en-US" sz="1600" b="1">
                <a:solidFill>
                  <a:schemeClr val="tx1"/>
                </a:solidFill>
                <a:latin typeface="ui-sans-serif"/>
                <a:ea typeface="ui-sans-serif"/>
                <a:sym typeface="+mn-ea"/>
              </a:rPr>
              <a:t>模型的动机是什么？</a:t>
            </a:r>
            <a:endParaRPr lang="zh-CN" altLang="en-US" sz="1600" b="1">
              <a:solidFill>
                <a:schemeClr val="tx1"/>
              </a:solidFill>
              <a:latin typeface="ui-sans-serif"/>
              <a:ea typeface="ui-sans-serif"/>
              <a:sym typeface="+mn-ea"/>
            </a:endParaRPr>
          </a:p>
        </p:txBody>
      </p:sp>
      <p:grpSp>
        <p:nvGrpSpPr>
          <p:cNvPr id="5" name="组合 4"/>
          <p:cNvGrpSpPr/>
          <p:nvPr/>
        </p:nvGrpSpPr>
        <p:grpSpPr>
          <a:xfrm>
            <a:off x="8513445" y="1193800"/>
            <a:ext cx="2621280" cy="1201420"/>
            <a:chOff x="13407" y="1880"/>
            <a:chExt cx="4128" cy="1892"/>
          </a:xfrm>
        </p:grpSpPr>
        <p:sp>
          <p:nvSpPr>
            <p:cNvPr id="3" name="矩形 2"/>
            <p:cNvSpPr/>
            <p:nvPr/>
          </p:nvSpPr>
          <p:spPr>
            <a:xfrm>
              <a:off x="13407" y="1880"/>
              <a:ext cx="4129" cy="1892"/>
            </a:xfrm>
            <a:prstGeom prst="rect">
              <a:avLst/>
            </a:prstGeom>
            <a:noFill/>
            <a:ln w="28575">
              <a:solidFill>
                <a:srgbClr val="C00000"/>
              </a:solidFill>
              <a:prstDash val="dash"/>
            </a:ln>
            <a:extLst>
              <a:ext uri="{909E8E84-426E-40DD-AFC4-6F175D3DCCD1}">
                <a14:hiddenFill xmlns:a14="http://schemas.microsoft.com/office/drawing/2010/main">
                  <a:solidFill>
                    <a:schemeClr val="accent3">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407" y="2102"/>
              <a:ext cx="4024" cy="1537"/>
            </a:xfrm>
            <a:prstGeom prst="rect">
              <a:avLst/>
            </a:prstGeom>
            <a:noFill/>
          </p:spPr>
          <p:txBody>
            <a:bodyPr wrap="square" rtlCol="0" anchor="t">
              <a:spAutoFit/>
            </a:bodyPr>
            <a:p>
              <a:pPr algn="ctr">
                <a:lnSpc>
                  <a:spcPct val="120000"/>
                </a:lnSpc>
                <a:spcBef>
                  <a:spcPts val="0"/>
                </a:spcBef>
                <a:spcAft>
                  <a:spcPts val="0"/>
                </a:spcAft>
              </a:pPr>
              <a:r>
                <a:rPr lang="zh-CN" altLang="en-US" sz="1600" b="1">
                  <a:solidFill>
                    <a:srgbClr val="C00000"/>
                  </a:solidFill>
                  <a:latin typeface="ui-sans-serif"/>
                  <a:ea typeface="ui-sans-serif"/>
                  <a:sym typeface="+mn-ea"/>
                </a:rPr>
                <a:t>问题的核心：将能理解动态的物理模型与模拟不确定性的</a:t>
              </a:r>
              <a:r>
                <a:rPr lang="en-US" altLang="zh-CN" sz="1600" b="1">
                  <a:solidFill>
                    <a:srgbClr val="C00000"/>
                  </a:solidFill>
                  <a:latin typeface="ui-sans-serif"/>
                  <a:ea typeface="ui-sans-serif"/>
                  <a:sym typeface="+mn-ea"/>
                </a:rPr>
                <a:t>AI</a:t>
              </a:r>
              <a:r>
                <a:rPr lang="zh-CN" altLang="en-US" sz="1600" b="1">
                  <a:solidFill>
                    <a:srgbClr val="C00000"/>
                  </a:solidFill>
                  <a:latin typeface="ui-sans-serif"/>
                  <a:ea typeface="ui-sans-serif"/>
                  <a:sym typeface="+mn-ea"/>
                </a:rPr>
                <a:t>组件结合</a:t>
              </a:r>
              <a:endParaRPr lang="zh-CN" altLang="en-US" sz="1600" b="1">
                <a:solidFill>
                  <a:srgbClr val="C00000"/>
                </a:solidFill>
                <a:latin typeface="ui-sans-serif"/>
                <a:ea typeface="ui-sans-serif"/>
                <a:sym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nvSpPr>
        <p:spPr>
          <a:xfrm>
            <a:off x="156210" y="990600"/>
            <a:ext cx="2435860" cy="363855"/>
          </a:xfrm>
          <a:prstGeom prst="rect">
            <a:avLst/>
          </a:prstGeom>
          <a:noFill/>
          <a:ln w="28575">
            <a:solidFill>
              <a:schemeClr val="accent3">
                <a:lumMod val="75000"/>
              </a:schemeClr>
            </a:solidFill>
            <a:prstDash val="dash"/>
          </a:ln>
          <a:extLst>
            <a:ext uri="{909E8E84-426E-40DD-AFC4-6F175D3DCCD1}">
              <a14:hiddenFill xmlns:a14="http://schemas.microsoft.com/office/drawing/2010/main">
                <a:solidFill>
                  <a:schemeClr val="accent3">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87325" y="948690"/>
            <a:ext cx="2461895" cy="386080"/>
          </a:xfrm>
          <a:prstGeom prst="rect">
            <a:avLst/>
          </a:prstGeom>
          <a:noFill/>
        </p:spPr>
        <p:txBody>
          <a:bodyPr wrap="square" rtlCol="0" anchor="t">
            <a:spAutoFit/>
          </a:bodyPr>
          <a:p>
            <a:pPr algn="ctr">
              <a:lnSpc>
                <a:spcPct val="120000"/>
              </a:lnSpc>
              <a:spcBef>
                <a:spcPts val="0"/>
              </a:spcBef>
              <a:spcAft>
                <a:spcPts val="0"/>
              </a:spcAft>
            </a:pPr>
            <a:r>
              <a:rPr lang="zh-CN" altLang="en-US" sz="1600" b="1">
                <a:solidFill>
                  <a:srgbClr val="FF0000"/>
                </a:solidFill>
                <a:latin typeface="ui-sans-serif"/>
                <a:ea typeface="ui-sans-serif"/>
                <a:sym typeface="+mn-ea"/>
              </a:rPr>
              <a:t>Q</a:t>
            </a:r>
            <a:r>
              <a:rPr lang="en-US" altLang="zh-CN" sz="1600" b="1">
                <a:solidFill>
                  <a:srgbClr val="FF0000"/>
                </a:solidFill>
                <a:latin typeface="ui-sans-serif"/>
                <a:ea typeface="ui-sans-serif"/>
                <a:sym typeface="+mn-ea"/>
              </a:rPr>
              <a:t>3</a:t>
            </a:r>
            <a:r>
              <a:rPr lang="zh-CN" altLang="en-US" sz="1600" b="1">
                <a:solidFill>
                  <a:srgbClr val="FF0000"/>
                </a:solidFill>
                <a:latin typeface="ui-sans-serif"/>
                <a:ea typeface="ui-sans-serif"/>
                <a:sym typeface="+mn-ea"/>
              </a:rPr>
              <a:t>：</a:t>
            </a:r>
            <a:r>
              <a:rPr lang="zh-CN" altLang="en-US" sz="1600" b="1">
                <a:solidFill>
                  <a:schemeClr val="tx1"/>
                </a:solidFill>
                <a:latin typeface="ui-sans-serif"/>
                <a:ea typeface="ui-sans-serif"/>
                <a:sym typeface="+mn-ea"/>
              </a:rPr>
              <a:t>如何融合物理信息？</a:t>
            </a:r>
            <a:endParaRPr lang="zh-CN" altLang="en-US" sz="1600" b="1">
              <a:solidFill>
                <a:schemeClr val="tx1"/>
              </a:solidFill>
              <a:latin typeface="ui-sans-serif"/>
              <a:ea typeface="ui-sans-serif"/>
              <a:sym typeface="+mn-ea"/>
            </a:endParaRPr>
          </a:p>
        </p:txBody>
      </p:sp>
      <p:sp>
        <p:nvSpPr>
          <p:cNvPr id="3" name="文本框 2"/>
          <p:cNvSpPr txBox="1"/>
          <p:nvPr/>
        </p:nvSpPr>
        <p:spPr>
          <a:xfrm>
            <a:off x="156210" y="1525270"/>
            <a:ext cx="60960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一、问题定义与</a:t>
            </a:r>
            <a:r>
              <a:rPr lang="zh-CN" altLang="en-US" b="1">
                <a:solidFill>
                  <a:schemeClr val="accent3">
                    <a:lumMod val="75000"/>
                  </a:schemeClr>
                </a:solidFill>
                <a:latin typeface="ui-sans-serif"/>
                <a:ea typeface="ui-sans-serif"/>
                <a:sym typeface="+mn-ea"/>
              </a:rPr>
              <a:t>转化</a:t>
            </a:r>
            <a:endParaRPr lang="zh-CN" altLang="en-US" b="1">
              <a:solidFill>
                <a:schemeClr val="accent3">
                  <a:lumMod val="75000"/>
                </a:schemeClr>
              </a:solidFill>
              <a:latin typeface="ui-sans-serif"/>
              <a:ea typeface="ui-sans-serif"/>
              <a:sym typeface="+mn-ea"/>
            </a:endParaRPr>
          </a:p>
        </p:txBody>
      </p:sp>
      <p:pic>
        <p:nvPicPr>
          <p:cNvPr id="5" name="图片 4"/>
          <p:cNvPicPr>
            <a:picLocks noChangeAspect="1"/>
          </p:cNvPicPr>
          <p:nvPr/>
        </p:nvPicPr>
        <p:blipFill>
          <a:blip r:embed="rId1"/>
          <a:stretch>
            <a:fillRect/>
          </a:stretch>
        </p:blipFill>
        <p:spPr>
          <a:xfrm>
            <a:off x="1576705" y="2045970"/>
            <a:ext cx="7778115" cy="27482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5410" y="1047115"/>
            <a:ext cx="60960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二、整体的</a:t>
            </a:r>
            <a:r>
              <a:rPr lang="zh-CN" altLang="en-US" b="1">
                <a:solidFill>
                  <a:schemeClr val="accent3">
                    <a:lumMod val="75000"/>
                  </a:schemeClr>
                </a:solidFill>
                <a:latin typeface="ui-sans-serif"/>
                <a:ea typeface="ui-sans-serif"/>
                <a:sym typeface="+mn-ea"/>
              </a:rPr>
              <a:t>流程</a:t>
            </a:r>
            <a:endParaRPr lang="zh-CN" altLang="en-US" b="1">
              <a:solidFill>
                <a:schemeClr val="accent3">
                  <a:lumMod val="75000"/>
                </a:schemeClr>
              </a:solidFill>
              <a:latin typeface="ui-sans-serif"/>
              <a:ea typeface="ui-sans-serif"/>
              <a:sym typeface="+mn-ea"/>
            </a:endParaRPr>
          </a:p>
        </p:txBody>
      </p:sp>
      <p:pic>
        <p:nvPicPr>
          <p:cNvPr id="4" name="图片 3"/>
          <p:cNvPicPr>
            <a:picLocks noChangeAspect="1"/>
          </p:cNvPicPr>
          <p:nvPr/>
        </p:nvPicPr>
        <p:blipFill>
          <a:blip r:embed="rId1"/>
          <a:stretch>
            <a:fillRect/>
          </a:stretch>
        </p:blipFill>
        <p:spPr>
          <a:xfrm>
            <a:off x="1384300" y="1415415"/>
            <a:ext cx="9561195" cy="5361940"/>
          </a:xfrm>
          <a:prstGeom prst="rect">
            <a:avLst/>
          </a:prstGeom>
        </p:spPr>
      </p:pic>
      <p:sp>
        <p:nvSpPr>
          <p:cNvPr id="5" name="矩形 4"/>
          <p:cNvSpPr/>
          <p:nvPr/>
        </p:nvSpPr>
        <p:spPr>
          <a:xfrm>
            <a:off x="1548130" y="4097655"/>
            <a:ext cx="9228455" cy="2557145"/>
          </a:xfrm>
          <a:prstGeom prst="rect">
            <a:avLst/>
          </a:prstGeom>
          <a:solidFill>
            <a:schemeClr val="bg2">
              <a:lumMod val="75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 name="曲线连接符 5"/>
          <p:cNvCxnSpPr/>
          <p:nvPr/>
        </p:nvCxnSpPr>
        <p:spPr>
          <a:xfrm rot="16200000">
            <a:off x="2919730" y="1482090"/>
            <a:ext cx="440055" cy="220345"/>
          </a:xfrm>
          <a:prstGeom prst="curvedConnector3">
            <a:avLst>
              <a:gd name="adj1" fmla="val 49928"/>
            </a:avLst>
          </a:prstGeom>
          <a:ln>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2726055" y="1057910"/>
            <a:ext cx="3056255" cy="337185"/>
          </a:xfrm>
          <a:prstGeom prst="rect">
            <a:avLst/>
          </a:prstGeom>
        </p:spPr>
        <p:txBody>
          <a:bodyPr wrap="square">
            <a:spAutoFit/>
          </a:bodyPr>
          <a:p>
            <a:pPr marL="0" indent="0"/>
            <a:r>
              <a:rPr lang="zh-CN" altLang="en-US" sz="1600" b="0" i="0">
                <a:solidFill>
                  <a:srgbClr val="0D0D0D"/>
                </a:solidFill>
                <a:latin typeface="ui-sans-serif"/>
                <a:ea typeface="ui-sans-serif"/>
              </a:rPr>
              <a:t>稀疏的真实观测（如浮标、卫星</a:t>
            </a:r>
            <a:endParaRPr lang="zh-CN" altLang="en-US" sz="1600" b="0" i="0">
              <a:solidFill>
                <a:srgbClr val="0D0D0D"/>
              </a:solidFill>
              <a:latin typeface="ui-sans-serif"/>
              <a:ea typeface="ui-sans-serif"/>
            </a:endParaRPr>
          </a:p>
        </p:txBody>
      </p:sp>
      <p:sp>
        <p:nvSpPr>
          <p:cNvPr id="8" name="文本框 7"/>
          <p:cNvSpPr txBox="1"/>
          <p:nvPr/>
        </p:nvSpPr>
        <p:spPr>
          <a:xfrm>
            <a:off x="7112000" y="940117"/>
            <a:ext cx="5080000" cy="583565"/>
          </a:xfrm>
          <a:prstGeom prst="rect">
            <a:avLst/>
          </a:prstGeom>
        </p:spPr>
        <p:txBody>
          <a:bodyPr>
            <a:spAutoFit/>
          </a:bodyPr>
          <a:p>
            <a:pPr marL="0" algn="l">
              <a:buClrTx/>
              <a:buSzTx/>
              <a:buFontTx/>
            </a:pPr>
            <a:r>
              <a:rPr lang="zh-CN" altLang="en-US" sz="1600" b="0" i="0">
                <a:solidFill>
                  <a:srgbClr val="0D0D0D"/>
                </a:solidFill>
                <a:latin typeface="Times New Roman" panose="02020603050405020304" pitchFamily="18" charset="0"/>
                <a:ea typeface="ui-sans-serif"/>
                <a:cs typeface="Times New Roman" panose="02020603050405020304" pitchFamily="18" charset="0"/>
              </a:rPr>
              <a:t>A_0:t：从初始时刻 0 到预测时刻 t 的大气状态（如风速、气温、湿度）。</a:t>
            </a:r>
            <a:endParaRPr lang="zh-CN" altLang="en-US" sz="1600" b="0" i="0">
              <a:solidFill>
                <a:srgbClr val="0D0D0D"/>
              </a:solidFill>
              <a:latin typeface="Times New Roman" panose="02020603050405020304" pitchFamily="18" charset="0"/>
              <a:ea typeface="ui-sans-serif"/>
              <a:cs typeface="Times New Roman" panose="02020603050405020304" pitchFamily="18" charset="0"/>
            </a:endParaRPr>
          </a:p>
        </p:txBody>
      </p:sp>
      <p:cxnSp>
        <p:nvCxnSpPr>
          <p:cNvPr id="9" name="曲线连接符 8"/>
          <p:cNvCxnSpPr/>
          <p:nvPr/>
        </p:nvCxnSpPr>
        <p:spPr>
          <a:xfrm rot="5400000">
            <a:off x="8390890" y="1828800"/>
            <a:ext cx="847090" cy="17145"/>
          </a:xfrm>
          <a:prstGeom prst="curvedConnector3">
            <a:avLst>
              <a:gd name="adj1" fmla="val 50037"/>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曲线连接符 9"/>
          <p:cNvCxnSpPr/>
          <p:nvPr/>
        </p:nvCxnSpPr>
        <p:spPr>
          <a:xfrm>
            <a:off x="10448925" y="2904490"/>
            <a:ext cx="592455" cy="313055"/>
          </a:xfrm>
          <a:prstGeom prst="curvedConnector3">
            <a:avLst>
              <a:gd name="adj1" fmla="val 50054"/>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0776585" y="2983865"/>
            <a:ext cx="1075055" cy="386080"/>
          </a:xfrm>
          <a:prstGeom prst="rect">
            <a:avLst/>
          </a:prstGeom>
          <a:noFill/>
        </p:spPr>
        <p:txBody>
          <a:bodyPr wrap="square" rtlCol="0" anchor="t">
            <a:spAutoFit/>
          </a:bodyPr>
          <a:p>
            <a:pPr algn="ctr">
              <a:lnSpc>
                <a:spcPct val="120000"/>
              </a:lnSpc>
              <a:spcBef>
                <a:spcPts val="0"/>
              </a:spcBef>
              <a:spcAft>
                <a:spcPts val="0"/>
              </a:spcAft>
            </a:pPr>
            <a:r>
              <a:rPr lang="en-US" altLang="zh-CN" sz="1600" dirty="0" smtClean="0">
                <a:solidFill>
                  <a:srgbClr val="0D0D0D"/>
                </a:solidFill>
                <a:effectLst/>
                <a:latin typeface="Times New Roman" panose="02020603050405020304" pitchFamily="18" charset="0"/>
                <a:ea typeface="ui-sans-serif"/>
                <a:cs typeface="Times New Roman" panose="02020603050405020304" pitchFamily="18" charset="0"/>
                <a:sym typeface="+mn-ea"/>
              </a:rPr>
              <a:t>C_t</a:t>
            </a:r>
            <a:endParaRPr lang="en-US" altLang="zh-CN" sz="1600" dirty="0" smtClean="0">
              <a:solidFill>
                <a:srgbClr val="0D0D0D"/>
              </a:solidFill>
              <a:effectLst/>
              <a:latin typeface="Times New Roman" panose="02020603050405020304" pitchFamily="18" charset="0"/>
              <a:ea typeface="ui-sans-serif"/>
              <a:cs typeface="Times New Roman" panose="02020603050405020304" pitchFamily="18"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6210" y="1548765"/>
            <a:ext cx="5950585" cy="4504055"/>
          </a:xfrm>
          <a:prstGeom prst="rect">
            <a:avLst/>
          </a:prstGeom>
        </p:spPr>
      </p:pic>
      <p:sp>
        <p:nvSpPr>
          <p:cNvPr id="3" name="文本框 2"/>
          <p:cNvSpPr txBox="1"/>
          <p:nvPr/>
        </p:nvSpPr>
        <p:spPr>
          <a:xfrm>
            <a:off x="156210" y="1025525"/>
            <a:ext cx="60960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三、问题的</a:t>
            </a:r>
            <a:r>
              <a:rPr lang="zh-CN" altLang="en-US" b="1">
                <a:solidFill>
                  <a:schemeClr val="accent3">
                    <a:lumMod val="75000"/>
                  </a:schemeClr>
                </a:solidFill>
                <a:latin typeface="ui-sans-serif"/>
                <a:ea typeface="ui-sans-serif"/>
                <a:sym typeface="+mn-ea"/>
              </a:rPr>
              <a:t>简化</a:t>
            </a:r>
            <a:endParaRPr lang="zh-CN" altLang="en-US" b="1">
              <a:solidFill>
                <a:schemeClr val="accent3">
                  <a:lumMod val="75000"/>
                </a:schemeClr>
              </a:solidFill>
              <a:latin typeface="ui-sans-serif"/>
              <a:ea typeface="ui-sans-serif"/>
              <a:sym typeface="+mn-ea"/>
            </a:endParaRPr>
          </a:p>
        </p:txBody>
      </p:sp>
      <p:pic>
        <p:nvPicPr>
          <p:cNvPr id="4" name="图片 3"/>
          <p:cNvPicPr>
            <a:picLocks noChangeAspect="1"/>
          </p:cNvPicPr>
          <p:nvPr/>
        </p:nvPicPr>
        <p:blipFill>
          <a:blip r:embed="rId2"/>
          <a:stretch>
            <a:fillRect/>
          </a:stretch>
        </p:blipFill>
        <p:spPr>
          <a:xfrm>
            <a:off x="6252210" y="1548765"/>
            <a:ext cx="5619115" cy="4403090"/>
          </a:xfrm>
          <a:prstGeom prst="rect">
            <a:avLst/>
          </a:prstGeom>
        </p:spPr>
      </p:pic>
      <p:cxnSp>
        <p:nvCxnSpPr>
          <p:cNvPr id="5" name="直接连接符 4"/>
          <p:cNvCxnSpPr/>
          <p:nvPr/>
        </p:nvCxnSpPr>
        <p:spPr>
          <a:xfrm>
            <a:off x="6266180" y="956945"/>
            <a:ext cx="34290" cy="5537200"/>
          </a:xfrm>
          <a:prstGeom prst="line">
            <a:avLst/>
          </a:prstGeom>
          <a:ln w="28575" cmpd="sng">
            <a:solidFill>
              <a:schemeClr val="accent3">
                <a:lumMod val="75000"/>
              </a:schemeClr>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5410" y="1047115"/>
            <a:ext cx="60960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二、整体的</a:t>
            </a:r>
            <a:r>
              <a:rPr lang="zh-CN" altLang="en-US" b="1">
                <a:solidFill>
                  <a:schemeClr val="accent3">
                    <a:lumMod val="75000"/>
                  </a:schemeClr>
                </a:solidFill>
                <a:latin typeface="ui-sans-serif"/>
                <a:ea typeface="ui-sans-serif"/>
                <a:sym typeface="+mn-ea"/>
              </a:rPr>
              <a:t>流程</a:t>
            </a:r>
            <a:endParaRPr lang="zh-CN" altLang="en-US" b="1">
              <a:solidFill>
                <a:schemeClr val="accent3">
                  <a:lumMod val="75000"/>
                </a:schemeClr>
              </a:solidFill>
              <a:latin typeface="ui-sans-serif"/>
              <a:ea typeface="ui-sans-serif"/>
              <a:sym typeface="+mn-ea"/>
            </a:endParaRPr>
          </a:p>
        </p:txBody>
      </p:sp>
      <p:pic>
        <p:nvPicPr>
          <p:cNvPr id="4" name="图片 3"/>
          <p:cNvPicPr>
            <a:picLocks noChangeAspect="1"/>
          </p:cNvPicPr>
          <p:nvPr/>
        </p:nvPicPr>
        <p:blipFill>
          <a:blip r:embed="rId1"/>
          <a:stretch>
            <a:fillRect/>
          </a:stretch>
        </p:blipFill>
        <p:spPr>
          <a:xfrm>
            <a:off x="1384300" y="1415415"/>
            <a:ext cx="9561195" cy="5361940"/>
          </a:xfrm>
          <a:prstGeom prst="rect">
            <a:avLst/>
          </a:prstGeom>
        </p:spPr>
      </p:pic>
      <p:cxnSp>
        <p:nvCxnSpPr>
          <p:cNvPr id="10" name="曲线连接符 9"/>
          <p:cNvCxnSpPr/>
          <p:nvPr/>
        </p:nvCxnSpPr>
        <p:spPr>
          <a:xfrm>
            <a:off x="10448925" y="2904490"/>
            <a:ext cx="592455" cy="313055"/>
          </a:xfrm>
          <a:prstGeom prst="curvedConnector3">
            <a:avLst>
              <a:gd name="adj1" fmla="val 50054"/>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0776585" y="2983865"/>
            <a:ext cx="1075055" cy="386080"/>
          </a:xfrm>
          <a:prstGeom prst="rect">
            <a:avLst/>
          </a:prstGeom>
          <a:noFill/>
        </p:spPr>
        <p:txBody>
          <a:bodyPr wrap="square" rtlCol="0" anchor="t">
            <a:spAutoFit/>
          </a:bodyPr>
          <a:p>
            <a:pPr algn="ctr">
              <a:lnSpc>
                <a:spcPct val="120000"/>
              </a:lnSpc>
              <a:spcBef>
                <a:spcPts val="0"/>
              </a:spcBef>
              <a:spcAft>
                <a:spcPts val="0"/>
              </a:spcAft>
            </a:pPr>
            <a:r>
              <a:rPr lang="en-US" altLang="zh-CN" sz="1600" dirty="0" smtClean="0">
                <a:solidFill>
                  <a:srgbClr val="0D0D0D"/>
                </a:solidFill>
                <a:effectLst/>
                <a:latin typeface="Times New Roman" panose="02020603050405020304" pitchFamily="18" charset="0"/>
                <a:ea typeface="ui-sans-serif"/>
                <a:cs typeface="Times New Roman" panose="02020603050405020304" pitchFamily="18" charset="0"/>
                <a:sym typeface="+mn-ea"/>
              </a:rPr>
              <a:t>C_t</a:t>
            </a:r>
            <a:endParaRPr lang="en-US" altLang="zh-CN" sz="1600" dirty="0" smtClean="0">
              <a:solidFill>
                <a:srgbClr val="0D0D0D"/>
              </a:solidFill>
              <a:effectLst/>
              <a:latin typeface="Times New Roman" panose="02020603050405020304" pitchFamily="18" charset="0"/>
              <a:ea typeface="ui-sans-serif"/>
              <a:cs typeface="Times New Roman" panose="02020603050405020304" pitchFamily="18" charset="0"/>
              <a:sym typeface="+mn-ea"/>
            </a:endParaRPr>
          </a:p>
        </p:txBody>
      </p:sp>
      <p:grpSp>
        <p:nvGrpSpPr>
          <p:cNvPr id="17" name="组合 16"/>
          <p:cNvGrpSpPr/>
          <p:nvPr/>
        </p:nvGrpSpPr>
        <p:grpSpPr>
          <a:xfrm>
            <a:off x="2708910" y="4058285"/>
            <a:ext cx="7806055" cy="2539365"/>
            <a:chOff x="4266" y="6391"/>
            <a:chExt cx="12293" cy="3999"/>
          </a:xfrm>
        </p:grpSpPr>
        <p:sp>
          <p:nvSpPr>
            <p:cNvPr id="2" name="圆角矩形 1"/>
            <p:cNvSpPr/>
            <p:nvPr/>
          </p:nvSpPr>
          <p:spPr>
            <a:xfrm>
              <a:off x="5292" y="6883"/>
              <a:ext cx="3336" cy="535"/>
            </a:xfrm>
            <a:prstGeom prst="roundRect">
              <a:avLst/>
            </a:prstGeom>
            <a:noFill/>
            <a:ln w="19050">
              <a:solidFill>
                <a:srgbClr val="C0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圆角矩形 11"/>
            <p:cNvSpPr/>
            <p:nvPr/>
          </p:nvSpPr>
          <p:spPr>
            <a:xfrm>
              <a:off x="6092" y="9856"/>
              <a:ext cx="3336" cy="535"/>
            </a:xfrm>
            <a:prstGeom prst="roundRect">
              <a:avLst/>
            </a:prstGeom>
            <a:noFill/>
            <a:ln w="19050">
              <a:solidFill>
                <a:srgbClr val="C0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4266" y="6391"/>
              <a:ext cx="2053" cy="492"/>
            </a:xfrm>
            <a:prstGeom prst="rect">
              <a:avLst/>
            </a:prstGeom>
            <a:noFill/>
          </p:spPr>
          <p:txBody>
            <a:bodyPr wrap="square" rtlCol="0">
              <a:spAutoFit/>
            </a:bodyPr>
            <a:p>
              <a:pPr algn="ctr">
                <a:lnSpc>
                  <a:spcPct val="120000"/>
                </a:lnSpc>
                <a:spcBef>
                  <a:spcPts val="0"/>
                </a:spcBef>
                <a:spcAft>
                  <a:spcPts val="0"/>
                </a:spcAft>
              </a:pPr>
              <a:r>
                <a:rPr lang="zh-CN" altLang="en-US" sz="1200" b="1" dirty="0" smtClean="0">
                  <a:solidFill>
                    <a:srgbClr val="C00000"/>
                  </a:solidFill>
                  <a:effectLst/>
                </a:rPr>
                <a:t>预训练模块</a:t>
              </a:r>
              <a:r>
                <a:rPr lang="en-US" altLang="zh-CN" sz="1200" b="1" dirty="0" smtClean="0">
                  <a:solidFill>
                    <a:srgbClr val="C00000"/>
                  </a:solidFill>
                  <a:effectLst/>
                </a:rPr>
                <a:t>1</a:t>
              </a:r>
              <a:endParaRPr lang="en-US" altLang="zh-CN" sz="1200" b="1" dirty="0" smtClean="0">
                <a:solidFill>
                  <a:srgbClr val="C00000"/>
                </a:solidFill>
                <a:effectLst/>
              </a:endParaRPr>
            </a:p>
          </p:txBody>
        </p:sp>
        <p:sp>
          <p:nvSpPr>
            <p:cNvPr id="14" name="文本框 13"/>
            <p:cNvSpPr txBox="1"/>
            <p:nvPr/>
          </p:nvSpPr>
          <p:spPr>
            <a:xfrm>
              <a:off x="7547" y="9258"/>
              <a:ext cx="2053" cy="492"/>
            </a:xfrm>
            <a:prstGeom prst="rect">
              <a:avLst/>
            </a:prstGeom>
            <a:noFill/>
          </p:spPr>
          <p:txBody>
            <a:bodyPr wrap="square" rtlCol="0">
              <a:spAutoFit/>
            </a:bodyPr>
            <a:p>
              <a:pPr algn="ctr">
                <a:lnSpc>
                  <a:spcPct val="120000"/>
                </a:lnSpc>
                <a:spcBef>
                  <a:spcPts val="0"/>
                </a:spcBef>
                <a:spcAft>
                  <a:spcPts val="0"/>
                </a:spcAft>
              </a:pPr>
              <a:r>
                <a:rPr lang="zh-CN" altLang="en-US" sz="1200" b="1" dirty="0" smtClean="0">
                  <a:solidFill>
                    <a:srgbClr val="C00000"/>
                  </a:solidFill>
                  <a:effectLst/>
                </a:rPr>
                <a:t>预训练模块</a:t>
              </a:r>
              <a:r>
                <a:rPr lang="en-US" altLang="zh-CN" sz="1200" b="1" dirty="0" smtClean="0">
                  <a:solidFill>
                    <a:srgbClr val="C00000"/>
                  </a:solidFill>
                  <a:effectLst/>
                </a:rPr>
                <a:t>2</a:t>
              </a:r>
              <a:endParaRPr lang="en-US" altLang="zh-CN" sz="1200" b="1" dirty="0" smtClean="0">
                <a:solidFill>
                  <a:srgbClr val="C00000"/>
                </a:solidFill>
                <a:effectLst/>
              </a:endParaRPr>
            </a:p>
          </p:txBody>
        </p:sp>
        <p:sp>
          <p:nvSpPr>
            <p:cNvPr id="15" name="圆角矩形 14"/>
            <p:cNvSpPr/>
            <p:nvPr/>
          </p:nvSpPr>
          <p:spPr>
            <a:xfrm>
              <a:off x="10146" y="7083"/>
              <a:ext cx="4562" cy="654"/>
            </a:xfrm>
            <a:prstGeom prst="roundRect">
              <a:avLst/>
            </a:prstGeom>
            <a:noFill/>
            <a:ln w="19050">
              <a:solidFill>
                <a:srgbClr val="C0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3187" y="6391"/>
              <a:ext cx="3372" cy="492"/>
            </a:xfrm>
            <a:prstGeom prst="rect">
              <a:avLst/>
            </a:prstGeom>
            <a:noFill/>
          </p:spPr>
          <p:txBody>
            <a:bodyPr wrap="square" rtlCol="0">
              <a:spAutoFit/>
            </a:bodyPr>
            <a:p>
              <a:pPr algn="ctr">
                <a:lnSpc>
                  <a:spcPct val="120000"/>
                </a:lnSpc>
                <a:spcBef>
                  <a:spcPts val="0"/>
                </a:spcBef>
                <a:spcAft>
                  <a:spcPts val="0"/>
                </a:spcAft>
              </a:pPr>
              <a:r>
                <a:rPr lang="zh-CN" altLang="en-US" sz="1200" b="1" dirty="0" smtClean="0">
                  <a:solidFill>
                    <a:srgbClr val="C00000"/>
                  </a:solidFill>
                  <a:effectLst/>
                </a:rPr>
                <a:t>能够前向同化的自回归</a:t>
              </a:r>
              <a:r>
                <a:rPr lang="zh-CN" altLang="en-US" sz="1200" b="1" dirty="0" smtClean="0">
                  <a:solidFill>
                    <a:srgbClr val="C00000"/>
                  </a:solidFill>
                  <a:effectLst/>
                </a:rPr>
                <a:t>模块</a:t>
              </a:r>
              <a:endParaRPr lang="zh-CN" altLang="en-US" sz="1200" b="1" dirty="0" smtClean="0">
                <a:solidFill>
                  <a:srgbClr val="C00000"/>
                </a:solidFill>
                <a:effectLst/>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56210" y="1025525"/>
            <a:ext cx="60960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四、</a:t>
            </a:r>
            <a:r>
              <a:rPr lang="en-US" altLang="zh-CN" b="1">
                <a:solidFill>
                  <a:schemeClr val="accent3">
                    <a:lumMod val="75000"/>
                  </a:schemeClr>
                </a:solidFill>
                <a:latin typeface="Times New Roman" panose="02020603050405020304" pitchFamily="18" charset="0"/>
                <a:ea typeface="ui-sans-serif"/>
                <a:cs typeface="Times New Roman" panose="02020603050405020304" pitchFamily="18" charset="0"/>
                <a:sym typeface="+mn-ea"/>
              </a:rPr>
              <a:t>Hybrid Physics-AI Model </a:t>
            </a:r>
            <a:endParaRPr lang="en-US" altLang="zh-CN" b="1">
              <a:solidFill>
                <a:schemeClr val="accent3">
                  <a:lumMod val="75000"/>
                </a:schemeClr>
              </a:solidFill>
              <a:latin typeface="Times New Roman" panose="02020603050405020304" pitchFamily="18" charset="0"/>
              <a:ea typeface="ui-sans-serif"/>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527050" y="1549400"/>
            <a:ext cx="8524875" cy="4871720"/>
          </a:xfrm>
          <a:prstGeom prst="rect">
            <a:avLst/>
          </a:prstGeom>
        </p:spPr>
      </p:pic>
      <p:pic>
        <p:nvPicPr>
          <p:cNvPr id="6" name="图片 5"/>
          <p:cNvPicPr>
            <a:picLocks noChangeAspect="1"/>
          </p:cNvPicPr>
          <p:nvPr/>
        </p:nvPicPr>
        <p:blipFill>
          <a:blip r:embed="rId2"/>
          <a:stretch>
            <a:fillRect/>
          </a:stretch>
        </p:blipFill>
        <p:spPr>
          <a:xfrm>
            <a:off x="3302000" y="913130"/>
            <a:ext cx="609600" cy="5270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1419860"/>
            <a:ext cx="6028690" cy="3111500"/>
          </a:xfrm>
          <a:prstGeom prst="rect">
            <a:avLst/>
          </a:prstGeom>
        </p:spPr>
      </p:pic>
      <p:pic>
        <p:nvPicPr>
          <p:cNvPr id="4" name="图片 3"/>
          <p:cNvPicPr>
            <a:picLocks noChangeAspect="1"/>
          </p:cNvPicPr>
          <p:nvPr/>
        </p:nvPicPr>
        <p:blipFill>
          <a:blip r:embed="rId2"/>
          <a:stretch>
            <a:fillRect/>
          </a:stretch>
        </p:blipFill>
        <p:spPr>
          <a:xfrm>
            <a:off x="6376670" y="1891665"/>
            <a:ext cx="5697855" cy="3208655"/>
          </a:xfrm>
          <a:prstGeom prst="rect">
            <a:avLst/>
          </a:prstGeom>
        </p:spPr>
      </p:pic>
      <p:cxnSp>
        <p:nvCxnSpPr>
          <p:cNvPr id="5" name="直接连接符 4"/>
          <p:cNvCxnSpPr/>
          <p:nvPr/>
        </p:nvCxnSpPr>
        <p:spPr>
          <a:xfrm>
            <a:off x="6266180" y="956945"/>
            <a:ext cx="34290" cy="5537200"/>
          </a:xfrm>
          <a:prstGeom prst="line">
            <a:avLst/>
          </a:prstGeom>
          <a:ln w="28575" cmpd="sng">
            <a:solidFill>
              <a:schemeClr val="accent3">
                <a:lumMod val="75000"/>
              </a:schemeClr>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01320" y="1026160"/>
            <a:ext cx="10031730" cy="57353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83540" y="941705"/>
            <a:ext cx="10544175" cy="5339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421640" y="1433195"/>
            <a:ext cx="6877050" cy="5408295"/>
          </a:xfrm>
          <a:prstGeom prst="rect">
            <a:avLst/>
          </a:prstGeom>
        </p:spPr>
      </p:pic>
      <p:sp>
        <p:nvSpPr>
          <p:cNvPr id="6" name="文本框 5"/>
          <p:cNvSpPr txBox="1"/>
          <p:nvPr/>
        </p:nvSpPr>
        <p:spPr>
          <a:xfrm>
            <a:off x="156210" y="1025525"/>
            <a:ext cx="101092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四、</a:t>
            </a:r>
            <a:r>
              <a:rPr lang="en-US" altLang="zh-CN" b="1">
                <a:solidFill>
                  <a:schemeClr val="accent3">
                    <a:lumMod val="75000"/>
                  </a:schemeClr>
                </a:solidFill>
                <a:latin typeface="Times New Roman" panose="02020603050405020304" pitchFamily="18" charset="0"/>
                <a:ea typeface="ui-sans-serif"/>
                <a:cs typeface="Times New Roman" panose="02020603050405020304" pitchFamily="18" charset="0"/>
                <a:sym typeface="+mn-ea"/>
              </a:rPr>
              <a:t>The design of      </a:t>
            </a:r>
            <a:r>
              <a:rPr lang="zh-CN" altLang="en-US" b="1">
                <a:solidFill>
                  <a:schemeClr val="accent3">
                    <a:lumMod val="75000"/>
                  </a:schemeClr>
                </a:solidFill>
                <a:latin typeface="Times New Roman" panose="02020603050405020304" pitchFamily="18" charset="0"/>
                <a:ea typeface="ui-sans-serif"/>
                <a:cs typeface="Times New Roman" panose="02020603050405020304" pitchFamily="18" charset="0"/>
                <a:sym typeface="+mn-ea"/>
              </a:rPr>
              <a:t>（</a:t>
            </a:r>
            <a:r>
              <a:rPr lang="en-US" altLang="zh-CN" b="1">
                <a:solidFill>
                  <a:schemeClr val="accent3">
                    <a:lumMod val="75000"/>
                  </a:schemeClr>
                </a:solidFill>
                <a:latin typeface="Times New Roman" panose="02020603050405020304" pitchFamily="18" charset="0"/>
                <a:ea typeface="ui-sans-serif"/>
                <a:cs typeface="Times New Roman" panose="02020603050405020304" pitchFamily="18" charset="0"/>
                <a:sym typeface="+mn-ea"/>
              </a:rPr>
              <a:t>Neural Data Assimilation</a:t>
            </a:r>
            <a:r>
              <a:rPr lang="zh-CN" altLang="en-US" b="1">
                <a:solidFill>
                  <a:schemeClr val="accent3">
                    <a:lumMod val="75000"/>
                  </a:schemeClr>
                </a:solidFill>
                <a:latin typeface="Times New Roman" panose="02020603050405020304" pitchFamily="18" charset="0"/>
                <a:ea typeface="ui-sans-serif"/>
                <a:cs typeface="Times New Roman" panose="02020603050405020304" pitchFamily="18" charset="0"/>
                <a:sym typeface="+mn-ea"/>
              </a:rPr>
              <a:t>）</a:t>
            </a:r>
            <a:endParaRPr lang="zh-CN" altLang="en-US" b="1">
              <a:solidFill>
                <a:schemeClr val="accent3">
                  <a:lumMod val="75000"/>
                </a:schemeClr>
              </a:solidFill>
              <a:latin typeface="Times New Roman" panose="02020603050405020304" pitchFamily="18" charset="0"/>
              <a:ea typeface="ui-sans-serif"/>
              <a:cs typeface="Times New Roman" panose="02020603050405020304" pitchFamily="18" charset="0"/>
              <a:sym typeface="+mn-ea"/>
            </a:endParaRPr>
          </a:p>
        </p:txBody>
      </p:sp>
      <p:pic>
        <p:nvPicPr>
          <p:cNvPr id="7" name="图片 6"/>
          <p:cNvPicPr>
            <a:picLocks noChangeAspect="1"/>
          </p:cNvPicPr>
          <p:nvPr/>
        </p:nvPicPr>
        <p:blipFill>
          <a:blip r:embed="rId2"/>
          <a:stretch>
            <a:fillRect/>
          </a:stretch>
        </p:blipFill>
        <p:spPr>
          <a:xfrm>
            <a:off x="2120900" y="1025525"/>
            <a:ext cx="330200" cy="3683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nvSpPr>
        <p:spPr>
          <a:xfrm>
            <a:off x="156210" y="990600"/>
            <a:ext cx="2952750" cy="363855"/>
          </a:xfrm>
          <a:prstGeom prst="rect">
            <a:avLst/>
          </a:prstGeom>
          <a:noFill/>
          <a:ln w="28575">
            <a:solidFill>
              <a:schemeClr val="accent3">
                <a:lumMod val="75000"/>
              </a:schemeClr>
            </a:solidFill>
            <a:prstDash val="dash"/>
          </a:ln>
          <a:extLst>
            <a:ext uri="{909E8E84-426E-40DD-AFC4-6F175D3DCCD1}">
              <a14:hiddenFill xmlns:a14="http://schemas.microsoft.com/office/drawing/2010/main">
                <a:solidFill>
                  <a:schemeClr val="accent3">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8255" y="960120"/>
            <a:ext cx="3350895" cy="386080"/>
          </a:xfrm>
          <a:prstGeom prst="rect">
            <a:avLst/>
          </a:prstGeom>
          <a:noFill/>
        </p:spPr>
        <p:txBody>
          <a:bodyPr wrap="square" rtlCol="0" anchor="t">
            <a:spAutoFit/>
          </a:bodyPr>
          <a:p>
            <a:pPr algn="ctr">
              <a:lnSpc>
                <a:spcPct val="120000"/>
              </a:lnSpc>
              <a:spcBef>
                <a:spcPts val="0"/>
              </a:spcBef>
              <a:spcAft>
                <a:spcPts val="0"/>
              </a:spcAft>
            </a:pPr>
            <a:r>
              <a:rPr lang="zh-CN" altLang="en-US" sz="1600" b="1">
                <a:solidFill>
                  <a:srgbClr val="FF0000"/>
                </a:solidFill>
                <a:latin typeface="ui-sans-serif"/>
                <a:ea typeface="ui-sans-serif"/>
                <a:sym typeface="+mn-ea"/>
              </a:rPr>
              <a:t>Q</a:t>
            </a:r>
            <a:r>
              <a:rPr lang="en-US" altLang="zh-CN" sz="1600" b="1">
                <a:solidFill>
                  <a:srgbClr val="FF0000"/>
                </a:solidFill>
                <a:latin typeface="ui-sans-serif"/>
                <a:ea typeface="ui-sans-serif"/>
                <a:sym typeface="+mn-ea"/>
              </a:rPr>
              <a:t>3</a:t>
            </a:r>
            <a:r>
              <a:rPr lang="zh-CN" altLang="en-US" sz="1600" b="1">
                <a:solidFill>
                  <a:srgbClr val="FF0000"/>
                </a:solidFill>
                <a:latin typeface="ui-sans-serif"/>
                <a:ea typeface="ui-sans-serif"/>
                <a:sym typeface="+mn-ea"/>
              </a:rPr>
              <a:t>：实验如何证明有效呢</a:t>
            </a:r>
            <a:r>
              <a:rPr lang="zh-CN" altLang="en-US" sz="1600" b="1">
                <a:solidFill>
                  <a:schemeClr val="tx1"/>
                </a:solidFill>
                <a:latin typeface="ui-sans-serif"/>
                <a:ea typeface="ui-sans-serif"/>
                <a:sym typeface="+mn-ea"/>
              </a:rPr>
              <a:t>？</a:t>
            </a:r>
            <a:endParaRPr lang="zh-CN" altLang="en-US" sz="1600" b="1">
              <a:solidFill>
                <a:schemeClr val="tx1"/>
              </a:solidFill>
              <a:latin typeface="ui-sans-serif"/>
              <a:ea typeface="ui-sans-serif"/>
              <a:sym typeface="+mn-ea"/>
            </a:endParaRPr>
          </a:p>
        </p:txBody>
      </p:sp>
      <p:pic>
        <p:nvPicPr>
          <p:cNvPr id="2" name="图片 1"/>
          <p:cNvPicPr>
            <a:picLocks noChangeAspect="1"/>
          </p:cNvPicPr>
          <p:nvPr/>
        </p:nvPicPr>
        <p:blipFill>
          <a:blip r:embed="rId1"/>
          <a:srcRect t="11840"/>
          <a:stretch>
            <a:fillRect/>
          </a:stretch>
        </p:blipFill>
        <p:spPr>
          <a:xfrm>
            <a:off x="607695" y="1923415"/>
            <a:ext cx="7868285" cy="2682875"/>
          </a:xfrm>
          <a:prstGeom prst="rect">
            <a:avLst/>
          </a:prstGeom>
        </p:spPr>
      </p:pic>
      <p:sp>
        <p:nvSpPr>
          <p:cNvPr id="6" name="文本框 5"/>
          <p:cNvSpPr txBox="1"/>
          <p:nvPr/>
        </p:nvSpPr>
        <p:spPr>
          <a:xfrm>
            <a:off x="156210" y="1525905"/>
            <a:ext cx="101092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一、</a:t>
            </a:r>
            <a:r>
              <a:rPr lang="zh-CN" altLang="en-US" b="1">
                <a:solidFill>
                  <a:schemeClr val="accent3">
                    <a:lumMod val="75000"/>
                  </a:schemeClr>
                </a:solidFill>
                <a:latin typeface="Times New Roman" panose="02020603050405020304" pitchFamily="18" charset="0"/>
                <a:ea typeface="ui-sans-serif"/>
                <a:cs typeface="Times New Roman" panose="02020603050405020304" pitchFamily="18" charset="0"/>
                <a:sym typeface="+mn-ea"/>
              </a:rPr>
              <a:t>实验</a:t>
            </a:r>
            <a:r>
              <a:rPr lang="zh-CN" altLang="en-US" b="1">
                <a:solidFill>
                  <a:schemeClr val="accent3">
                    <a:lumMod val="75000"/>
                  </a:schemeClr>
                </a:solidFill>
                <a:latin typeface="Times New Roman" panose="02020603050405020304" pitchFamily="18" charset="0"/>
                <a:ea typeface="ui-sans-serif"/>
                <a:cs typeface="Times New Roman" panose="02020603050405020304" pitchFamily="18" charset="0"/>
                <a:sym typeface="+mn-ea"/>
              </a:rPr>
              <a:t>数据集</a:t>
            </a:r>
            <a:endParaRPr lang="zh-CN" altLang="en-US" b="1">
              <a:solidFill>
                <a:schemeClr val="accent3">
                  <a:lumMod val="75000"/>
                </a:schemeClr>
              </a:solidFill>
              <a:latin typeface="Times New Roman" panose="02020603050405020304" pitchFamily="18" charset="0"/>
              <a:ea typeface="ui-sans-serif"/>
              <a:cs typeface="Times New Roman" panose="02020603050405020304" pitchFamily="18" charset="0"/>
              <a:sym typeface="+mn-ea"/>
            </a:endParaRPr>
          </a:p>
        </p:txBody>
      </p:sp>
      <p:sp>
        <p:nvSpPr>
          <p:cNvPr id="3" name="文本框 2"/>
          <p:cNvSpPr txBox="1"/>
          <p:nvPr/>
        </p:nvSpPr>
        <p:spPr>
          <a:xfrm>
            <a:off x="285750" y="4596130"/>
            <a:ext cx="101092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二、评估</a:t>
            </a:r>
            <a:r>
              <a:rPr lang="zh-CN" altLang="en-US" b="1">
                <a:solidFill>
                  <a:schemeClr val="accent3">
                    <a:lumMod val="75000"/>
                  </a:schemeClr>
                </a:solidFill>
                <a:latin typeface="ui-sans-serif"/>
                <a:ea typeface="ui-sans-serif"/>
                <a:sym typeface="+mn-ea"/>
              </a:rPr>
              <a:t>指标</a:t>
            </a:r>
            <a:endParaRPr lang="zh-CN" altLang="en-US" b="1">
              <a:solidFill>
                <a:schemeClr val="accent3">
                  <a:lumMod val="75000"/>
                </a:schemeClr>
              </a:solidFill>
              <a:latin typeface="ui-sans-serif"/>
              <a:ea typeface="ui-sans-serif"/>
              <a:sym typeface="+mn-ea"/>
            </a:endParaRPr>
          </a:p>
        </p:txBody>
      </p:sp>
      <p:sp>
        <p:nvSpPr>
          <p:cNvPr id="4" name="文本框 3"/>
          <p:cNvSpPr txBox="1"/>
          <p:nvPr/>
        </p:nvSpPr>
        <p:spPr>
          <a:xfrm>
            <a:off x="285750" y="4964113"/>
            <a:ext cx="5080000" cy="583565"/>
          </a:xfrm>
          <a:prstGeom prst="rect">
            <a:avLst/>
          </a:prstGeom>
        </p:spPr>
        <p:txBody>
          <a:bodyPr>
            <a:spAutoFit/>
          </a:bodyPr>
          <a:p>
            <a:pPr marL="0" indent="0">
              <a:spcBef>
                <a:spcPct val="0"/>
              </a:spcBef>
              <a:spcAft>
                <a:spcPct val="0"/>
              </a:spcAft>
            </a:pPr>
            <a:r>
              <a:rPr lang="en-US" altLang="zh-CN" sz="1600" b="0" i="0">
                <a:solidFill>
                  <a:srgbClr val="0D0D0D"/>
                </a:solidFill>
                <a:latin typeface="ui-sans-serif"/>
                <a:ea typeface="ui-sans-serif"/>
              </a:rPr>
              <a:t>① RMSE</a:t>
            </a:r>
            <a:endParaRPr lang="en-US" altLang="zh-CN" sz="1600" b="0" i="0">
              <a:solidFill>
                <a:srgbClr val="0D0D0D"/>
              </a:solidFill>
              <a:latin typeface="ui-sans-serif"/>
              <a:ea typeface="ui-sans-serif"/>
            </a:endParaRPr>
          </a:p>
          <a:p>
            <a:pPr marL="0" indent="0">
              <a:spcBef>
                <a:spcPct val="0"/>
              </a:spcBef>
              <a:spcAft>
                <a:spcPct val="0"/>
              </a:spcAft>
            </a:pPr>
            <a:r>
              <a:rPr lang="en-US" altLang="en-US" sz="1600" b="0" i="0">
                <a:solidFill>
                  <a:srgbClr val="0D0D0D"/>
                </a:solidFill>
                <a:latin typeface="ui-sans-serif"/>
                <a:ea typeface="ui-sans-serif"/>
              </a:rPr>
              <a:t>②</a:t>
            </a:r>
            <a:r>
              <a:rPr lang="en-US" altLang="zh-CN" sz="1600" b="0" i="0">
                <a:solidFill>
                  <a:srgbClr val="0D0D0D"/>
                </a:solidFill>
                <a:latin typeface="ui-sans-serif"/>
                <a:ea typeface="ui-sans-serif"/>
              </a:rPr>
              <a:t> CSI</a:t>
            </a:r>
            <a:r>
              <a:rPr lang="zh-CN" altLang="en-US" sz="1600" b="0" i="0">
                <a:solidFill>
                  <a:srgbClr val="0D0D0D"/>
                </a:solidFill>
                <a:latin typeface="ui-sans-serif"/>
                <a:ea typeface="ui-sans-serif"/>
              </a:rPr>
              <a:t>：</a:t>
            </a:r>
            <a:r>
              <a:rPr lang="en-US" altLang="zh-CN" sz="1600" b="0" i="0">
                <a:solidFill>
                  <a:srgbClr val="0D0D0D"/>
                </a:solidFill>
                <a:latin typeface="ui-sans-serif"/>
                <a:ea typeface="ui-sans-serif"/>
              </a:rPr>
              <a:t>Critical Success Index</a:t>
            </a:r>
            <a:r>
              <a:rPr lang="zh-CN" altLang="en-US" sz="1600" b="0" i="0">
                <a:solidFill>
                  <a:srgbClr val="0D0D0D"/>
                </a:solidFill>
                <a:latin typeface="ui-sans-serif"/>
                <a:ea typeface="ui-sans-serif"/>
              </a:rPr>
              <a:t>（关键成功率）</a:t>
            </a:r>
            <a:endParaRPr lang="zh-CN" altLang="en-US" sz="1600" b="0" i="0">
              <a:solidFill>
                <a:srgbClr val="0D0D0D"/>
              </a:solidFill>
              <a:latin typeface="ui-sans-serif"/>
              <a:ea typeface="ui-sans-serif"/>
            </a:endParaRPr>
          </a:p>
        </p:txBody>
      </p:sp>
      <p:pic>
        <p:nvPicPr>
          <p:cNvPr id="5" name="图片 4"/>
          <p:cNvPicPr>
            <a:picLocks noChangeAspect="1"/>
          </p:cNvPicPr>
          <p:nvPr/>
        </p:nvPicPr>
        <p:blipFill>
          <a:blip r:embed="rId2"/>
          <a:stretch>
            <a:fillRect/>
          </a:stretch>
        </p:blipFill>
        <p:spPr>
          <a:xfrm>
            <a:off x="156210" y="5702935"/>
            <a:ext cx="5721350" cy="758190"/>
          </a:xfrm>
          <a:prstGeom prst="rect">
            <a:avLst/>
          </a:prstGeom>
        </p:spPr>
      </p:pic>
      <p:sp>
        <p:nvSpPr>
          <p:cNvPr id="7" name="文本框 6"/>
          <p:cNvSpPr txBox="1"/>
          <p:nvPr/>
        </p:nvSpPr>
        <p:spPr>
          <a:xfrm>
            <a:off x="7366000" y="5175250"/>
            <a:ext cx="3835400" cy="337185"/>
          </a:xfrm>
          <a:prstGeom prst="rect">
            <a:avLst/>
          </a:prstGeom>
        </p:spPr>
        <p:txBody>
          <a:bodyPr wrap="square">
            <a:spAutoFit/>
          </a:bodyPr>
          <a:p>
            <a:pPr marL="0" indent="0">
              <a:spcBef>
                <a:spcPct val="0"/>
              </a:spcBef>
              <a:spcAft>
                <a:spcPct val="0"/>
              </a:spcAft>
            </a:pPr>
            <a:r>
              <a:rPr lang="en-US" altLang="zh-CN" sz="1600" b="0" i="0">
                <a:solidFill>
                  <a:srgbClr val="0D0D0D"/>
                </a:solidFill>
                <a:latin typeface="ui-sans-serif"/>
                <a:ea typeface="ui-sans-serif"/>
              </a:rPr>
              <a:t>③ BIAS</a:t>
            </a:r>
            <a:r>
              <a:rPr lang="zh-CN" altLang="en-US" sz="1600" b="0" i="0">
                <a:solidFill>
                  <a:srgbClr val="0D0D0D"/>
                </a:solidFill>
                <a:latin typeface="ui-sans-serif"/>
                <a:ea typeface="ui-sans-serif"/>
              </a:rPr>
              <a:t>：</a:t>
            </a:r>
            <a:r>
              <a:rPr lang="en-US" altLang="zh-CN" sz="1600" b="0" i="0">
                <a:solidFill>
                  <a:srgbClr val="0D0D0D"/>
                </a:solidFill>
                <a:latin typeface="ui-sans-serif"/>
                <a:ea typeface="ui-sans-serif"/>
              </a:rPr>
              <a:t>Systematic Bias</a:t>
            </a:r>
            <a:r>
              <a:rPr lang="zh-CN" altLang="en-US" sz="1600" b="0" i="0">
                <a:solidFill>
                  <a:srgbClr val="0D0D0D"/>
                </a:solidFill>
                <a:latin typeface="ui-sans-serif"/>
                <a:ea typeface="ui-sans-serif"/>
              </a:rPr>
              <a:t>（系统偏差）</a:t>
            </a:r>
            <a:endParaRPr lang="zh-CN" altLang="en-US" sz="1600" b="0" i="0">
              <a:solidFill>
                <a:srgbClr val="0D0D0D"/>
              </a:solidFill>
              <a:latin typeface="ui-sans-serif"/>
              <a:ea typeface="ui-sans-serif"/>
            </a:endParaRPr>
          </a:p>
        </p:txBody>
      </p:sp>
      <p:pic>
        <p:nvPicPr>
          <p:cNvPr id="8" name="图片 7"/>
          <p:cNvPicPr>
            <a:picLocks noChangeAspect="1"/>
          </p:cNvPicPr>
          <p:nvPr/>
        </p:nvPicPr>
        <p:blipFill>
          <a:blip r:embed="rId3"/>
          <a:stretch>
            <a:fillRect/>
          </a:stretch>
        </p:blipFill>
        <p:spPr>
          <a:xfrm>
            <a:off x="6757670" y="5555615"/>
            <a:ext cx="5290820" cy="9055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85750" y="1078230"/>
            <a:ext cx="101092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三、</a:t>
            </a:r>
            <a:r>
              <a:rPr lang="en-US" altLang="zh-CN" b="1">
                <a:solidFill>
                  <a:schemeClr val="accent3">
                    <a:lumMod val="75000"/>
                  </a:schemeClr>
                </a:solidFill>
                <a:latin typeface="ui-sans-serif"/>
                <a:ea typeface="ui-sans-serif"/>
                <a:sym typeface="+mn-ea"/>
              </a:rPr>
              <a:t>Evalution of ocean simulation performance (RQ1)</a:t>
            </a:r>
            <a:endParaRPr lang="en-US" altLang="zh-CN" b="1">
              <a:solidFill>
                <a:schemeClr val="accent3">
                  <a:lumMod val="75000"/>
                </a:schemeClr>
              </a:solidFill>
              <a:latin typeface="ui-sans-serif"/>
              <a:ea typeface="ui-sans-serif"/>
              <a:sym typeface="+mn-ea"/>
            </a:endParaRPr>
          </a:p>
        </p:txBody>
      </p:sp>
      <p:sp>
        <p:nvSpPr>
          <p:cNvPr id="2" name="文本框 1"/>
          <p:cNvSpPr txBox="1"/>
          <p:nvPr/>
        </p:nvSpPr>
        <p:spPr>
          <a:xfrm>
            <a:off x="241300" y="1749425"/>
            <a:ext cx="3444875" cy="3041015"/>
          </a:xfrm>
          <a:prstGeom prst="rect">
            <a:avLst/>
          </a:prstGeom>
          <a:noFill/>
        </p:spPr>
        <p:txBody>
          <a:bodyPr wrap="square" rtlCol="0" anchor="t">
            <a:spAutoFit/>
          </a:bodyPr>
          <a:p>
            <a:pPr algn="l">
              <a:lnSpc>
                <a:spcPct val="120000"/>
              </a:lnSpc>
              <a:spcBef>
                <a:spcPts val="0"/>
              </a:spcBef>
              <a:spcAft>
                <a:spcPts val="0"/>
              </a:spcAft>
            </a:pPr>
            <a:r>
              <a:rPr lang="en-US" altLang="zh-CN" sz="1600" dirty="0" smtClean="0">
                <a:solidFill>
                  <a:schemeClr val="tx1">
                    <a:lumMod val="85000"/>
                    <a:lumOff val="15000"/>
                  </a:schemeClr>
                </a:solidFill>
                <a:effectLst/>
              </a:rPr>
              <a:t>Ocean-E2E </a:t>
            </a:r>
            <a:r>
              <a:rPr lang="zh-CN" altLang="en-US" sz="1600" dirty="0" smtClean="0">
                <a:solidFill>
                  <a:schemeClr val="tx1">
                    <a:lumMod val="85000"/>
                    <a:lumOff val="15000"/>
                  </a:schemeClr>
                </a:solidFill>
                <a:effectLst/>
              </a:rPr>
              <a:t>能否在常规和极端</a:t>
            </a:r>
            <a:r>
              <a:rPr lang="en-US" altLang="zh-CN" sz="1600" dirty="0" smtClean="0">
                <a:solidFill>
                  <a:schemeClr val="tx1">
                    <a:lumMod val="85000"/>
                    <a:lumOff val="15000"/>
                  </a:schemeClr>
                </a:solidFill>
                <a:effectLst/>
              </a:rPr>
              <a:t>MHW</a:t>
            </a:r>
            <a:r>
              <a:rPr lang="zh-CN" altLang="en-US" sz="1600" dirty="0" smtClean="0">
                <a:solidFill>
                  <a:schemeClr val="tx1">
                    <a:lumMod val="85000"/>
                    <a:lumOff val="15000"/>
                  </a:schemeClr>
                </a:solidFill>
                <a:effectLst/>
              </a:rPr>
              <a:t>事件的预测上，都超越现有的</a:t>
            </a:r>
            <a:r>
              <a:rPr lang="en-US" altLang="zh-CN" sz="1600" dirty="0" smtClean="0">
                <a:solidFill>
                  <a:schemeClr val="tx1">
                    <a:lumMod val="85000"/>
                    <a:lumOff val="15000"/>
                  </a:schemeClr>
                </a:solidFill>
                <a:effectLst/>
              </a:rPr>
              <a:t>SOTA</a:t>
            </a:r>
            <a:r>
              <a:rPr lang="zh-CN" altLang="en-US" sz="1600" dirty="0" smtClean="0">
                <a:solidFill>
                  <a:schemeClr val="tx1">
                    <a:lumMod val="85000"/>
                    <a:lumOff val="15000"/>
                  </a:schemeClr>
                </a:solidFill>
                <a:effectLst/>
              </a:rPr>
              <a:t>模型，并且具有更好的物理一致性？</a:t>
            </a:r>
            <a:endParaRPr lang="zh-CN" altLang="en-US" sz="1600" dirty="0" smtClean="0">
              <a:solidFill>
                <a:schemeClr val="tx1">
                  <a:lumMod val="85000"/>
                  <a:lumOff val="15000"/>
                </a:schemeClr>
              </a:solidFill>
              <a:effectLst/>
            </a:endParaRPr>
          </a:p>
          <a:p>
            <a:pPr algn="l">
              <a:lnSpc>
                <a:spcPct val="120000"/>
              </a:lnSpc>
              <a:spcBef>
                <a:spcPts val="0"/>
              </a:spcBef>
              <a:spcAft>
                <a:spcPts val="0"/>
              </a:spcAft>
            </a:pPr>
            <a:endParaRPr lang="en-US" altLang="zh-CN" sz="1600" dirty="0" smtClean="0">
              <a:solidFill>
                <a:schemeClr val="tx1">
                  <a:lumMod val="85000"/>
                  <a:lumOff val="15000"/>
                </a:schemeClr>
              </a:solidFill>
              <a:effectLst/>
            </a:endParaRPr>
          </a:p>
          <a:p>
            <a:pPr algn="l">
              <a:lnSpc>
                <a:spcPct val="120000"/>
              </a:lnSpc>
              <a:spcBef>
                <a:spcPts val="0"/>
              </a:spcBef>
              <a:spcAft>
                <a:spcPts val="0"/>
              </a:spcAft>
            </a:pPr>
            <a:r>
              <a:rPr lang="zh-CN" altLang="en-US" sz="1600" b="1" dirty="0" smtClean="0">
                <a:solidFill>
                  <a:schemeClr val="tx1">
                    <a:lumMod val="85000"/>
                    <a:lumOff val="15000"/>
                  </a:schemeClr>
                </a:solidFill>
                <a:effectLst/>
              </a:rPr>
              <a:t>任务是海洋模拟</a:t>
            </a:r>
            <a:r>
              <a:rPr lang="en-US" altLang="zh-CN" sz="1600" b="1" dirty="0" smtClean="0">
                <a:solidFill>
                  <a:schemeClr val="tx1">
                    <a:lumMod val="85000"/>
                    <a:lumOff val="15000"/>
                  </a:schemeClr>
                </a:solidFill>
                <a:effectLst/>
              </a:rPr>
              <a:t> (Ocean Simulation)</a:t>
            </a:r>
            <a:r>
              <a:rPr lang="zh-CN" altLang="en-US" sz="1600" dirty="0" smtClean="0">
                <a:solidFill>
                  <a:schemeClr val="tx1">
                    <a:lumMod val="85000"/>
                    <a:lumOff val="15000"/>
                  </a:schemeClr>
                </a:solidFill>
                <a:effectLst/>
              </a:rPr>
              <a:t>：给定</a:t>
            </a:r>
            <a:r>
              <a:rPr lang="zh-CN" altLang="en-US" sz="1600" b="1" dirty="0" smtClean="0">
                <a:solidFill>
                  <a:schemeClr val="tx1">
                    <a:lumMod val="85000"/>
                    <a:lumOff val="15000"/>
                  </a:schemeClr>
                </a:solidFill>
                <a:effectLst/>
              </a:rPr>
              <a:t>完美的初始场</a:t>
            </a:r>
            <a:r>
              <a:rPr lang="zh-CN" altLang="en-US" sz="1600" dirty="0" smtClean="0">
                <a:solidFill>
                  <a:schemeClr val="tx1">
                    <a:lumMod val="85000"/>
                    <a:lumOff val="15000"/>
                  </a:schemeClr>
                </a:solidFill>
                <a:effectLst/>
              </a:rPr>
              <a:t>（来自再分析数据）和真实的未来大气强迫，来预测未来的</a:t>
            </a:r>
            <a:r>
              <a:rPr lang="en-US" altLang="zh-CN" sz="1600" dirty="0" smtClean="0">
                <a:solidFill>
                  <a:schemeClr val="tx1">
                    <a:lumMod val="85000"/>
                    <a:lumOff val="15000"/>
                  </a:schemeClr>
                </a:solidFill>
                <a:effectLst/>
              </a:rPr>
              <a:t>SSTA</a:t>
            </a:r>
            <a:r>
              <a:rPr lang="zh-CN" altLang="en-US" sz="1600" dirty="0" smtClean="0">
                <a:solidFill>
                  <a:schemeClr val="tx1">
                    <a:lumMod val="85000"/>
                    <a:lumOff val="15000"/>
                  </a:schemeClr>
                </a:solidFill>
                <a:effectLst/>
              </a:rPr>
              <a:t>。这么做的好处是，</a:t>
            </a:r>
            <a:r>
              <a:rPr lang="zh-CN" altLang="en-US" sz="1600" b="1" dirty="0" smtClean="0">
                <a:solidFill>
                  <a:schemeClr val="tx1">
                    <a:lumMod val="85000"/>
                    <a:lumOff val="15000"/>
                  </a:schemeClr>
                </a:solidFill>
                <a:effectLst/>
              </a:rPr>
              <a:t>可以剥离数据同化带来的误差</a:t>
            </a:r>
            <a:r>
              <a:rPr lang="zh-CN" altLang="en-US" sz="1600" dirty="0" smtClean="0">
                <a:solidFill>
                  <a:schemeClr val="tx1">
                    <a:lumMod val="85000"/>
                    <a:lumOff val="15000"/>
                  </a:schemeClr>
                </a:solidFill>
                <a:effectLst/>
              </a:rPr>
              <a:t>，纯粹地检验</a:t>
            </a:r>
            <a:r>
              <a:rPr lang="zh-CN" altLang="en-US" sz="1600" b="1" dirty="0" smtClean="0">
                <a:solidFill>
                  <a:schemeClr val="tx1">
                    <a:lumMod val="85000"/>
                    <a:lumOff val="15000"/>
                  </a:schemeClr>
                </a:solidFill>
                <a:effectLst/>
              </a:rPr>
              <a:t>预报模型本身</a:t>
            </a:r>
            <a:r>
              <a:rPr lang="en-US" altLang="zh-CN" sz="1600" dirty="0" smtClean="0">
                <a:solidFill>
                  <a:schemeClr val="tx1">
                    <a:lumMod val="85000"/>
                    <a:lumOff val="15000"/>
                  </a:schemeClr>
                </a:solidFill>
                <a:effectLst/>
              </a:rPr>
              <a:t>         </a:t>
            </a:r>
            <a:r>
              <a:rPr lang="zh-CN" altLang="en-US" sz="1600" dirty="0" smtClean="0">
                <a:solidFill>
                  <a:schemeClr val="tx1">
                    <a:lumMod val="85000"/>
                    <a:lumOff val="15000"/>
                  </a:schemeClr>
                </a:solidFill>
                <a:effectLst/>
              </a:rPr>
              <a:t>的性能。</a:t>
            </a:r>
            <a:endParaRPr lang="zh-CN" altLang="en-US" sz="1600" dirty="0" smtClean="0">
              <a:solidFill>
                <a:schemeClr val="tx1">
                  <a:lumMod val="85000"/>
                  <a:lumOff val="15000"/>
                </a:schemeClr>
              </a:solidFill>
              <a:effectLst/>
            </a:endParaRPr>
          </a:p>
        </p:txBody>
      </p:sp>
      <p:pic>
        <p:nvPicPr>
          <p:cNvPr id="4" name="图片 3"/>
          <p:cNvPicPr>
            <a:picLocks noChangeAspect="1"/>
          </p:cNvPicPr>
          <p:nvPr/>
        </p:nvPicPr>
        <p:blipFill>
          <a:blip r:embed="rId1"/>
          <a:stretch>
            <a:fillRect/>
          </a:stretch>
        </p:blipFill>
        <p:spPr>
          <a:xfrm>
            <a:off x="4041775" y="1533525"/>
            <a:ext cx="8035925" cy="4808855"/>
          </a:xfrm>
          <a:prstGeom prst="rect">
            <a:avLst/>
          </a:prstGeom>
        </p:spPr>
      </p:pic>
      <p:pic>
        <p:nvPicPr>
          <p:cNvPr id="6" name="图片 5"/>
          <p:cNvPicPr>
            <a:picLocks noChangeAspect="1"/>
          </p:cNvPicPr>
          <p:nvPr/>
        </p:nvPicPr>
        <p:blipFill>
          <a:blip r:embed="rId2"/>
          <a:srcRect l="-208" t="18554" r="41875"/>
          <a:stretch>
            <a:fillRect/>
          </a:stretch>
        </p:blipFill>
        <p:spPr>
          <a:xfrm>
            <a:off x="1833880" y="4431030"/>
            <a:ext cx="355600" cy="4292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85750" y="1078230"/>
            <a:ext cx="1156970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四、</a:t>
            </a:r>
            <a:r>
              <a:rPr lang="en-US" altLang="zh-CN">
                <a:solidFill>
                  <a:schemeClr val="accent3">
                    <a:lumMod val="75000"/>
                  </a:schemeClr>
                </a:solidFill>
                <a:latin typeface="ui-sans-serif"/>
                <a:ea typeface="ui-sans-serif"/>
                <a:sym typeface="+mn-ea"/>
              </a:rPr>
              <a:t>Evaluation of the end-to-end neural assimilation and forecast performance (RQ2)</a:t>
            </a:r>
            <a:endParaRPr lang="en-US" altLang="zh-CN">
              <a:solidFill>
                <a:schemeClr val="accent3">
                  <a:lumMod val="75000"/>
                </a:schemeClr>
              </a:solidFill>
              <a:latin typeface="ui-sans-serif"/>
              <a:ea typeface="ui-sans-serif"/>
              <a:sym typeface="+mn-ea"/>
            </a:endParaRPr>
          </a:p>
        </p:txBody>
      </p:sp>
      <p:sp>
        <p:nvSpPr>
          <p:cNvPr id="2" name="文本框 1"/>
          <p:cNvSpPr txBox="1"/>
          <p:nvPr/>
        </p:nvSpPr>
        <p:spPr>
          <a:xfrm>
            <a:off x="247650" y="1499235"/>
            <a:ext cx="8724265" cy="955675"/>
          </a:xfrm>
          <a:prstGeom prst="rect">
            <a:avLst/>
          </a:prstGeom>
          <a:noFill/>
        </p:spPr>
        <p:txBody>
          <a:bodyPr wrap="square" rtlCol="0" anchor="t">
            <a:noAutofit/>
          </a:bodyPr>
          <a:p>
            <a:pPr algn="l">
              <a:lnSpc>
                <a:spcPct val="120000"/>
              </a:lnSpc>
              <a:spcBef>
                <a:spcPts val="0"/>
              </a:spcBef>
              <a:spcAft>
                <a:spcPts val="0"/>
              </a:spcAft>
            </a:pPr>
            <a:r>
              <a:rPr lang="en-US" altLang="zh-CN" sz="1600" dirty="0" smtClean="0">
                <a:solidFill>
                  <a:schemeClr val="tx1">
                    <a:lumMod val="85000"/>
                    <a:lumOff val="15000"/>
                  </a:schemeClr>
                </a:solidFill>
                <a:effectLst/>
              </a:rPr>
              <a:t>Ocean-E2E 能否在脱离数值模型、独立运行的真实场景下，依然保持高精度的预报能力？</a:t>
            </a:r>
            <a:endParaRPr lang="en-US" altLang="zh-CN" sz="1600" dirty="0" smtClean="0">
              <a:solidFill>
                <a:schemeClr val="tx1">
                  <a:lumMod val="85000"/>
                  <a:lumOff val="15000"/>
                </a:schemeClr>
              </a:solidFill>
              <a:effectLst/>
            </a:endParaRPr>
          </a:p>
          <a:p>
            <a:pPr algn="l">
              <a:lnSpc>
                <a:spcPct val="120000"/>
              </a:lnSpc>
              <a:spcBef>
                <a:spcPts val="0"/>
              </a:spcBef>
              <a:spcAft>
                <a:spcPts val="0"/>
              </a:spcAft>
            </a:pPr>
            <a:r>
              <a:rPr lang="zh-CN" altLang="en-US" sz="1600" b="1" dirty="0" smtClean="0">
                <a:solidFill>
                  <a:schemeClr val="tx1">
                    <a:lumMod val="85000"/>
                    <a:lumOff val="15000"/>
                  </a:schemeClr>
                </a:solidFill>
                <a:effectLst/>
              </a:rPr>
              <a:t>任务是端到端预报</a:t>
            </a:r>
            <a:r>
              <a:rPr lang="en-US" altLang="zh-CN" sz="1600" b="1" dirty="0" smtClean="0">
                <a:solidFill>
                  <a:schemeClr val="tx1">
                    <a:lumMod val="85000"/>
                    <a:lumOff val="15000"/>
                  </a:schemeClr>
                </a:solidFill>
                <a:effectLst/>
              </a:rPr>
              <a:t> (End-to-end Forecast)</a:t>
            </a:r>
            <a:r>
              <a:rPr lang="zh-CN" altLang="en-US" sz="1600" b="1" dirty="0" smtClean="0">
                <a:solidFill>
                  <a:schemeClr val="tx1">
                    <a:lumMod val="85000"/>
                    <a:lumOff val="15000"/>
                  </a:schemeClr>
                </a:solidFill>
                <a:effectLst/>
              </a:rPr>
              <a:t>：</a:t>
            </a:r>
            <a:r>
              <a:rPr lang="zh-CN" altLang="en-US" sz="1600" dirty="0" smtClean="0">
                <a:solidFill>
                  <a:schemeClr val="tx1">
                    <a:lumMod val="85000"/>
                    <a:lumOff val="15000"/>
                  </a:schemeClr>
                </a:solidFill>
                <a:effectLst/>
              </a:rPr>
              <a:t>从稀疏的观测数据出发，生成一个完整的初始分析场，使用这个同化后的初始场进行未来预报。</a:t>
            </a:r>
            <a:endParaRPr lang="zh-CN" altLang="en-US" sz="1600" dirty="0" smtClean="0">
              <a:solidFill>
                <a:schemeClr val="tx1">
                  <a:lumMod val="85000"/>
                  <a:lumOff val="15000"/>
                </a:schemeClr>
              </a:solidFill>
              <a:effectLst/>
            </a:endParaRPr>
          </a:p>
          <a:p>
            <a:pPr algn="l">
              <a:lnSpc>
                <a:spcPct val="120000"/>
              </a:lnSpc>
              <a:spcBef>
                <a:spcPts val="0"/>
              </a:spcBef>
              <a:spcAft>
                <a:spcPts val="0"/>
              </a:spcAft>
            </a:pPr>
            <a:endParaRPr lang="en-US" altLang="zh-CN" sz="1200" dirty="0" smtClean="0">
              <a:solidFill>
                <a:schemeClr val="tx1">
                  <a:lumMod val="85000"/>
                  <a:lumOff val="15000"/>
                </a:schemeClr>
              </a:solidFill>
              <a:effectLst/>
            </a:endParaRPr>
          </a:p>
          <a:p>
            <a:pPr algn="l">
              <a:lnSpc>
                <a:spcPct val="120000"/>
              </a:lnSpc>
              <a:spcBef>
                <a:spcPts val="0"/>
              </a:spcBef>
              <a:spcAft>
                <a:spcPts val="0"/>
              </a:spcAft>
            </a:pPr>
            <a:endParaRPr lang="zh-CN" altLang="en-US" sz="1200" dirty="0" smtClean="0">
              <a:solidFill>
                <a:schemeClr val="tx1">
                  <a:lumMod val="85000"/>
                  <a:lumOff val="15000"/>
                </a:schemeClr>
              </a:solidFill>
              <a:effectLst/>
            </a:endParaRPr>
          </a:p>
        </p:txBody>
      </p:sp>
      <p:pic>
        <p:nvPicPr>
          <p:cNvPr id="4" name="图片 3"/>
          <p:cNvPicPr>
            <a:picLocks noChangeAspect="1"/>
          </p:cNvPicPr>
          <p:nvPr/>
        </p:nvPicPr>
        <p:blipFill>
          <a:blip r:embed="rId1"/>
          <a:stretch>
            <a:fillRect/>
          </a:stretch>
        </p:blipFill>
        <p:spPr>
          <a:xfrm>
            <a:off x="170815" y="2482215"/>
            <a:ext cx="5912485" cy="3119755"/>
          </a:xfrm>
          <a:prstGeom prst="rect">
            <a:avLst/>
          </a:prstGeom>
        </p:spPr>
      </p:pic>
      <p:sp>
        <p:nvSpPr>
          <p:cNvPr id="5" name="文本框 4"/>
          <p:cNvSpPr txBox="1"/>
          <p:nvPr/>
        </p:nvSpPr>
        <p:spPr>
          <a:xfrm>
            <a:off x="6356350" y="2976245"/>
            <a:ext cx="4279900" cy="1565910"/>
          </a:xfrm>
          <a:prstGeom prst="rect">
            <a:avLst/>
          </a:prstGeom>
          <a:noFill/>
        </p:spPr>
        <p:txBody>
          <a:bodyPr wrap="square" rtlCol="0" anchor="t">
            <a:spAutoFit/>
          </a:bodyPr>
          <a:p>
            <a:pPr algn="l">
              <a:lnSpc>
                <a:spcPct val="120000"/>
              </a:lnSpc>
              <a:spcBef>
                <a:spcPts val="0"/>
              </a:spcBef>
              <a:spcAft>
                <a:spcPts val="0"/>
              </a:spcAft>
            </a:pPr>
            <a:r>
              <a:rPr lang="zh-CN" altLang="en-US" sz="1600" dirty="0" smtClean="0">
                <a:solidFill>
                  <a:schemeClr val="tx1">
                    <a:lumMod val="85000"/>
                    <a:lumOff val="15000"/>
                  </a:schemeClr>
                </a:solidFill>
                <a:effectLst/>
              </a:rPr>
              <a:t>作者首先要证明他们的同化系统是可靠的。他们连续跑了一整年的数据同化。从图b可以看出，RMSE和BIAS在最初几天快速增长后，很快就趋于稳定。这说明他们的神经同化框架不会随着时间累积误差而“崩溃”，非常稳定。</a:t>
            </a:r>
            <a:endParaRPr lang="zh-CN" altLang="en-US" sz="1600" dirty="0" smtClean="0">
              <a:solidFill>
                <a:schemeClr val="tx1">
                  <a:lumMod val="85000"/>
                  <a:lumOff val="15000"/>
                </a:schemeClr>
              </a:solidFill>
              <a:effectLst/>
            </a:endParaRPr>
          </a:p>
        </p:txBody>
      </p:sp>
      <p:pic>
        <p:nvPicPr>
          <p:cNvPr id="6" name="图片 5"/>
          <p:cNvPicPr>
            <a:picLocks noChangeAspect="1"/>
          </p:cNvPicPr>
          <p:nvPr/>
        </p:nvPicPr>
        <p:blipFill>
          <a:blip r:embed="rId2"/>
          <a:stretch>
            <a:fillRect/>
          </a:stretch>
        </p:blipFill>
        <p:spPr>
          <a:xfrm>
            <a:off x="356870" y="5553075"/>
            <a:ext cx="5739130" cy="1243330"/>
          </a:xfrm>
          <a:prstGeom prst="rect">
            <a:avLst/>
          </a:prstGeom>
        </p:spPr>
      </p:pic>
      <p:sp>
        <p:nvSpPr>
          <p:cNvPr id="7" name="文本框 6"/>
          <p:cNvSpPr txBox="1"/>
          <p:nvPr/>
        </p:nvSpPr>
        <p:spPr>
          <a:xfrm>
            <a:off x="6249035" y="5347335"/>
            <a:ext cx="5930265" cy="1565910"/>
          </a:xfrm>
          <a:prstGeom prst="rect">
            <a:avLst/>
          </a:prstGeom>
          <a:noFill/>
        </p:spPr>
        <p:txBody>
          <a:bodyPr wrap="square" rtlCol="0" anchor="t">
            <a:spAutoFit/>
          </a:bodyPr>
          <a:p>
            <a:pPr algn="l">
              <a:lnSpc>
                <a:spcPct val="120000"/>
              </a:lnSpc>
              <a:spcBef>
                <a:spcPts val="0"/>
              </a:spcBef>
              <a:spcAft>
                <a:spcPts val="0"/>
              </a:spcAft>
              <a:buClrTx/>
              <a:buSzTx/>
              <a:buFontTx/>
            </a:pPr>
            <a:r>
              <a:rPr lang="zh-CN" altLang="en-US" sz="1600" dirty="0" smtClean="0">
                <a:solidFill>
                  <a:schemeClr val="tx1">
                    <a:lumMod val="85000"/>
                    <a:lumOff val="15000"/>
                  </a:schemeClr>
                </a:solidFill>
                <a:effectLst/>
              </a:rPr>
              <a:t>在证明了同化系统稳定后，他们用同化得到的初始场进行预报，并与顶级的数值预报系统</a:t>
            </a:r>
            <a:r>
              <a:rPr lang="zh-CN" altLang="en-US" sz="1600" b="1" dirty="0" smtClean="0">
                <a:solidFill>
                  <a:schemeClr val="tx1">
                    <a:lumMod val="85000"/>
                    <a:lumOff val="15000"/>
                  </a:schemeClr>
                </a:solidFill>
                <a:effectLst/>
              </a:rPr>
              <a:t> S2S</a:t>
            </a:r>
            <a:r>
              <a:rPr lang="zh-CN" altLang="en-US" sz="1600" dirty="0" smtClean="0">
                <a:solidFill>
                  <a:schemeClr val="tx1">
                    <a:lumMod val="85000"/>
                    <a:lumOff val="15000"/>
                  </a:schemeClr>
                </a:solidFill>
                <a:effectLst/>
              </a:rPr>
              <a:t>进行对比。结果显示，在10天到40天的预报中，Ocean-E2E的RMSE比S2S</a:t>
            </a:r>
            <a:r>
              <a:rPr lang="zh-CN" altLang="en-US" sz="1600" b="1" dirty="0" smtClean="0">
                <a:solidFill>
                  <a:schemeClr val="tx1">
                    <a:lumMod val="85000"/>
                    <a:lumOff val="15000"/>
                  </a:schemeClr>
                </a:solidFill>
                <a:effectLst/>
              </a:rPr>
              <a:t>平均降低了10%</a:t>
            </a:r>
            <a:r>
              <a:rPr lang="zh-CN" altLang="en-US" sz="1600" dirty="0" smtClean="0">
                <a:solidFill>
                  <a:schemeClr val="tx1">
                    <a:lumMod val="85000"/>
                    <a:lumOff val="15000"/>
                  </a:schemeClr>
                </a:solidFill>
                <a:effectLst/>
              </a:rPr>
              <a:t>以上。这是一个非常惊人的结果，意味着一个AI模型在真实场景下，已经超越了顶尖的传统数值模型。</a:t>
            </a:r>
            <a:endParaRPr lang="zh-CN" altLang="en-US" sz="1600" dirty="0" smtClean="0">
              <a:solidFill>
                <a:schemeClr val="tx1">
                  <a:lumMod val="85000"/>
                  <a:lumOff val="15000"/>
                </a:schemeClr>
              </a:solidFill>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85750" y="1078230"/>
            <a:ext cx="11569700" cy="64516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五、</a:t>
            </a:r>
            <a:r>
              <a:rPr lang="en-US" altLang="zh-CN">
                <a:solidFill>
                  <a:schemeClr val="accent3">
                    <a:lumMod val="75000"/>
                  </a:schemeClr>
                </a:solidFill>
                <a:latin typeface="ui-sans-serif"/>
                <a:ea typeface="ui-sans-serif"/>
                <a:sym typeface="+mn-ea"/>
              </a:rPr>
              <a:t>Regional high-resolution simulation (RQ3)</a:t>
            </a:r>
            <a:endParaRPr lang="en-US" altLang="zh-CN">
              <a:solidFill>
                <a:schemeClr val="accent3">
                  <a:lumMod val="75000"/>
                </a:schemeClr>
              </a:solidFill>
              <a:latin typeface="ui-sans-serif"/>
              <a:ea typeface="ui-sans-serif"/>
              <a:sym typeface="+mn-ea"/>
            </a:endParaRPr>
          </a:p>
          <a:p>
            <a:pPr marL="0" algn="l">
              <a:buClrTx/>
              <a:buSzTx/>
              <a:buFont typeface="Arial" panose="020B0604020202020204"/>
            </a:pPr>
            <a:endParaRPr lang="en-US" altLang="zh-CN">
              <a:solidFill>
                <a:schemeClr val="accent3">
                  <a:lumMod val="75000"/>
                </a:schemeClr>
              </a:solidFill>
              <a:latin typeface="ui-sans-serif"/>
              <a:ea typeface="ui-sans-serif"/>
              <a:sym typeface="+mn-ea"/>
            </a:endParaRPr>
          </a:p>
        </p:txBody>
      </p:sp>
      <p:sp>
        <p:nvSpPr>
          <p:cNvPr id="2" name="文本框 1"/>
          <p:cNvSpPr txBox="1"/>
          <p:nvPr/>
        </p:nvSpPr>
        <p:spPr>
          <a:xfrm>
            <a:off x="285750" y="1504950"/>
            <a:ext cx="11785600" cy="386080"/>
          </a:xfrm>
          <a:prstGeom prst="rect">
            <a:avLst/>
          </a:prstGeom>
          <a:noFill/>
        </p:spPr>
        <p:txBody>
          <a:bodyPr wrap="square" rtlCol="0" anchor="t">
            <a:spAutoFit/>
          </a:bodyPr>
          <a:p>
            <a:pPr algn="l">
              <a:lnSpc>
                <a:spcPct val="120000"/>
              </a:lnSpc>
              <a:spcBef>
                <a:spcPts val="0"/>
              </a:spcBef>
              <a:spcAft>
                <a:spcPts val="0"/>
              </a:spcAft>
              <a:buClrTx/>
              <a:buSzTx/>
              <a:buFontTx/>
            </a:pPr>
            <a:r>
              <a:rPr lang="en-US" altLang="zh-CN" sz="1600" dirty="0" smtClean="0">
                <a:solidFill>
                  <a:schemeClr val="tx1">
                    <a:lumMod val="85000"/>
                    <a:lumOff val="15000"/>
                  </a:schemeClr>
                </a:solidFill>
                <a:effectLst/>
              </a:rPr>
              <a:t>框架能否在区域高分辨率模拟中也表现出色？因为高分辨率意味着更复杂的海洋动力过程（如中尺度涡）。</a:t>
            </a:r>
            <a:endParaRPr lang="en-US" altLang="zh-CN" sz="1600" dirty="0" smtClean="0">
              <a:solidFill>
                <a:schemeClr val="tx1">
                  <a:lumMod val="85000"/>
                  <a:lumOff val="15000"/>
                </a:schemeClr>
              </a:solidFill>
              <a:effectLst/>
            </a:endParaRPr>
          </a:p>
        </p:txBody>
      </p:sp>
      <p:pic>
        <p:nvPicPr>
          <p:cNvPr id="4" name="图片 3"/>
          <p:cNvPicPr>
            <a:picLocks noChangeAspect="1"/>
          </p:cNvPicPr>
          <p:nvPr/>
        </p:nvPicPr>
        <p:blipFill>
          <a:blip r:embed="rId1"/>
          <a:stretch>
            <a:fillRect/>
          </a:stretch>
        </p:blipFill>
        <p:spPr>
          <a:xfrm>
            <a:off x="539750" y="2114550"/>
            <a:ext cx="6426200" cy="4178300"/>
          </a:xfrm>
          <a:prstGeom prst="rect">
            <a:avLst/>
          </a:prstGeom>
        </p:spPr>
      </p:pic>
      <p:sp>
        <p:nvSpPr>
          <p:cNvPr id="5" name="文本框 4"/>
          <p:cNvSpPr txBox="1"/>
          <p:nvPr/>
        </p:nvSpPr>
        <p:spPr>
          <a:xfrm>
            <a:off x="7277100" y="2456815"/>
            <a:ext cx="4793615" cy="3201035"/>
          </a:xfrm>
          <a:prstGeom prst="rect">
            <a:avLst/>
          </a:prstGeom>
          <a:noFill/>
        </p:spPr>
        <p:txBody>
          <a:bodyPr wrap="square" rtlCol="0" anchor="t">
            <a:noAutofit/>
          </a:bodyPr>
          <a:p>
            <a:pPr algn="l">
              <a:lnSpc>
                <a:spcPct val="120000"/>
              </a:lnSpc>
              <a:spcBef>
                <a:spcPts val="0"/>
              </a:spcBef>
              <a:spcAft>
                <a:spcPts val="0"/>
              </a:spcAft>
            </a:pPr>
            <a:r>
              <a:rPr lang="zh-CN" altLang="en-US" sz="1600" b="1" dirty="0" smtClean="0">
                <a:solidFill>
                  <a:schemeClr val="tx1">
                    <a:lumMod val="85000"/>
                    <a:lumOff val="15000"/>
                  </a:schemeClr>
                </a:solidFill>
                <a:effectLst/>
              </a:rPr>
              <a:t>定性分析</a:t>
            </a:r>
            <a:r>
              <a:rPr lang="en-US" altLang="zh-CN" sz="1600" b="1" dirty="0" smtClean="0">
                <a:solidFill>
                  <a:schemeClr val="tx1">
                    <a:lumMod val="85000"/>
                    <a:lumOff val="15000"/>
                  </a:schemeClr>
                </a:solidFill>
                <a:effectLst/>
              </a:rPr>
              <a:t> (Figure 5 a-c):</a:t>
            </a:r>
            <a:r>
              <a:rPr lang="zh-CN" altLang="en-US" sz="1600" dirty="0" smtClean="0">
                <a:solidFill>
                  <a:schemeClr val="tx1">
                    <a:lumMod val="85000"/>
                    <a:lumOff val="15000"/>
                  </a:schemeClr>
                </a:solidFill>
                <a:effectLst/>
              </a:rPr>
              <a:t>与基线模型相比，</a:t>
            </a:r>
            <a:r>
              <a:rPr lang="en-US" altLang="zh-CN" sz="1600" dirty="0" smtClean="0">
                <a:solidFill>
                  <a:schemeClr val="tx1">
                    <a:lumMod val="85000"/>
                    <a:lumOff val="15000"/>
                  </a:schemeClr>
                </a:solidFill>
                <a:effectLst/>
              </a:rPr>
              <a:t>Ocean-E2E</a:t>
            </a:r>
            <a:r>
              <a:rPr lang="zh-CN" altLang="en-US" sz="1600" dirty="0" smtClean="0">
                <a:solidFill>
                  <a:schemeClr val="tx1">
                    <a:lumMod val="85000"/>
                    <a:lumOff val="15000"/>
                  </a:schemeClr>
                </a:solidFill>
                <a:effectLst/>
              </a:rPr>
              <a:t>的模拟结果展现了</a:t>
            </a:r>
            <a:r>
              <a:rPr lang="zh-CN" altLang="en-US" sz="1600" b="1" dirty="0" smtClean="0">
                <a:solidFill>
                  <a:schemeClr val="tx1">
                    <a:lumMod val="85000"/>
                    <a:lumOff val="15000"/>
                  </a:schemeClr>
                </a:solidFill>
                <a:effectLst/>
              </a:rPr>
              <a:t>更丰富的物理细节</a:t>
            </a:r>
            <a:r>
              <a:rPr lang="zh-CN" altLang="en-US" sz="1600" dirty="0" smtClean="0">
                <a:solidFill>
                  <a:schemeClr val="tx1">
                    <a:lumMod val="85000"/>
                    <a:lumOff val="15000"/>
                  </a:schemeClr>
                </a:solidFill>
                <a:effectLst/>
              </a:rPr>
              <a:t>，例如更多的中尺度涡旋和更强的极端</a:t>
            </a:r>
            <a:r>
              <a:rPr lang="en-US" altLang="zh-CN" sz="1600" dirty="0" smtClean="0">
                <a:solidFill>
                  <a:schemeClr val="tx1">
                    <a:lumMod val="85000"/>
                    <a:lumOff val="15000"/>
                  </a:schemeClr>
                </a:solidFill>
                <a:effectLst/>
              </a:rPr>
              <a:t>MHW</a:t>
            </a:r>
            <a:r>
              <a:rPr lang="zh-CN" altLang="en-US" sz="1600" dirty="0" smtClean="0">
                <a:solidFill>
                  <a:schemeClr val="tx1">
                    <a:lumMod val="85000"/>
                    <a:lumOff val="15000"/>
                  </a:schemeClr>
                </a:solidFill>
                <a:effectLst/>
              </a:rPr>
              <a:t>事件（黄色部分），这与高分辨率下的真实海洋状况更接近。</a:t>
            </a:r>
            <a:endParaRPr lang="zh-CN" altLang="en-US" sz="1600" dirty="0" smtClean="0">
              <a:solidFill>
                <a:schemeClr val="tx1">
                  <a:lumMod val="85000"/>
                  <a:lumOff val="15000"/>
                </a:schemeClr>
              </a:solidFill>
              <a:effectLst/>
            </a:endParaRPr>
          </a:p>
          <a:p>
            <a:pPr algn="l">
              <a:lnSpc>
                <a:spcPct val="120000"/>
              </a:lnSpc>
              <a:spcBef>
                <a:spcPts val="0"/>
              </a:spcBef>
              <a:spcAft>
                <a:spcPts val="0"/>
              </a:spcAft>
            </a:pPr>
            <a:endParaRPr lang="en-US" altLang="zh-CN" sz="1600" dirty="0" smtClean="0">
              <a:solidFill>
                <a:schemeClr val="tx1">
                  <a:lumMod val="85000"/>
                  <a:lumOff val="15000"/>
                </a:schemeClr>
              </a:solidFill>
              <a:effectLst/>
            </a:endParaRPr>
          </a:p>
          <a:p>
            <a:pPr algn="l">
              <a:lnSpc>
                <a:spcPct val="120000"/>
              </a:lnSpc>
              <a:spcBef>
                <a:spcPts val="0"/>
              </a:spcBef>
              <a:spcAft>
                <a:spcPts val="0"/>
              </a:spcAft>
            </a:pPr>
            <a:endParaRPr lang="en-US" altLang="zh-CN" sz="1600" dirty="0" smtClean="0">
              <a:solidFill>
                <a:schemeClr val="tx1">
                  <a:lumMod val="85000"/>
                  <a:lumOff val="15000"/>
                </a:schemeClr>
              </a:solidFill>
              <a:effectLst/>
            </a:endParaRPr>
          </a:p>
          <a:p>
            <a:pPr algn="l">
              <a:lnSpc>
                <a:spcPct val="120000"/>
              </a:lnSpc>
              <a:spcBef>
                <a:spcPts val="0"/>
              </a:spcBef>
              <a:spcAft>
                <a:spcPts val="0"/>
              </a:spcAft>
            </a:pPr>
            <a:r>
              <a:rPr lang="zh-CN" altLang="en-US" sz="1600" b="1" dirty="0" smtClean="0">
                <a:solidFill>
                  <a:schemeClr val="tx1">
                    <a:lumMod val="85000"/>
                    <a:lumOff val="15000"/>
                  </a:schemeClr>
                </a:solidFill>
                <a:effectLst/>
              </a:rPr>
              <a:t>定量分析</a:t>
            </a:r>
            <a:r>
              <a:rPr lang="en-US" altLang="zh-CN" sz="1600" b="1" dirty="0" smtClean="0">
                <a:solidFill>
                  <a:schemeClr val="tx1">
                    <a:lumMod val="85000"/>
                    <a:lumOff val="15000"/>
                  </a:schemeClr>
                </a:solidFill>
                <a:effectLst/>
              </a:rPr>
              <a:t> (Figure 5 d-e): </a:t>
            </a:r>
            <a:r>
              <a:rPr lang="en-US" altLang="zh-CN" sz="1600" dirty="0" smtClean="0">
                <a:solidFill>
                  <a:schemeClr val="tx1">
                    <a:lumMod val="85000"/>
                    <a:lumOff val="15000"/>
                  </a:schemeClr>
                </a:solidFill>
                <a:effectLst/>
              </a:rPr>
              <a:t>RMSE</a:t>
            </a:r>
            <a:r>
              <a:rPr lang="zh-CN" altLang="en-US" sz="1600" dirty="0" smtClean="0">
                <a:solidFill>
                  <a:schemeClr val="tx1">
                    <a:lumMod val="85000"/>
                    <a:lumOff val="15000"/>
                  </a:schemeClr>
                </a:solidFill>
                <a:effectLst/>
              </a:rPr>
              <a:t>和</a:t>
            </a:r>
            <a:r>
              <a:rPr lang="en-US" altLang="zh-CN" sz="1600" dirty="0" smtClean="0">
                <a:solidFill>
                  <a:schemeClr val="tx1">
                    <a:lumMod val="85000"/>
                    <a:lumOff val="15000"/>
                  </a:schemeClr>
                </a:solidFill>
                <a:effectLst/>
              </a:rPr>
              <a:t>CSI</a:t>
            </a:r>
            <a:r>
              <a:rPr lang="zh-CN" altLang="en-US" sz="1600" dirty="0" smtClean="0">
                <a:solidFill>
                  <a:schemeClr val="tx1">
                    <a:lumMod val="85000"/>
                    <a:lumOff val="15000"/>
                  </a:schemeClr>
                </a:solidFill>
                <a:effectLst/>
              </a:rPr>
              <a:t>指标再次证明，</a:t>
            </a:r>
            <a:r>
              <a:rPr lang="en-US" altLang="zh-CN" sz="1600" dirty="0" smtClean="0">
                <a:solidFill>
                  <a:schemeClr val="tx1">
                    <a:lumMod val="85000"/>
                    <a:lumOff val="15000"/>
                  </a:schemeClr>
                </a:solidFill>
                <a:effectLst/>
              </a:rPr>
              <a:t>Ocean-E2E</a:t>
            </a:r>
            <a:r>
              <a:rPr lang="zh-CN" altLang="en-US" sz="1600" dirty="0" smtClean="0">
                <a:solidFill>
                  <a:schemeClr val="tx1">
                    <a:lumMod val="85000"/>
                    <a:lumOff val="15000"/>
                  </a:schemeClr>
                </a:solidFill>
                <a:effectLst/>
              </a:rPr>
              <a:t>在高分辨率模拟中同样达到了</a:t>
            </a:r>
            <a:r>
              <a:rPr lang="en-US" altLang="zh-CN" sz="1600" dirty="0" smtClean="0">
                <a:solidFill>
                  <a:schemeClr val="tx1">
                    <a:lumMod val="85000"/>
                    <a:lumOff val="15000"/>
                  </a:schemeClr>
                </a:solidFill>
                <a:effectLst/>
              </a:rPr>
              <a:t>SOTA</a:t>
            </a:r>
            <a:r>
              <a:rPr lang="zh-CN" altLang="en-US" sz="1600" dirty="0" smtClean="0">
                <a:solidFill>
                  <a:schemeClr val="tx1">
                    <a:lumMod val="85000"/>
                    <a:lumOff val="15000"/>
                  </a:schemeClr>
                </a:solidFill>
                <a:effectLst/>
              </a:rPr>
              <a:t>水平，全面优于其他基线模型。这证明了他们框架的</a:t>
            </a:r>
            <a:r>
              <a:rPr lang="zh-CN" altLang="en-US" sz="1600" b="1" dirty="0" smtClean="0">
                <a:solidFill>
                  <a:schemeClr val="tx1">
                    <a:lumMod val="85000"/>
                    <a:lumOff val="15000"/>
                  </a:schemeClr>
                </a:solidFill>
                <a:effectLst/>
              </a:rPr>
              <a:t>可扩展性和物理真实性。</a:t>
            </a:r>
            <a:endParaRPr lang="zh-CN" altLang="en-US" sz="1600" b="1" dirty="0" smtClean="0">
              <a:solidFill>
                <a:schemeClr val="tx1">
                  <a:lumMod val="85000"/>
                  <a:lumOff val="15000"/>
                </a:schemeClr>
              </a:solidFill>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34975" y="1428750"/>
            <a:ext cx="5200650" cy="2319020"/>
          </a:xfrm>
          <a:prstGeom prst="rect">
            <a:avLst/>
          </a:prstGeom>
        </p:spPr>
      </p:pic>
      <p:sp>
        <p:nvSpPr>
          <p:cNvPr id="3" name="文本框 2"/>
          <p:cNvSpPr txBox="1"/>
          <p:nvPr/>
        </p:nvSpPr>
        <p:spPr>
          <a:xfrm>
            <a:off x="285750" y="1078230"/>
            <a:ext cx="11569700" cy="64516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五、消融实验</a:t>
            </a:r>
            <a:endParaRPr lang="en-US" altLang="zh-CN">
              <a:solidFill>
                <a:schemeClr val="accent3">
                  <a:lumMod val="75000"/>
                </a:schemeClr>
              </a:solidFill>
              <a:latin typeface="ui-sans-serif"/>
              <a:ea typeface="ui-sans-serif"/>
              <a:sym typeface="+mn-ea"/>
            </a:endParaRPr>
          </a:p>
          <a:p>
            <a:pPr marL="0" algn="l">
              <a:buClrTx/>
              <a:buSzTx/>
              <a:buFont typeface="Arial" panose="020B0604020202020204"/>
            </a:pPr>
            <a:endParaRPr lang="en-US" altLang="zh-CN">
              <a:solidFill>
                <a:schemeClr val="accent3">
                  <a:lumMod val="75000"/>
                </a:schemeClr>
              </a:solidFill>
              <a:latin typeface="ui-sans-serif"/>
              <a:ea typeface="ui-sans-serif"/>
              <a:sym typeface="+mn-ea"/>
            </a:endParaRPr>
          </a:p>
        </p:txBody>
      </p:sp>
      <p:sp>
        <p:nvSpPr>
          <p:cNvPr id="4" name="文本框 3"/>
          <p:cNvSpPr txBox="1"/>
          <p:nvPr/>
        </p:nvSpPr>
        <p:spPr>
          <a:xfrm>
            <a:off x="285750" y="4025265"/>
            <a:ext cx="8324215" cy="2082165"/>
          </a:xfrm>
          <a:prstGeom prst="rect">
            <a:avLst/>
          </a:prstGeom>
          <a:noFill/>
        </p:spPr>
        <p:txBody>
          <a:bodyPr wrap="square" rtlCol="0" anchor="t">
            <a:spAutoFit/>
          </a:bodyPr>
          <a:p>
            <a:pPr algn="l">
              <a:lnSpc>
                <a:spcPct val="120000"/>
              </a:lnSpc>
              <a:spcBef>
                <a:spcPts val="0"/>
              </a:spcBef>
              <a:spcAft>
                <a:spcPts val="0"/>
              </a:spcAft>
              <a:buClrTx/>
              <a:buSzTx/>
              <a:buNone/>
            </a:pPr>
            <a:r>
              <a:rPr lang="zh-CN" altLang="en-US" sz="1600" b="1" dirty="0" smtClean="0">
                <a:solidFill>
                  <a:schemeClr val="tx1">
                    <a:lumMod val="85000"/>
                    <a:lumOff val="15000"/>
                  </a:schemeClr>
                </a:solidFill>
                <a:effectLst/>
              </a:rPr>
              <a:t>实验设计 (Table 3): 他们设计了几个变体进行对比：</a:t>
            </a:r>
            <a:endParaRPr lang="zh-CN" altLang="en-US" sz="1600" b="1" dirty="0" smtClean="0">
              <a:solidFill>
                <a:schemeClr val="tx1">
                  <a:lumMod val="85000"/>
                  <a:lumOff val="15000"/>
                </a:schemeClr>
              </a:solidFill>
              <a:effectLst/>
            </a:endParaRPr>
          </a:p>
          <a:p>
            <a:pPr algn="l">
              <a:lnSpc>
                <a:spcPct val="120000"/>
              </a:lnSpc>
              <a:spcBef>
                <a:spcPts val="0"/>
              </a:spcBef>
              <a:spcAft>
                <a:spcPts val="0"/>
              </a:spcAft>
              <a:buClrTx/>
              <a:buSzTx/>
              <a:buNone/>
            </a:pPr>
            <a:endParaRPr lang="zh-CN" altLang="en-US" sz="1600" dirty="0" smtClean="0">
              <a:solidFill>
                <a:schemeClr val="tx1">
                  <a:lumMod val="85000"/>
                  <a:lumOff val="15000"/>
                </a:schemeClr>
              </a:solidFill>
              <a:effectLst/>
            </a:endParaRPr>
          </a:p>
          <a:p>
            <a:pPr algn="l">
              <a:lnSpc>
                <a:spcPct val="120000"/>
              </a:lnSpc>
              <a:spcBef>
                <a:spcPts val="0"/>
              </a:spcBef>
              <a:spcAft>
                <a:spcPts val="0"/>
              </a:spcAft>
              <a:buClrTx/>
              <a:buSzTx/>
              <a:buNone/>
            </a:pPr>
            <a:r>
              <a:rPr lang="zh-CN" altLang="en-US" sz="1600" b="1" dirty="0" smtClean="0">
                <a:solidFill>
                  <a:schemeClr val="tx1">
                    <a:lumMod val="85000"/>
                    <a:lumOff val="15000"/>
                  </a:schemeClr>
                </a:solidFill>
                <a:effectLst/>
              </a:rPr>
              <a:t>1. 完整模型:</a:t>
            </a:r>
            <a:r>
              <a:rPr lang="zh-CN" altLang="en-US" sz="1600" dirty="0" smtClean="0">
                <a:solidFill>
                  <a:schemeClr val="tx1">
                    <a:lumMod val="85000"/>
                    <a:lumOff val="15000"/>
                  </a:schemeClr>
                </a:solidFill>
                <a:effectLst/>
              </a:rPr>
              <a:t> `(uθ + ug)∇C + S˙θ`</a:t>
            </a:r>
            <a:endParaRPr lang="zh-CN" altLang="en-US" sz="1600" dirty="0" smtClean="0">
              <a:solidFill>
                <a:schemeClr val="tx1">
                  <a:lumMod val="85000"/>
                  <a:lumOff val="15000"/>
                </a:schemeClr>
              </a:solidFill>
              <a:effectLst/>
            </a:endParaRPr>
          </a:p>
          <a:p>
            <a:pPr algn="l">
              <a:lnSpc>
                <a:spcPct val="120000"/>
              </a:lnSpc>
              <a:spcBef>
                <a:spcPts val="0"/>
              </a:spcBef>
              <a:spcAft>
                <a:spcPts val="0"/>
              </a:spcAft>
              <a:buClrTx/>
              <a:buSzTx/>
              <a:buNone/>
            </a:pPr>
            <a:r>
              <a:rPr lang="zh-CN" altLang="en-US" sz="1600" b="1" dirty="0" smtClean="0">
                <a:solidFill>
                  <a:schemeClr val="tx1">
                    <a:lumMod val="85000"/>
                    <a:lumOff val="15000"/>
                  </a:schemeClr>
                </a:solidFill>
                <a:effectLst/>
              </a:rPr>
              <a:t>2. 仅保留源汇项 (S only):</a:t>
            </a:r>
            <a:r>
              <a:rPr lang="zh-CN" altLang="en-US" sz="1600" dirty="0" smtClean="0">
                <a:solidFill>
                  <a:schemeClr val="tx1">
                    <a:lumMod val="85000"/>
                    <a:lumOff val="15000"/>
                  </a:schemeClr>
                </a:solidFill>
                <a:effectLst/>
              </a:rPr>
              <a:t>只用AI模拟海气相互作用。</a:t>
            </a:r>
            <a:endParaRPr lang="zh-CN" altLang="en-US" sz="1600" dirty="0" smtClean="0">
              <a:solidFill>
                <a:schemeClr val="tx1">
                  <a:lumMod val="85000"/>
                  <a:lumOff val="15000"/>
                </a:schemeClr>
              </a:solidFill>
              <a:effectLst/>
            </a:endParaRPr>
          </a:p>
          <a:p>
            <a:pPr algn="l">
              <a:lnSpc>
                <a:spcPct val="120000"/>
              </a:lnSpc>
              <a:spcBef>
                <a:spcPts val="0"/>
              </a:spcBef>
              <a:spcAft>
                <a:spcPts val="0"/>
              </a:spcAft>
              <a:buClrTx/>
              <a:buSzTx/>
              <a:buNone/>
            </a:pPr>
            <a:r>
              <a:rPr lang="zh-CN" altLang="en-US" sz="1600" b="1" dirty="0" smtClean="0">
                <a:solidFill>
                  <a:schemeClr val="tx1">
                    <a:lumMod val="85000"/>
                    <a:lumOff val="15000"/>
                  </a:schemeClr>
                </a:solidFill>
                <a:effectLst/>
              </a:rPr>
              <a:t>3. 仅保留平流项 (ADV only): </a:t>
            </a:r>
            <a:r>
              <a:rPr lang="zh-CN" altLang="en-US" sz="1600" dirty="0" smtClean="0">
                <a:solidFill>
                  <a:schemeClr val="tx1">
                    <a:lumMod val="85000"/>
                    <a:lumOff val="15000"/>
                  </a:schemeClr>
                </a:solidFill>
                <a:effectLst/>
              </a:rPr>
              <a:t>只用AI修正平流过程。</a:t>
            </a:r>
            <a:endParaRPr lang="zh-CN" altLang="en-US" sz="1600" dirty="0" smtClean="0">
              <a:solidFill>
                <a:schemeClr val="tx1">
                  <a:lumMod val="85000"/>
                  <a:lumOff val="15000"/>
                </a:schemeClr>
              </a:solidFill>
              <a:effectLst/>
            </a:endParaRPr>
          </a:p>
          <a:p>
            <a:pPr algn="l">
              <a:lnSpc>
                <a:spcPct val="120000"/>
              </a:lnSpc>
              <a:spcBef>
                <a:spcPts val="0"/>
              </a:spcBef>
              <a:spcAft>
                <a:spcPts val="0"/>
              </a:spcAft>
              <a:buClrTx/>
              <a:buSzTx/>
              <a:buNone/>
            </a:pPr>
            <a:r>
              <a:rPr lang="zh-CN" altLang="en-US" sz="1600" b="1" dirty="0" smtClean="0">
                <a:solidFill>
                  <a:schemeClr val="tx1">
                    <a:lumMod val="85000"/>
                    <a:lumOff val="15000"/>
                  </a:schemeClr>
                </a:solidFill>
                <a:effectLst/>
              </a:rPr>
              <a:t>4. 纯数值模型:</a:t>
            </a:r>
            <a:r>
              <a:rPr lang="zh-CN" altLang="en-US" sz="1600" dirty="0" smtClean="0">
                <a:solidFill>
                  <a:schemeClr val="tx1">
                    <a:lumMod val="85000"/>
                    <a:lumOff val="15000"/>
                  </a:schemeClr>
                </a:solidFill>
                <a:effectLst/>
              </a:rPr>
              <a:t>去掉所有AI修正项（`uθ` 和 `S˙θ`），只保留 `ug∇C`</a:t>
            </a:r>
            <a:r>
              <a:rPr lang="zh-CN" altLang="en-US" sz="1600" b="1" dirty="0" smtClean="0">
                <a:solidFill>
                  <a:schemeClr val="tx1">
                    <a:lumMod val="85000"/>
                    <a:lumOff val="15000"/>
                  </a:schemeClr>
                </a:solidFill>
                <a:effectLst/>
              </a:rPr>
              <a:t>。</a:t>
            </a:r>
            <a:endParaRPr lang="zh-CN" altLang="en-US" sz="1600" b="1" dirty="0" smtClean="0">
              <a:solidFill>
                <a:schemeClr val="tx1">
                  <a:lumMod val="85000"/>
                  <a:lumOff val="15000"/>
                </a:schemeClr>
              </a:solidFill>
              <a:effectLst/>
            </a:endParaRPr>
          </a:p>
          <a:p>
            <a:pPr algn="ctr">
              <a:lnSpc>
                <a:spcPct val="120000"/>
              </a:lnSpc>
              <a:spcBef>
                <a:spcPts val="0"/>
              </a:spcBef>
              <a:spcAft>
                <a:spcPts val="0"/>
              </a:spcAft>
            </a:pPr>
            <a:endParaRPr lang="zh-CN" altLang="en-US" sz="1200" dirty="0" smtClean="0">
              <a:solidFill>
                <a:schemeClr val="tx1">
                  <a:lumMod val="85000"/>
                  <a:lumOff val="15000"/>
                </a:schemeClr>
              </a:solidFill>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85750" y="1078230"/>
            <a:ext cx="111125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一、结论</a:t>
            </a:r>
            <a:endParaRPr lang="en-US" altLang="zh-CN">
              <a:solidFill>
                <a:schemeClr val="accent3">
                  <a:lumMod val="75000"/>
                </a:schemeClr>
              </a:solidFill>
              <a:latin typeface="ui-sans-serif"/>
              <a:ea typeface="ui-sans-serif"/>
              <a:sym typeface="+mn-ea"/>
            </a:endParaRPr>
          </a:p>
        </p:txBody>
      </p:sp>
      <p:sp>
        <p:nvSpPr>
          <p:cNvPr id="4" name="文本框 3"/>
          <p:cNvSpPr txBox="1"/>
          <p:nvPr/>
        </p:nvSpPr>
        <p:spPr>
          <a:xfrm>
            <a:off x="234950" y="1466215"/>
            <a:ext cx="8324215" cy="2084070"/>
          </a:xfrm>
          <a:prstGeom prst="rect">
            <a:avLst/>
          </a:prstGeom>
          <a:noFill/>
        </p:spPr>
        <p:txBody>
          <a:bodyPr wrap="square" rtlCol="0" anchor="t">
            <a:spAutoFit/>
          </a:bodyPr>
          <a:p>
            <a:pPr algn="l">
              <a:lnSpc>
                <a:spcPct val="120000"/>
              </a:lnSpc>
              <a:spcBef>
                <a:spcPts val="0"/>
              </a:spcBef>
              <a:spcAft>
                <a:spcPts val="0"/>
              </a:spcAft>
            </a:pPr>
            <a:r>
              <a:rPr lang="en-US" altLang="zh-CN" dirty="0" smtClean="0">
                <a:solidFill>
                  <a:schemeClr val="tx1">
                    <a:lumMod val="85000"/>
                    <a:lumOff val="15000"/>
                  </a:schemeClr>
                </a:solidFill>
                <a:effectLst/>
              </a:rPr>
              <a:t>Ocean-E2E </a:t>
            </a:r>
            <a:r>
              <a:rPr lang="zh-CN" altLang="en-US" dirty="0" smtClean="0">
                <a:solidFill>
                  <a:schemeClr val="tx1">
                    <a:lumMod val="85000"/>
                    <a:lumOff val="15000"/>
                  </a:schemeClr>
                </a:solidFill>
                <a:effectLst/>
              </a:rPr>
              <a:t>提出了一个融合物理约束与深度学习的端到端海洋热浪预测框架，可从稀疏观测直接生成高精度预测。模型通过神经同化与混合物理</a:t>
            </a:r>
            <a:r>
              <a:rPr lang="en-US" altLang="zh-CN" dirty="0" smtClean="0">
                <a:solidFill>
                  <a:schemeClr val="tx1">
                    <a:lumMod val="85000"/>
                    <a:lumOff val="15000"/>
                  </a:schemeClr>
                </a:solidFill>
                <a:effectLst/>
              </a:rPr>
              <a:t>–AI</a:t>
            </a:r>
            <a:r>
              <a:rPr lang="zh-CN" altLang="en-US" dirty="0" smtClean="0">
                <a:solidFill>
                  <a:schemeClr val="tx1">
                    <a:lumMod val="85000"/>
                    <a:lumOff val="15000"/>
                  </a:schemeClr>
                </a:solidFill>
                <a:effectLst/>
              </a:rPr>
              <a:t>建模，实现了</a:t>
            </a:r>
            <a:r>
              <a:rPr lang="en-US" altLang="zh-CN" dirty="0" smtClean="0">
                <a:solidFill>
                  <a:schemeClr val="tx1">
                    <a:lumMod val="85000"/>
                    <a:lumOff val="15000"/>
                  </a:schemeClr>
                </a:solidFill>
                <a:effectLst/>
              </a:rPr>
              <a:t>1–40</a:t>
            </a:r>
            <a:r>
              <a:rPr lang="zh-CN" altLang="en-US" dirty="0" smtClean="0">
                <a:solidFill>
                  <a:schemeClr val="tx1">
                    <a:lumMod val="85000"/>
                    <a:lumOff val="15000"/>
                  </a:schemeClr>
                </a:solidFill>
                <a:effectLst/>
              </a:rPr>
              <a:t>天尺度的高效预测，整体误差降低约</a:t>
            </a:r>
            <a:r>
              <a:rPr lang="en-US" altLang="zh-CN" dirty="0" smtClean="0">
                <a:solidFill>
                  <a:schemeClr val="tx1">
                    <a:lumMod val="85000"/>
                    <a:lumOff val="15000"/>
                  </a:schemeClr>
                </a:solidFill>
                <a:effectLst/>
              </a:rPr>
              <a:t>10–30%</a:t>
            </a:r>
            <a:r>
              <a:rPr lang="zh-CN" altLang="en-US" dirty="0" smtClean="0">
                <a:solidFill>
                  <a:schemeClr val="tx1">
                    <a:lumMod val="85000"/>
                    <a:lumOff val="15000"/>
                  </a:schemeClr>
                </a:solidFill>
                <a:effectLst/>
              </a:rPr>
              <a:t>。结果显示，该方法在极端事件预测中表现突出，兼顾精度、效率与物理一致性。</a:t>
            </a:r>
            <a:endParaRPr lang="zh-CN" altLang="en-US" dirty="0" smtClean="0">
              <a:solidFill>
                <a:schemeClr val="tx1">
                  <a:lumMod val="85000"/>
                  <a:lumOff val="15000"/>
                </a:schemeClr>
              </a:solidFill>
              <a:effectLst/>
            </a:endParaRPr>
          </a:p>
          <a:p>
            <a:pPr algn="l">
              <a:lnSpc>
                <a:spcPct val="120000"/>
              </a:lnSpc>
              <a:spcBef>
                <a:spcPts val="0"/>
              </a:spcBef>
              <a:spcAft>
                <a:spcPts val="0"/>
              </a:spcAft>
            </a:pPr>
            <a:endParaRPr lang="en-US" altLang="zh-CN" dirty="0" smtClean="0">
              <a:solidFill>
                <a:schemeClr val="tx1">
                  <a:lumMod val="85000"/>
                  <a:lumOff val="15000"/>
                </a:schemeClr>
              </a:solidFill>
              <a:effectLst/>
            </a:endParaRPr>
          </a:p>
          <a:p>
            <a:pPr algn="l">
              <a:lnSpc>
                <a:spcPct val="120000"/>
              </a:lnSpc>
              <a:spcBef>
                <a:spcPts val="0"/>
              </a:spcBef>
              <a:spcAft>
                <a:spcPts val="0"/>
              </a:spcAft>
            </a:pPr>
            <a:endParaRPr lang="en-US" altLang="zh-CN" dirty="0" smtClean="0">
              <a:solidFill>
                <a:schemeClr val="tx1">
                  <a:lumMod val="85000"/>
                  <a:lumOff val="15000"/>
                </a:schemeClr>
              </a:solidFill>
              <a:effectLst/>
            </a:endParaRPr>
          </a:p>
        </p:txBody>
      </p:sp>
      <p:sp>
        <p:nvSpPr>
          <p:cNvPr id="2" name="文本框 1"/>
          <p:cNvSpPr txBox="1"/>
          <p:nvPr/>
        </p:nvSpPr>
        <p:spPr>
          <a:xfrm>
            <a:off x="412750" y="3180080"/>
            <a:ext cx="1111250" cy="368300"/>
          </a:xfrm>
          <a:prstGeom prst="rect">
            <a:avLst/>
          </a:prstGeom>
          <a:noFill/>
        </p:spPr>
        <p:txBody>
          <a:bodyPr wrap="square" rtlCol="0" anchor="t">
            <a:spAutoFit/>
          </a:bodyPr>
          <a:p>
            <a:pPr marL="0" algn="l">
              <a:buClrTx/>
              <a:buSzTx/>
              <a:buFont typeface="Arial" panose="020B0604020202020204"/>
            </a:pPr>
            <a:r>
              <a:rPr lang="zh-CN" altLang="en-US" b="1">
                <a:solidFill>
                  <a:schemeClr val="accent3">
                    <a:lumMod val="75000"/>
                  </a:schemeClr>
                </a:solidFill>
                <a:latin typeface="ui-sans-serif"/>
                <a:ea typeface="ui-sans-serif"/>
                <a:sym typeface="+mn-ea"/>
              </a:rPr>
              <a:t>二、</a:t>
            </a:r>
            <a:r>
              <a:rPr lang="zh-CN" altLang="en-US" b="1">
                <a:solidFill>
                  <a:schemeClr val="accent3">
                    <a:lumMod val="75000"/>
                  </a:schemeClr>
                </a:solidFill>
                <a:latin typeface="ui-sans-serif"/>
                <a:ea typeface="ui-sans-serif"/>
                <a:sym typeface="+mn-ea"/>
              </a:rPr>
              <a:t>启发</a:t>
            </a:r>
            <a:endParaRPr lang="zh-CN" altLang="en-US" b="1">
              <a:solidFill>
                <a:schemeClr val="accent3">
                  <a:lumMod val="75000"/>
                </a:schemeClr>
              </a:solidFill>
              <a:latin typeface="ui-sans-serif"/>
              <a:ea typeface="ui-sans-serif"/>
              <a:sym typeface="+mn-ea"/>
            </a:endParaRPr>
          </a:p>
        </p:txBody>
      </p:sp>
      <p:sp>
        <p:nvSpPr>
          <p:cNvPr id="5" name="文本框 4"/>
          <p:cNvSpPr txBox="1"/>
          <p:nvPr/>
        </p:nvSpPr>
        <p:spPr>
          <a:xfrm>
            <a:off x="285750" y="3658235"/>
            <a:ext cx="8324215" cy="2857500"/>
          </a:xfrm>
          <a:prstGeom prst="rect">
            <a:avLst/>
          </a:prstGeom>
          <a:noFill/>
        </p:spPr>
        <p:txBody>
          <a:bodyPr wrap="square" rtlCol="0" anchor="t">
            <a:spAutoFit/>
          </a:bodyPr>
          <a:p>
            <a:pPr algn="l">
              <a:lnSpc>
                <a:spcPct val="120000"/>
              </a:lnSpc>
              <a:spcBef>
                <a:spcPts val="0"/>
              </a:spcBef>
              <a:spcAft>
                <a:spcPts val="0"/>
              </a:spcAft>
            </a:pPr>
            <a:r>
              <a:rPr lang="en-US" altLang="zh-CN" b="1" dirty="0" smtClean="0">
                <a:solidFill>
                  <a:schemeClr val="tx1">
                    <a:lumMod val="85000"/>
                    <a:lumOff val="15000"/>
                  </a:schemeClr>
                </a:solidFill>
                <a:effectLst/>
              </a:rPr>
              <a:t>1</a:t>
            </a:r>
            <a:r>
              <a:rPr lang="zh-CN" altLang="en-US" b="1" dirty="0" smtClean="0">
                <a:solidFill>
                  <a:schemeClr val="tx1">
                    <a:lumMod val="85000"/>
                    <a:lumOff val="15000"/>
                  </a:schemeClr>
                </a:solidFill>
                <a:effectLst/>
              </a:rPr>
              <a:t>、提升模型的可解释性</a:t>
            </a:r>
            <a:endParaRPr lang="zh-CN" altLang="en-US" b="1" dirty="0" smtClean="0">
              <a:solidFill>
                <a:schemeClr val="tx1">
                  <a:lumMod val="85000"/>
                  <a:lumOff val="15000"/>
                </a:schemeClr>
              </a:solidFill>
              <a:effectLst/>
            </a:endParaRPr>
          </a:p>
          <a:p>
            <a:pPr algn="l">
              <a:lnSpc>
                <a:spcPct val="120000"/>
              </a:lnSpc>
              <a:spcBef>
                <a:spcPts val="0"/>
              </a:spcBef>
              <a:spcAft>
                <a:spcPts val="0"/>
              </a:spcAft>
            </a:pPr>
            <a:r>
              <a:rPr lang="zh-CN" altLang="en-US" sz="1600" dirty="0" smtClean="0">
                <a:solidFill>
                  <a:schemeClr val="tx1">
                    <a:lumMod val="85000"/>
                    <a:lumOff val="15000"/>
                  </a:schemeClr>
                </a:solidFill>
                <a:effectLst/>
              </a:rPr>
              <a:t>使模型在预测的同时输出</a:t>
            </a:r>
            <a:r>
              <a:rPr lang="zh-CN" altLang="en-US" sz="1600" b="1" dirty="0" smtClean="0">
                <a:solidFill>
                  <a:schemeClr val="tx1">
                    <a:lumMod val="85000"/>
                    <a:lumOff val="15000"/>
                  </a:schemeClr>
                </a:solidFill>
                <a:effectLst/>
              </a:rPr>
              <a:t>关键驱动因子贡献图</a:t>
            </a:r>
            <a:r>
              <a:rPr lang="zh-CN" altLang="en-US" sz="1600" dirty="0" smtClean="0">
                <a:solidFill>
                  <a:schemeClr val="tx1">
                    <a:lumMod val="85000"/>
                    <a:lumOff val="15000"/>
                  </a:schemeClr>
                </a:solidFill>
                <a:effectLst/>
              </a:rPr>
              <a:t>，明确哪些物理变量（风场、混合层深度、辐射等）</a:t>
            </a:r>
            <a:r>
              <a:rPr lang="zh-CN" altLang="en-US" sz="1600" b="1" dirty="0" smtClean="0">
                <a:solidFill>
                  <a:schemeClr val="tx1">
                    <a:lumMod val="85000"/>
                    <a:lumOff val="15000"/>
                  </a:schemeClr>
                </a:solidFill>
                <a:effectLst/>
              </a:rPr>
              <a:t>主导</a:t>
            </a:r>
            <a:r>
              <a:rPr lang="zh-CN" altLang="en-US" sz="1600" dirty="0" smtClean="0">
                <a:solidFill>
                  <a:schemeClr val="tx1">
                    <a:lumMod val="85000"/>
                    <a:lumOff val="15000"/>
                  </a:schemeClr>
                </a:solidFill>
                <a:effectLst/>
              </a:rPr>
              <a:t>了热浪的发生。这样既能提升模型透明度，也能帮助科学上理解热浪机制，实现从</a:t>
            </a:r>
            <a:r>
              <a:rPr lang="en-US" altLang="zh-CN" sz="1600" dirty="0" smtClean="0">
                <a:solidFill>
                  <a:schemeClr val="tx1">
                    <a:lumMod val="85000"/>
                    <a:lumOff val="15000"/>
                  </a:schemeClr>
                </a:solidFill>
                <a:effectLst/>
              </a:rPr>
              <a:t>“</a:t>
            </a:r>
            <a:r>
              <a:rPr lang="zh-CN" altLang="en-US" sz="1600" dirty="0" smtClean="0">
                <a:solidFill>
                  <a:schemeClr val="tx1">
                    <a:lumMod val="85000"/>
                    <a:lumOff val="15000"/>
                  </a:schemeClr>
                </a:solidFill>
                <a:effectLst/>
              </a:rPr>
              <a:t>黑箱预测</a:t>
            </a:r>
            <a:r>
              <a:rPr lang="en-US" altLang="zh-CN" sz="1600" dirty="0" smtClean="0">
                <a:solidFill>
                  <a:schemeClr val="tx1">
                    <a:lumMod val="85000"/>
                    <a:lumOff val="15000"/>
                  </a:schemeClr>
                </a:solidFill>
                <a:effectLst/>
              </a:rPr>
              <a:t>”</a:t>
            </a:r>
            <a:r>
              <a:rPr lang="zh-CN" altLang="en-US" sz="1600" dirty="0" smtClean="0">
                <a:solidFill>
                  <a:schemeClr val="tx1">
                    <a:lumMod val="85000"/>
                    <a:lumOff val="15000"/>
                  </a:schemeClr>
                </a:solidFill>
                <a:effectLst/>
              </a:rPr>
              <a:t>向</a:t>
            </a:r>
            <a:r>
              <a:rPr lang="en-US" altLang="zh-CN" sz="1600" dirty="0" smtClean="0">
                <a:solidFill>
                  <a:schemeClr val="tx1">
                    <a:lumMod val="85000"/>
                    <a:lumOff val="15000"/>
                  </a:schemeClr>
                </a:solidFill>
                <a:effectLst/>
              </a:rPr>
              <a:t>“</a:t>
            </a:r>
            <a:r>
              <a:rPr lang="zh-CN" altLang="en-US" sz="1600" dirty="0" smtClean="0">
                <a:solidFill>
                  <a:schemeClr val="tx1">
                    <a:lumMod val="85000"/>
                    <a:lumOff val="15000"/>
                  </a:schemeClr>
                </a:solidFill>
                <a:effectLst/>
              </a:rPr>
              <a:t>机理解析</a:t>
            </a:r>
            <a:r>
              <a:rPr lang="en-US" altLang="zh-CN" sz="1600" dirty="0" smtClean="0">
                <a:solidFill>
                  <a:schemeClr val="tx1">
                    <a:lumMod val="85000"/>
                    <a:lumOff val="15000"/>
                  </a:schemeClr>
                </a:solidFill>
                <a:effectLst/>
              </a:rPr>
              <a:t>”</a:t>
            </a:r>
            <a:r>
              <a:rPr lang="zh-CN" altLang="en-US" sz="1600" dirty="0" smtClean="0">
                <a:solidFill>
                  <a:schemeClr val="tx1">
                    <a:lumMod val="85000"/>
                    <a:lumOff val="15000"/>
                  </a:schemeClr>
                </a:solidFill>
                <a:effectLst/>
              </a:rPr>
              <a:t>的转变。</a:t>
            </a:r>
            <a:endParaRPr lang="zh-CN" altLang="en-US" sz="1600" dirty="0" smtClean="0">
              <a:solidFill>
                <a:schemeClr val="tx1">
                  <a:lumMod val="85000"/>
                  <a:lumOff val="15000"/>
                </a:schemeClr>
              </a:solidFill>
              <a:effectLst/>
            </a:endParaRPr>
          </a:p>
          <a:p>
            <a:pPr algn="l">
              <a:lnSpc>
                <a:spcPct val="120000"/>
              </a:lnSpc>
              <a:spcBef>
                <a:spcPts val="0"/>
              </a:spcBef>
              <a:spcAft>
                <a:spcPts val="0"/>
              </a:spcAft>
            </a:pPr>
            <a:endParaRPr lang="zh-CN" altLang="en-US" dirty="0" smtClean="0">
              <a:solidFill>
                <a:schemeClr val="tx1">
                  <a:lumMod val="85000"/>
                  <a:lumOff val="15000"/>
                </a:schemeClr>
              </a:solidFill>
              <a:effectLst/>
            </a:endParaRPr>
          </a:p>
          <a:p>
            <a:pPr algn="l">
              <a:lnSpc>
                <a:spcPct val="120000"/>
              </a:lnSpc>
              <a:spcBef>
                <a:spcPts val="0"/>
              </a:spcBef>
              <a:spcAft>
                <a:spcPts val="0"/>
              </a:spcAft>
            </a:pPr>
            <a:r>
              <a:rPr lang="en-US" altLang="zh-CN" b="1" dirty="0" smtClean="0">
                <a:solidFill>
                  <a:schemeClr val="tx1">
                    <a:lumMod val="85000"/>
                    <a:lumOff val="15000"/>
                  </a:schemeClr>
                </a:solidFill>
                <a:effectLst/>
              </a:rPr>
              <a:t>2</a:t>
            </a:r>
            <a:r>
              <a:rPr lang="zh-CN" altLang="en-US" b="1" dirty="0" smtClean="0">
                <a:solidFill>
                  <a:schemeClr val="tx1">
                    <a:lumMod val="85000"/>
                    <a:lumOff val="15000"/>
                  </a:schemeClr>
                </a:solidFill>
                <a:effectLst/>
              </a:rPr>
              <a:t>、发展区域化与可迁移的预测体系。</a:t>
            </a:r>
            <a:endParaRPr lang="zh-CN" altLang="en-US" b="1" dirty="0" smtClean="0">
              <a:solidFill>
                <a:schemeClr val="tx1">
                  <a:lumMod val="85000"/>
                  <a:lumOff val="15000"/>
                </a:schemeClr>
              </a:solidFill>
              <a:effectLst/>
            </a:endParaRPr>
          </a:p>
          <a:p>
            <a:pPr algn="l">
              <a:lnSpc>
                <a:spcPct val="120000"/>
              </a:lnSpc>
              <a:spcBef>
                <a:spcPts val="0"/>
              </a:spcBef>
              <a:spcAft>
                <a:spcPts val="0"/>
              </a:spcAft>
            </a:pPr>
            <a:r>
              <a:rPr lang="zh-CN" altLang="en-US" sz="1600" dirty="0" smtClean="0">
                <a:solidFill>
                  <a:schemeClr val="tx1">
                    <a:lumMod val="85000"/>
                    <a:lumOff val="15000"/>
                  </a:schemeClr>
                </a:solidFill>
                <a:effectLst/>
              </a:rPr>
              <a:t>目前大多数模型是针对单一区域或全球平均的，但不同海域（比如南海、北太平洋、印度洋）的热浪机制</a:t>
            </a:r>
            <a:r>
              <a:rPr lang="zh-CN" altLang="en-US" sz="1600" b="1" dirty="0" smtClean="0">
                <a:solidFill>
                  <a:schemeClr val="tx1">
                    <a:lumMod val="85000"/>
                    <a:lumOff val="15000"/>
                  </a:schemeClr>
                </a:solidFill>
                <a:effectLst/>
              </a:rPr>
              <a:t>差异很大</a:t>
            </a:r>
            <a:r>
              <a:rPr lang="zh-CN" altLang="en-US" sz="1600" dirty="0" smtClean="0">
                <a:solidFill>
                  <a:schemeClr val="tx1">
                    <a:lumMod val="85000"/>
                    <a:lumOff val="15000"/>
                  </a:schemeClr>
                </a:solidFill>
                <a:effectLst/>
              </a:rPr>
              <a:t>。未来可以设计区域自适应模型，实现从一个海区到另一个海区的预测迁移，提高模型泛化能力。</a:t>
            </a:r>
            <a:endParaRPr lang="zh-CN" altLang="en-US" sz="1600" dirty="0" smtClean="0">
              <a:solidFill>
                <a:schemeClr val="tx1">
                  <a:lumMod val="85000"/>
                  <a:lumOff val="15000"/>
                </a:schemeClr>
              </a:solidFill>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897896" y="2965620"/>
            <a:ext cx="7043147" cy="769441"/>
          </a:xfrm>
          <a:prstGeom prst="rect">
            <a:avLst/>
          </a:prstGeom>
        </p:spPr>
        <p:txBody>
          <a:bodyPr wrap="square">
            <a:spAutoFit/>
          </a:bodyPr>
          <a:lstStyle/>
          <a:p>
            <a:pPr algn="ctr">
              <a:spcBef>
                <a:spcPts val="600"/>
              </a:spcBef>
              <a:spcAft>
                <a:spcPts val="600"/>
              </a:spcAft>
            </a:pPr>
            <a:r>
              <a:rPr lang="zh-CN" altLang="en-US" sz="4400" b="1" kern="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谢谢聆听！</a:t>
            </a:r>
            <a:endParaRPr lang="en-US" altLang="zh-CN" sz="4400" b="1" kern="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62839" y="6075803"/>
            <a:ext cx="3666321" cy="490870"/>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中大色系">
      <a:dk1>
        <a:srgbClr val="000000"/>
      </a:dk1>
      <a:lt1>
        <a:srgbClr val="FFFFFF"/>
      </a:lt1>
      <a:dk2>
        <a:srgbClr val="778495"/>
      </a:dk2>
      <a:lt2>
        <a:srgbClr val="F0F0F0"/>
      </a:lt2>
      <a:accent1>
        <a:srgbClr val="00713D"/>
      </a:accent1>
      <a:accent2>
        <a:srgbClr val="49A343"/>
      </a:accent2>
      <a:accent3>
        <a:srgbClr val="0066CB"/>
      </a:accent3>
      <a:accent4>
        <a:srgbClr val="FFD148"/>
      </a:accent4>
      <a:accent5>
        <a:srgbClr val="A5A5A5"/>
      </a:accent5>
      <a:accent6>
        <a:srgbClr val="C9C9C9"/>
      </a:accent6>
      <a:hlink>
        <a:srgbClr val="4472C4"/>
      </a:hlink>
      <a:folHlink>
        <a:srgbClr val="BFBFBF"/>
      </a:folHlink>
    </a:clrScheme>
    <a:fontScheme name="宋体+Time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lnSpc>
            <a:spcPct val="120000"/>
          </a:lnSpc>
          <a:spcBef>
            <a:spcPts val="0"/>
          </a:spcBef>
          <a:spcAft>
            <a:spcPts val="0"/>
          </a:spcAft>
          <a:defRPr sz="1200" dirty="0" smtClean="0">
            <a:solidFill>
              <a:schemeClr val="tx1">
                <a:lumMod val="85000"/>
                <a:lumOff val="15000"/>
              </a:schemeClr>
            </a:solidFill>
            <a:effectLs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中大色系">
      <a:dk1>
        <a:srgbClr val="000000"/>
      </a:dk1>
      <a:lt1>
        <a:srgbClr val="FFFFFF"/>
      </a:lt1>
      <a:dk2>
        <a:srgbClr val="778495"/>
      </a:dk2>
      <a:lt2>
        <a:srgbClr val="F0F0F0"/>
      </a:lt2>
      <a:accent1>
        <a:srgbClr val="00713D"/>
      </a:accent1>
      <a:accent2>
        <a:srgbClr val="49A343"/>
      </a:accent2>
      <a:accent3>
        <a:srgbClr val="0066CB"/>
      </a:accent3>
      <a:accent4>
        <a:srgbClr val="FFD148"/>
      </a:accent4>
      <a:accent5>
        <a:srgbClr val="A5A5A5"/>
      </a:accent5>
      <a:accent6>
        <a:srgbClr val="C9C9C9"/>
      </a:accent6>
      <a:hlink>
        <a:srgbClr val="4472C4"/>
      </a:hlink>
      <a:folHlink>
        <a:srgbClr val="BFBFBF"/>
      </a:folHlink>
    </a:clrScheme>
    <a:fontScheme name="宋体+Time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lnSpc>
            <a:spcPct val="120000"/>
          </a:lnSpc>
          <a:spcBef>
            <a:spcPts val="0"/>
          </a:spcBef>
          <a:spcAft>
            <a:spcPts val="0"/>
          </a:spcAft>
          <a:defRPr sz="1200" dirty="0" smtClean="0">
            <a:solidFill>
              <a:schemeClr val="tx1">
                <a:lumMod val="85000"/>
                <a:lumOff val="15000"/>
              </a:schemeClr>
            </a:solidFill>
            <a:effectLs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中大色系">
    <a:dk1>
      <a:srgbClr val="000000"/>
    </a:dk1>
    <a:lt1>
      <a:srgbClr val="FFFFFF"/>
    </a:lt1>
    <a:dk2>
      <a:srgbClr val="778495"/>
    </a:dk2>
    <a:lt2>
      <a:srgbClr val="F0F0F0"/>
    </a:lt2>
    <a:accent1>
      <a:srgbClr val="00713D"/>
    </a:accent1>
    <a:accent2>
      <a:srgbClr val="49A343"/>
    </a:accent2>
    <a:accent3>
      <a:srgbClr val="0066CB"/>
    </a:accent3>
    <a:accent4>
      <a:srgbClr val="FFD148"/>
    </a:accent4>
    <a:accent5>
      <a:srgbClr val="A5A5A5"/>
    </a:accent5>
    <a:accent6>
      <a:srgbClr val="C9C9C9"/>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3573</Words>
  <Application>WPS 演示</Application>
  <PresentationFormat>宽屏</PresentationFormat>
  <Paragraphs>187</Paragraphs>
  <Slides>21</Slides>
  <Notes>12</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21</vt:i4>
      </vt:variant>
    </vt:vector>
  </HeadingPairs>
  <TitlesOfParts>
    <vt:vector size="35" baseType="lpstr">
      <vt:lpstr>Arial</vt:lpstr>
      <vt:lpstr>宋体</vt:lpstr>
      <vt:lpstr>Wingdings</vt:lpstr>
      <vt:lpstr>等线</vt:lpstr>
      <vt:lpstr>微软雅黑</vt:lpstr>
      <vt:lpstr>Times New Roman</vt:lpstr>
      <vt:lpstr>华文中宋</vt:lpstr>
      <vt:lpstr>-apple-system</vt:lpstr>
      <vt:lpstr>Segoe Print</vt:lpstr>
      <vt:lpstr>Arial</vt:lpstr>
      <vt:lpstr>ui-sans-serif</vt:lpstr>
      <vt:lpstr>Arial Unicode MS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WPS_1717553838</cp:lastModifiedBy>
  <cp:revision>293</cp:revision>
  <dcterms:created xsi:type="dcterms:W3CDTF">2022-02-19T02:21:00Z</dcterms:created>
  <dcterms:modified xsi:type="dcterms:W3CDTF">2025-11-05T07:54:22Z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BEC7DF6A7FC64170BF325211EBBBCCD6_13</vt:lpwstr>
  </property>
  <property fmtid="{D5CDD505-2E9C-101B-9397-08002B2CF9AE}" pid="3" name="KSOProductBuildVer">
    <vt:lpwstr>2052-12.1.0.21915</vt:lpwstr>
  </property>
</Properties>
</file>