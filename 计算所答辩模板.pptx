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9" r:id="rId3"/>
  </p:sldMasterIdLst>
  <p:notesMasterIdLst>
    <p:notesMasterId r:id="rId14"/>
  </p:notesMasterIdLst>
  <p:handoutMasterIdLst>
    <p:handoutMasterId r:id="rId15"/>
  </p:handoutMasterIdLst>
  <p:sldIdLst>
    <p:sldId id="570" r:id="rId4"/>
    <p:sldId id="571" r:id="rId5"/>
    <p:sldId id="572" r:id="rId6"/>
    <p:sldId id="573" r:id="rId7"/>
    <p:sldId id="574" r:id="rId8"/>
    <p:sldId id="575" r:id="rId9"/>
    <p:sldId id="576" r:id="rId10"/>
    <p:sldId id="577" r:id="rId11"/>
    <p:sldId id="578" r:id="rId12"/>
    <p:sldId id="59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舒平" initials="陈" lastIdx="2" clrIdx="0"/>
  <p:cmAuthor id="2" name="李俊杰" initials="李俊杰" lastIdx="5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449"/>
    <a:srgbClr val="003D8C"/>
    <a:srgbClr val="003366"/>
    <a:srgbClr val="58977B"/>
    <a:srgbClr val="BEC14F"/>
    <a:srgbClr val="C2E0FF"/>
    <a:srgbClr val="007437"/>
    <a:srgbClr val="B08E6C"/>
    <a:srgbClr val="255222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89" autoAdjust="0"/>
    <p:restoredTop sz="95664" autoAdjust="0"/>
  </p:normalViewPr>
  <p:slideViewPr>
    <p:cSldViewPr snapToGrid="0">
      <p:cViewPr varScale="1">
        <p:scale>
          <a:sx n="96" d="100"/>
          <a:sy n="96" d="100"/>
        </p:scale>
        <p:origin x="712" y="5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49EB-802B-4ADF-8BE5-CB4BF9A18A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1CBC3-BCAE-4C05-950C-2BB7B521F9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DF54F-F791-40A7-84BE-11DDFAE72E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70EE7-2ED4-48DC-956B-CD5D584774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80D30-CC64-456A-9E13-063D8AE374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602426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668126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研究进展与痛点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04483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870183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矩形 6"/>
          <p:cNvSpPr/>
          <p:nvPr userDrawn="1"/>
        </p:nvSpPr>
        <p:spPr>
          <a:xfrm>
            <a:off x="10100310" y="0"/>
            <a:ext cx="1551940" cy="791845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10703989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E32B-6F2B-444E-8057-3FEDBC04F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52900" y="0"/>
            <a:ext cx="1701799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科研论文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项目经历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707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6805000" cy="16335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10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en-US" altLang="zh-CN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Grasping ecology with one hand and economy with the other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科研竞赛经历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8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3FED-E324-46EB-A0CE-245DBD0BCFF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CF80-1CBA-4673-8A95-71174BF4DE4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93EC-4A51-4A66-A41D-93D2FD008B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EBB307F-9B35-4682-BDAD-5A15872FBB7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602426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668126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研究进展与痛点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04483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870183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矩形 6"/>
          <p:cNvSpPr/>
          <p:nvPr userDrawn="1"/>
        </p:nvSpPr>
        <p:spPr>
          <a:xfrm>
            <a:off x="10100310" y="0"/>
            <a:ext cx="1551940" cy="791845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10703989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E32B-6F2B-444E-8057-3FEDBC04F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52900" y="0"/>
            <a:ext cx="1701799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科研论文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项目经历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707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6805000" cy="16335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10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en-US" altLang="zh-CN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Grasping ecology with one hand and economy with the other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科研竞赛经历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8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3FED-E324-46EB-A0CE-245DBD0BCFF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CF80-1CBA-4673-8A95-71174BF4DE4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93EC-4A51-4A66-A41D-93D2FD008B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EBB307F-9B35-4682-BDAD-5A15872FBB7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EDC5C-1D11-4CBB-8805-F7690F828FF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48697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526520" y="6356350"/>
            <a:ext cx="665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805D2-31CC-4E98-BE31-AA1DAACD64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EDC5C-1D11-4CBB-8805-F7690F828FF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48697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526520" y="6356350"/>
            <a:ext cx="665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805D2-31CC-4E98-BE31-AA1DAACD64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839" y="340021"/>
            <a:ext cx="3666321" cy="49087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0" y="1097949"/>
            <a:ext cx="12192000" cy="5541547"/>
            <a:chOff x="0" y="1097949"/>
            <a:chExt cx="9144000" cy="5541547"/>
          </a:xfrm>
        </p:grpSpPr>
        <p:sp>
          <p:nvSpPr>
            <p:cNvPr id="11" name="矩形 10"/>
            <p:cNvSpPr/>
            <p:nvPr/>
          </p:nvSpPr>
          <p:spPr>
            <a:xfrm>
              <a:off x="0" y="6271196"/>
              <a:ext cx="9144000" cy="36830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b="1" kern="0" spc="60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2026.9.19</a:t>
              </a:r>
              <a:endParaRPr lang="en-US" altLang="zh-CN" sz="1600" b="1" kern="0" spc="60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 bwMode="auto">
            <a:xfrm flipV="1">
              <a:off x="267727" y="1097949"/>
              <a:ext cx="8608541" cy="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 flipV="1">
              <a:off x="267726" y="4280237"/>
              <a:ext cx="8608541" cy="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4" name="矩形 13"/>
            <p:cNvSpPr/>
            <p:nvPr/>
          </p:nvSpPr>
          <p:spPr>
            <a:xfrm>
              <a:off x="267726" y="4883800"/>
              <a:ext cx="8608541" cy="46037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汇报人：</a:t>
              </a:r>
              <a:r>
                <a:rPr lang="en-US" altLang="zh-CN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	</a:t>
              </a:r>
              <a:r>
                <a:rPr lang="zh-CN" altLang="en-US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刘</a:t>
              </a:r>
              <a:r>
                <a:rPr lang="zh-CN" altLang="en-US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睿涵</a:t>
              </a:r>
              <a:endParaRPr lang="zh-CN" altLang="en-US" sz="2400" b="1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1520190"/>
            <a:ext cx="8437880" cy="981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52675" y="2923540"/>
            <a:ext cx="91598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-apple-system"/>
                <a:ea typeface="-apple-system"/>
                <a:sym typeface="+mn-ea"/>
              </a:rPr>
              <a:t>通过深度强化学习在复杂网络中寻找关键参与者</a:t>
            </a:r>
            <a:endParaRPr lang="zh-CN" altLang="en-US" sz="2400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-apple-system"/>
              <a:ea typeface="-apple-system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336042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634739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Q1：这篇论文要解决什么问题？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一、问题定义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548640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输入 / 输出：给它什么，它吐什么（用一句话说清，不要抄摘要）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场景与数据：在哪类数据、什么时空尺度上做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与已有定义的边界：它和相邻问题（如 XX、YY）的区别在哪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结论句：本页结束时听众应能复述这个问题。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2286000"/>
            <a:ext cx="5760720" cy="3566160"/>
          </a:xfrm>
          <a:prstGeom prst="roundRect">
            <a:avLst/>
          </a:prstGeom>
          <a:solidFill>
            <a:srgbClr val="F0F0F0"/>
          </a:solidFill>
          <a:ln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595959"/>
                </a:solidFill>
                <a:latin typeface="Times New Roman" panose="02020603050405020304"/>
              </a:rPr>
              <a:t>【图占位】任务示意图 / 数据示例（论文 Fig.1）</a:t>
            </a:r>
            <a:endParaRPr sz="140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PS：只讲清“是什么”，不提前讲方法；图建议放任务示意图。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418338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44577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Q2：为什么这个问题重要、又为什么难？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二、意义与难点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意义：做成了会怎样（业务 / 科学 / 国家任务层面的价值）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难点一：物理或机理层面的复杂性（多尺度耦合、非线性…）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难点二：数据层面的困难（稀疏、噪声、不可直接观测…）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难点三：方法层面的困难（现有框架的计算量、系统偏差…）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PS：难点要与后面的方法设计一一对应，为 Q3 埋伏笔。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418338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44577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Q3：现有方法做到哪一步？痛点是什么？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一、三条技术路线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路线 A（传统/数值）：代表性工作 + 能做到什么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路线 B（纯数据驱动）：代表性工作 + 能做到什么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路线 C（混合）：代表性工作 + 能做到什么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痛点归纳：3 条即可，每条都要指向“所以本文要做 X”。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PS：建议用表格对比三篇基线（数据、指标、结论口径必须可比）。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53746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2811779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Q4：方法整体怎么走？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一、整体框架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11887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一句话概括：把 X 问题转成 Y 形式，用 Z 模块端到端求解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三个关键设计（各一行），例如：表征方式 / 训练目标 / 推理流程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与基线的结构差异：多/少了什么，为什么这个是必要的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1247120" cy="2834640"/>
          </a:xfrm>
          <a:prstGeom prst="roundRect">
            <a:avLst/>
          </a:prstGeom>
          <a:solidFill>
            <a:srgbClr val="F0F0F0"/>
          </a:solidFill>
          <a:ln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595959"/>
                </a:solidFill>
                <a:latin typeface="Times New Roman" panose="02020603050405020304"/>
              </a:rPr>
              <a:t>【图占位】整体框架图（论文 Fig.2）</a:t>
            </a:r>
            <a:endParaRPr sz="140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PS：先讲流程再看图；图里每个箭头都要能对应到一句解释。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53746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2811779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Q5：关键设计是什么？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二、模块拆解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6949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模块 1：解决什么、怎么算（公式只用最必要的一到两个）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模块 2：同上；说清“为什么这样设计而不是那样”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训练细节：损失函数、监督信号、超参来源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推理细节：复杂度、批量策略、部署约束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06640" y="2194560"/>
            <a:ext cx="4389120" cy="3566160"/>
          </a:xfrm>
          <a:prstGeom prst="roundRect">
            <a:avLst/>
          </a:prstGeom>
          <a:solidFill>
            <a:srgbClr val="F0F0F0"/>
          </a:solidFill>
          <a:ln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595959"/>
                </a:solidFill>
                <a:latin typeface="Times New Roman" panose="02020603050405020304"/>
              </a:rPr>
              <a:t>【图占位】模块结构图 / 关键公式推导</a:t>
            </a:r>
            <a:endParaRPr sz="140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PS：这一页最容易被追问，公式要能当场解释每一步的物理含义。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74320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01752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Q6：实验如何证明有效？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三、实验设置与主结果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11887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数据：来源、划分、是否公开；预处理做了什么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指标：定义 + 为什么用这些指标（避免指标口径不一致）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主结果：相对最强基线提升多少，跨多长 lead time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反例也要讲：哪些 setting 下提升不明显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F0F0F0"/>
          </a:solidFill>
          <a:ln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595959"/>
                </a:solidFill>
                <a:latin typeface="Times New Roman" panose="02020603050405020304"/>
              </a:rPr>
              <a:t>【图占位】主结果表 / 曲线（论文 Table 1、Fig.3）</a:t>
            </a:r>
            <a:endParaRPr sz="140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PS：指标口径要当场说清，不同论文的“月数”通常不可直接比较。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74320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01752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Q7：消融与稳健性如何？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四、消融、鲁棒性与可扩展性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消融：去掉每个模块分别掉多少（说明每个模块都必要）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稳健性：跨区域 / 跨分辨率 / 极端事件下是否仍然有效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效率与规模：训练与推理成本随规模的增长关系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失效场景：作者自己承认的局限与边界条件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PS：作者的局限要自己先说出来，比被追问时再承认更可信。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74320" y="1097280"/>
            <a:ext cx="548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一、论文结论</a:t>
            </a:r>
            <a:endParaRPr lang="en-US" altLang="zh-CN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4320" y="1508760"/>
            <a:ext cx="11338560" cy="2011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论文做出了什么：一句话 + 3 条量化结论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为什么能做到：回到它的核心 insight（机制层面，而不是复述方法）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320" y="3657600"/>
            <a:ext cx="548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二、启发与可迁移点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320" y="4069080"/>
            <a:ext cx="11338560" cy="2377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可迁移到我的方向：哪一条机制能用、怎么用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我不认同 / 可以改进的地方：1–2 条，要有依据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下一步动作：读哪几篇、跑哪几个实验、看哪部分代码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897896" y="2965620"/>
            <a:ext cx="70431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4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谢谢聆听！</a:t>
            </a:r>
            <a:endParaRPr lang="en-US" altLang="zh-CN" sz="4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839" y="6075803"/>
            <a:ext cx="3666321" cy="4908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566160" y="3794760"/>
            <a:ext cx="50292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欢迎批评指正　｜　Q&amp;A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中大色系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13D"/>
      </a:accent1>
      <a:accent2>
        <a:srgbClr val="49A343"/>
      </a:accent2>
      <a:accent3>
        <a:srgbClr val="0066CB"/>
      </a:accent3>
      <a:accent4>
        <a:srgbClr val="FFD148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宋体+Time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20000"/>
          </a:lnSpc>
          <a:spcBef>
            <a:spcPts val="0"/>
          </a:spcBef>
          <a:spcAft>
            <a:spcPts val="0"/>
          </a:spcAft>
          <a:defRPr sz="1200" dirty="0" smtClean="0">
            <a:solidFill>
              <a:schemeClr val="tx1">
                <a:lumMod val="85000"/>
                <a:lumOff val="15000"/>
              </a:schemeClr>
            </a:solidFill>
            <a:effectLst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中大色系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13D"/>
      </a:accent1>
      <a:accent2>
        <a:srgbClr val="49A343"/>
      </a:accent2>
      <a:accent3>
        <a:srgbClr val="0066CB"/>
      </a:accent3>
      <a:accent4>
        <a:srgbClr val="FFD148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宋体+Time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20000"/>
          </a:lnSpc>
          <a:spcBef>
            <a:spcPts val="0"/>
          </a:spcBef>
          <a:spcAft>
            <a:spcPts val="0"/>
          </a:spcAft>
          <a:defRPr sz="1200" dirty="0" smtClean="0">
            <a:solidFill>
              <a:schemeClr val="tx1">
                <a:lumMod val="85000"/>
                <a:lumOff val="15000"/>
              </a:schemeClr>
            </a:solidFill>
            <a:effectLst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WPS 演示</Application>
  <PresentationFormat>宽屏</PresentationFormat>
  <Paragraphs>105</Paragraphs>
  <Slides>10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等线</vt:lpstr>
      <vt:lpstr>微软雅黑</vt:lpstr>
      <vt:lpstr>Times New Roman</vt:lpstr>
      <vt:lpstr>华文中宋</vt:lpstr>
      <vt:lpstr>-apple-system</vt:lpstr>
      <vt:lpstr>ui-sans-serif</vt:lpstr>
      <vt:lpstr>Arial</vt:lpstr>
      <vt:lpstr>Times New Roman</vt:lpstr>
      <vt:lpstr>Arial Unicode MS</vt:lpstr>
      <vt:lpstr>-apple-system</vt:lpstr>
      <vt:lpstr>Wingdings</vt:lpstr>
      <vt:lpstr>ui-sans-serif</vt:lpstr>
      <vt:lpstr>Be Happy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海阔天空</cp:lastModifiedBy>
  <cp:revision>295</cp:revision>
  <dcterms:created xsi:type="dcterms:W3CDTF">2022-02-19T02:21:00Z</dcterms:created>
  <dcterms:modified xsi:type="dcterms:W3CDTF">2026-09-20T10:46:12Z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BEC7DF6A7FC64170BF325211EBBBCCD6_13</vt:lpwstr>
  </property>
  <property fmtid="{D5CDD505-2E9C-101B-9397-08002B2CF9AE}" pid="3" name="KSOProductBuildVer">
    <vt:lpwstr>2052-12.1.0.28505</vt:lpwstr>
  </property>
</Properties>
</file>